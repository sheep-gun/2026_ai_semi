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C4F"/>
        </a:solidFill>
        <a:effectLst/>
      </p:bgPr>
    </p:bg>
    <p:spTree>
      <p:nvGrpSpPr>
        <p:cNvPr id="1" name=""/>
        <p:cNvGrpSpPr/>
        <p:nvPr/>
      </p:nvGrpSpPr>
      <p:grpSpPr>
        <a:xfrm>
          <a:off x="0" y="0"/>
          <a:ext cx="0" cy="0"/>
          <a:chOff x="0" y="0"/>
          <a:chExt cx="0" cy="0"/>
        </a:xfrm>
      </p:grpSpPr>
      <p:pic>
        <p:nvPicPr>
          <p:cNvPr id="16" name="그림 15"/>
          <p:cNvPicPr>
            <a:picLocks noChangeAspect="1"/>
          </p:cNvPicPr>
          <p:nvPr/>
        </p:nvPicPr>
        <p:blipFill>
          <a:blip r:embed="rId3"/>
          <a:srcRect l="20833" r="20833"/>
          <a:stretch>
            <a:fillRect/>
          </a:stretch>
        </p:blipFill>
        <p:spPr>
          <a:xfrm>
            <a:off x="6858000" y="0"/>
            <a:ext cx="5334000" cy="6858000"/>
          </a:xfrm>
          <a:prstGeom prst="rect">
            <a:avLst/>
          </a:prstGeom>
        </p:spPr>
      </p:pic>
      <p:sp>
        <p:nvSpPr>
          <p:cNvPr id="2" name="직사각형 1">
            <a:extLst>
              <a:ext uri="{FF2B5EF4-FFF2-40B4-BE49-F238E27FC236}">
                <a16:creationId xmlns:a16="http://schemas.microsoft.com/office/drawing/2014/main" id="{87E7E635-170B-4DE2-BD24-F64A2223EF33}"/>
              </a:ext>
            </a:extLst>
          </p:cNvPr>
          <p:cNvSpPr>
            <a:spLocks noGrp="1"/>
          </p:cNvSpPr>
          <p:nvPr/>
        </p:nvSpPr>
        <p:spPr>
          <a:xfrm>
            <a:off x="0" y="0"/>
            <a:ext cx="7067550" cy="6858000"/>
          </a:xfrm>
          <a:prstGeom prst="rect">
            <a:avLst/>
          </a:prstGeom>
          <a:solidFill>
            <a:srgbClr val="1E2C4F"/>
          </a:solidFill>
          <a:ln w="0">
            <a:noFill/>
            <a:prstDash val="solid"/>
          </a:ln>
        </p:spPr>
        <p:txBody>
          <a:bodyPr/>
          <a:lstStyle/>
          <a:p>
            <a:endParaRPr lang="ko-KR" altLang="en-US"/>
          </a:p>
        </p:txBody>
      </p:sp>
      <p:sp>
        <p:nvSpPr>
          <p:cNvPr id="3" name="직사각형 2">
            <a:extLst>
              <a:ext uri="{FF2B5EF4-FFF2-40B4-BE49-F238E27FC236}">
                <a16:creationId xmlns:a16="http://schemas.microsoft.com/office/drawing/2014/main" id="{AD72DE7C-FBCE-4956-964F-0BB0CBAFB944}"/>
              </a:ext>
            </a:extLst>
          </p:cNvPr>
          <p:cNvSpPr>
            <a:spLocks noGrp="1"/>
          </p:cNvSpPr>
          <p:nvPr/>
        </p:nvSpPr>
        <p:spPr>
          <a:xfrm>
            <a:off x="0" y="0"/>
            <a:ext cx="12192000" cy="152400"/>
          </a:xfrm>
          <a:prstGeom prst="rect">
            <a:avLst/>
          </a:prstGeom>
          <a:gradFill>
            <a:gsLst>
              <a:gs pos="0">
                <a:srgbClr val="095199"/>
              </a:gs>
              <a:gs pos="40000">
                <a:srgbClr val="088B94"/>
              </a:gs>
              <a:gs pos="72000">
                <a:srgbClr val="286B99"/>
              </a:gs>
              <a:gs pos="100000">
                <a:srgbClr val="8C2F5E"/>
              </a:gs>
            </a:gsLst>
            <a:lin ang="0"/>
          </a:gradFill>
          <a:ln w="0">
            <a:noFill/>
            <a:prstDash val="solid"/>
          </a:ln>
        </p:spPr>
        <p:txBody>
          <a:bodyPr/>
          <a:lstStyle/>
          <a:p>
            <a:endParaRPr lang="ko-KR" altLang="en-US"/>
          </a:p>
        </p:txBody>
      </p:sp>
      <p:sp>
        <p:nvSpPr>
          <p:cNvPr id="5" name="직사각형 4">
            <a:extLst>
              <a:ext uri="{FF2B5EF4-FFF2-40B4-BE49-F238E27FC236}">
                <a16:creationId xmlns:a16="http://schemas.microsoft.com/office/drawing/2014/main" id="{E0F36B6B-8248-4711-8B15-0212BF628FF9}"/>
              </a:ext>
            </a:extLst>
          </p:cNvPr>
          <p:cNvSpPr>
            <a:spLocks noGrp="1"/>
          </p:cNvSpPr>
          <p:nvPr/>
        </p:nvSpPr>
        <p:spPr>
          <a:xfrm>
            <a:off x="670138" y="1151599"/>
            <a:ext cx="4762500" cy="552450"/>
          </a:xfrm>
          <a:prstGeom prst="rect">
            <a:avLst/>
          </a:prstGeom>
          <a:noFill/>
          <a:ln w="0">
            <a:noFill/>
            <a:prstDash val="solid"/>
          </a:ln>
        </p:spPr>
        <p:txBody>
          <a:bodyPr wrap="square" lIns="19050" tIns="19050" rIns="19050" bIns="19050" anchor="t">
            <a:normAutofit fontScale="86538" lnSpcReduction="10000"/>
          </a:bodyPr>
          <a:lstStyle/>
          <a:p>
            <a:pPr algn="l">
              <a:defRPr sz="3900" b="0">
                <a:solidFill>
                  <a:srgbClr val="FFFFFF"/>
                </a:solidFill>
                <a:latin typeface="Malgun Gothic"/>
                <a:ea typeface="Malgun Gothic"/>
                <a:cs typeface="Malgun Gothic"/>
              </a:defRPr>
            </a:pPr>
            <a:r>
              <a:rPr lang="en-US" sz="3900" b="0" dirty="0">
                <a:solidFill>
                  <a:srgbClr val="C00000"/>
                </a:solidFill>
                <a:latin typeface="Malgun Gothic"/>
                <a:ea typeface="Malgun Gothic"/>
                <a:cs typeface="Malgun Gothic"/>
              </a:rPr>
              <a:t>A</a:t>
            </a:r>
            <a:r>
              <a:rPr sz="3900" b="0" dirty="0">
                <a:solidFill>
                  <a:srgbClr val="FFFFFF"/>
                </a:solidFill>
                <a:latin typeface="Malgun Gothic"/>
                <a:ea typeface="Malgun Gothic"/>
                <a:cs typeface="Malgun Gothic"/>
              </a:rPr>
              <a:t>ddress-</a:t>
            </a:r>
            <a:endParaRPr lang="en-US" sz="3900" b="0" dirty="0">
              <a:solidFill>
                <a:srgbClr val="FFFFFF"/>
              </a:solidFill>
              <a:latin typeface="Malgun Gothic"/>
              <a:ea typeface="Malgun Gothic"/>
              <a:cs typeface="Malgun Gothic"/>
            </a:endParaRPr>
          </a:p>
          <a:p>
            <a:pPr algn="l">
              <a:defRPr sz="3900" b="0">
                <a:solidFill>
                  <a:srgbClr val="FFFFFF"/>
                </a:solidFill>
                <a:latin typeface="Malgun Gothic"/>
                <a:ea typeface="Malgun Gothic"/>
                <a:cs typeface="Malgun Gothic"/>
              </a:defRPr>
            </a:pPr>
            <a:endParaRPr sz="3900" b="0" dirty="0">
              <a:solidFill>
                <a:srgbClr val="FFFFFF"/>
              </a:solidFill>
              <a:latin typeface="Malgun Gothic"/>
              <a:ea typeface="Malgun Gothic"/>
              <a:cs typeface="Malgun Gothic"/>
            </a:endParaRPr>
          </a:p>
        </p:txBody>
      </p:sp>
      <p:sp>
        <p:nvSpPr>
          <p:cNvPr id="7" name="직사각형 6">
            <a:extLst>
              <a:ext uri="{FF2B5EF4-FFF2-40B4-BE49-F238E27FC236}">
                <a16:creationId xmlns:a16="http://schemas.microsoft.com/office/drawing/2014/main" id="{5F5BACFE-F0A4-483C-8CBF-DA51F3917F06}"/>
              </a:ext>
            </a:extLst>
          </p:cNvPr>
          <p:cNvSpPr>
            <a:spLocks noGrp="1"/>
          </p:cNvSpPr>
          <p:nvPr/>
        </p:nvSpPr>
        <p:spPr>
          <a:xfrm>
            <a:off x="676275" y="1742149"/>
            <a:ext cx="4762500" cy="552450"/>
          </a:xfrm>
          <a:prstGeom prst="rect">
            <a:avLst/>
          </a:prstGeom>
          <a:noFill/>
          <a:ln w="0">
            <a:noFill/>
            <a:prstDash val="solid"/>
          </a:ln>
        </p:spPr>
        <p:txBody>
          <a:bodyPr wrap="square" lIns="19050" tIns="19050" rIns="19050" bIns="19050" anchor="t">
            <a:normAutofit fontScale="86538" lnSpcReduction="10000"/>
          </a:bodyPr>
          <a:lstStyle/>
          <a:p>
            <a:pPr algn="l">
              <a:defRPr sz="3900" b="0">
                <a:solidFill>
                  <a:srgbClr val="FFFFFF"/>
                </a:solidFill>
                <a:latin typeface="Malgun Gothic"/>
                <a:ea typeface="Malgun Gothic"/>
                <a:cs typeface="Malgun Gothic"/>
              </a:defRPr>
            </a:pPr>
            <a:r>
              <a:rPr lang="en-US" sz="3900" b="0" dirty="0">
                <a:solidFill>
                  <a:srgbClr val="C00000"/>
                </a:solidFill>
                <a:latin typeface="Malgun Gothic"/>
                <a:ea typeface="Malgun Gothic"/>
                <a:cs typeface="Malgun Gothic"/>
              </a:rPr>
              <a:t>E</a:t>
            </a:r>
            <a:r>
              <a:rPr sz="3900" b="0" dirty="0">
                <a:solidFill>
                  <a:srgbClr val="FFFFFF"/>
                </a:solidFill>
                <a:latin typeface="Malgun Gothic"/>
                <a:ea typeface="Malgun Gothic"/>
                <a:cs typeface="Malgun Gothic"/>
              </a:rPr>
              <a:t>vent</a:t>
            </a:r>
          </a:p>
        </p:txBody>
      </p:sp>
      <p:sp>
        <p:nvSpPr>
          <p:cNvPr id="9" name="직사각형 8">
            <a:extLst>
              <a:ext uri="{FF2B5EF4-FFF2-40B4-BE49-F238E27FC236}">
                <a16:creationId xmlns:a16="http://schemas.microsoft.com/office/drawing/2014/main" id="{8A526CBB-A875-499F-98D2-A622C3D880CD}"/>
              </a:ext>
            </a:extLst>
          </p:cNvPr>
          <p:cNvSpPr>
            <a:spLocks noGrp="1"/>
          </p:cNvSpPr>
          <p:nvPr/>
        </p:nvSpPr>
        <p:spPr>
          <a:xfrm>
            <a:off x="676275" y="2332699"/>
            <a:ext cx="5334000" cy="552450"/>
          </a:xfrm>
          <a:prstGeom prst="rect">
            <a:avLst/>
          </a:prstGeom>
          <a:noFill/>
          <a:ln w="0">
            <a:noFill/>
            <a:prstDash val="solid"/>
          </a:ln>
        </p:spPr>
        <p:txBody>
          <a:bodyPr wrap="square" lIns="19050" tIns="19050" rIns="19050" bIns="19050" anchor="t">
            <a:normAutofit fontScale="86538" lnSpcReduction="10000"/>
          </a:bodyPr>
          <a:lstStyle/>
          <a:p>
            <a:pPr algn="l">
              <a:defRPr sz="3900" b="0">
                <a:solidFill>
                  <a:srgbClr val="FFFFFF"/>
                </a:solidFill>
                <a:latin typeface="Malgun Gothic"/>
                <a:ea typeface="Malgun Gothic"/>
                <a:cs typeface="Malgun Gothic"/>
              </a:defRPr>
            </a:pPr>
            <a:r>
              <a:rPr lang="en-US" sz="3900" b="0" dirty="0">
                <a:solidFill>
                  <a:srgbClr val="C00000"/>
                </a:solidFill>
                <a:latin typeface="Malgun Gothic"/>
                <a:ea typeface="Malgun Gothic"/>
                <a:cs typeface="Malgun Gothic"/>
              </a:rPr>
              <a:t>R</a:t>
            </a:r>
            <a:r>
              <a:rPr sz="3900" b="0" dirty="0">
                <a:solidFill>
                  <a:srgbClr val="FFFFFF"/>
                </a:solidFill>
                <a:latin typeface="Malgun Gothic"/>
                <a:ea typeface="Malgun Gothic"/>
                <a:cs typeface="Malgun Gothic"/>
              </a:rPr>
              <a:t>epresentation</a:t>
            </a:r>
          </a:p>
        </p:txBody>
      </p:sp>
      <p:sp>
        <p:nvSpPr>
          <p:cNvPr id="10" name="직사각형 9">
            <a:extLst>
              <a:ext uri="{FF2B5EF4-FFF2-40B4-BE49-F238E27FC236}">
                <a16:creationId xmlns:a16="http://schemas.microsoft.com/office/drawing/2014/main" id="{2B6BB45F-E92C-4C07-AFA5-81119A455310}"/>
              </a:ext>
            </a:extLst>
          </p:cNvPr>
          <p:cNvSpPr>
            <a:spLocks noGrp="1"/>
          </p:cNvSpPr>
          <p:nvPr/>
        </p:nvSpPr>
        <p:spPr>
          <a:xfrm>
            <a:off x="666750" y="3381375"/>
            <a:ext cx="5810250" cy="704850"/>
          </a:xfrm>
          <a:prstGeom prst="rect">
            <a:avLst/>
          </a:prstGeom>
          <a:noFill/>
          <a:ln w="0">
            <a:noFill/>
            <a:prstDash val="solid"/>
          </a:ln>
        </p:spPr>
        <p:txBody>
          <a:bodyPr wrap="square" lIns="19050" tIns="19050" rIns="19050" bIns="19050" anchor="t">
            <a:normAutofit/>
          </a:bodyPr>
          <a:lstStyle/>
          <a:p>
            <a:pPr algn="l">
              <a:defRPr sz="1725" b="0">
                <a:solidFill>
                  <a:srgbClr val="D8E4F2"/>
                </a:solidFill>
                <a:latin typeface="Malgun Gothic"/>
                <a:ea typeface="Malgun Gothic"/>
                <a:cs typeface="Malgun Gothic"/>
              </a:defRPr>
            </a:pPr>
            <a:r>
              <a:rPr sz="1725" b="0">
                <a:solidFill>
                  <a:srgbClr val="D8E4F2"/>
                </a:solidFill>
                <a:latin typeface="Malgun Gothic"/>
                <a:ea typeface="Malgun Gothic"/>
                <a:cs typeface="Malgun Gothic"/>
              </a:rPr>
              <a:t>16개 비동기 뉴런 이벤트를 공정하고 연속적으로 전달하는 AER 컨트롤러 설계</a:t>
            </a:r>
          </a:p>
        </p:txBody>
      </p:sp>
      <p:sp>
        <p:nvSpPr>
          <p:cNvPr id="11" name="직사각형 10">
            <a:extLst>
              <a:ext uri="{FF2B5EF4-FFF2-40B4-BE49-F238E27FC236}">
                <a16:creationId xmlns:a16="http://schemas.microsoft.com/office/drawing/2014/main" id="{7A4C70F1-EF50-454B-BADB-36451D28822D}"/>
              </a:ext>
            </a:extLst>
          </p:cNvPr>
          <p:cNvSpPr>
            <a:spLocks noGrp="1"/>
          </p:cNvSpPr>
          <p:nvPr/>
        </p:nvSpPr>
        <p:spPr>
          <a:xfrm>
            <a:off x="666750" y="4486275"/>
            <a:ext cx="4000500" cy="266700"/>
          </a:xfrm>
          <a:prstGeom prst="rect">
            <a:avLst/>
          </a:prstGeom>
          <a:noFill/>
          <a:ln w="0">
            <a:noFill/>
            <a:prstDash val="solid"/>
          </a:ln>
        </p:spPr>
        <p:txBody>
          <a:bodyPr wrap="square" lIns="19050" tIns="19050" rIns="19050" bIns="19050" anchor="t">
            <a:normAutofit/>
          </a:bodyPr>
          <a:lstStyle/>
          <a:p>
            <a:pPr algn="l">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2026 AI SEMI 1차 설계과제</a:t>
            </a:r>
          </a:p>
        </p:txBody>
      </p:sp>
      <p:sp>
        <p:nvSpPr>
          <p:cNvPr id="12" name="직사각형 11">
            <a:extLst>
              <a:ext uri="{FF2B5EF4-FFF2-40B4-BE49-F238E27FC236}">
                <a16:creationId xmlns:a16="http://schemas.microsoft.com/office/drawing/2014/main" id="{71AD2E9C-5502-4F28-BB75-A562C45D0146}"/>
              </a:ext>
            </a:extLst>
          </p:cNvPr>
          <p:cNvSpPr>
            <a:spLocks noGrp="1"/>
          </p:cNvSpPr>
          <p:nvPr/>
        </p:nvSpPr>
        <p:spPr>
          <a:xfrm>
            <a:off x="666750" y="4876800"/>
            <a:ext cx="4000500" cy="247650"/>
          </a:xfrm>
          <a:prstGeom prst="rect">
            <a:avLst/>
          </a:prstGeom>
          <a:noFill/>
          <a:ln w="0">
            <a:noFill/>
            <a:prstDash val="solid"/>
          </a:ln>
        </p:spPr>
        <p:txBody>
          <a:bodyPr wrap="square" lIns="19050" tIns="19050" rIns="19050" bIns="19050" anchor="t">
            <a:normAutofit/>
          </a:bodyPr>
          <a:lstStyle/>
          <a:p>
            <a:pPr algn="l">
              <a:defRPr sz="1350" b="0">
                <a:solidFill>
                  <a:srgbClr val="27B1CA"/>
                </a:solidFill>
                <a:latin typeface="Malgun Gothic"/>
                <a:ea typeface="Malgun Gothic"/>
                <a:cs typeface="Malgun Gothic"/>
              </a:defRPr>
            </a:pPr>
            <a:r>
              <a:rPr sz="1350" b="0">
                <a:solidFill>
                  <a:srgbClr val="27B1CA"/>
                </a:solidFill>
                <a:latin typeface="Malgun Gothic"/>
                <a:ea typeface="Malgun Gothic"/>
                <a:cs typeface="Malgun Gothic"/>
              </a:rPr>
              <a:t>팀 최태원의 검</a:t>
            </a:r>
          </a:p>
        </p:txBody>
      </p:sp>
      <p:sp>
        <p:nvSpPr>
          <p:cNvPr id="13" name="직사각형 12">
            <a:extLst>
              <a:ext uri="{FF2B5EF4-FFF2-40B4-BE49-F238E27FC236}">
                <a16:creationId xmlns:a16="http://schemas.microsoft.com/office/drawing/2014/main" id="{5D8842B4-20F6-4AF3-A474-97F3ADC0273E}"/>
              </a:ext>
            </a:extLst>
          </p:cNvPr>
          <p:cNvSpPr>
            <a:spLocks noGrp="1"/>
          </p:cNvSpPr>
          <p:nvPr/>
        </p:nvSpPr>
        <p:spPr>
          <a:xfrm>
            <a:off x="666750" y="5257800"/>
            <a:ext cx="4953000" cy="838200"/>
          </a:xfrm>
          <a:prstGeom prst="rect">
            <a:avLst/>
          </a:prstGeom>
          <a:noFill/>
          <a:ln w="0">
            <a:noFill/>
            <a:prstDash val="solid"/>
          </a:ln>
        </p:spPr>
        <p:txBody>
          <a:bodyPr wrap="square" lIns="19050" tIns="19050" rIns="19050" bIns="19050" anchor="t">
            <a:normAutofit/>
          </a:bodyPr>
          <a:lstStyle/>
          <a:p>
            <a:pPr algn="l">
              <a:defRPr sz="1200" b="0">
                <a:solidFill>
                  <a:srgbClr val="FFFFFF"/>
                </a:solidFill>
                <a:latin typeface="Malgun Gothic"/>
                <a:ea typeface="Malgun Gothic"/>
                <a:cs typeface="Malgun Gothic"/>
              </a:defRPr>
            </a:pPr>
            <a:r>
              <a:rPr sz="1200" b="0" dirty="0" err="1">
                <a:solidFill>
                  <a:srgbClr val="FFFFFF"/>
                </a:solidFill>
                <a:latin typeface="Malgun Gothic"/>
                <a:ea typeface="Malgun Gothic"/>
                <a:cs typeface="Malgun Gothic"/>
              </a:rPr>
              <a:t>한양대</a:t>
            </a:r>
            <a:r>
              <a:rPr lang="ko-KR" altLang="en-US" sz="1200" b="0" dirty="0">
                <a:solidFill>
                  <a:srgbClr val="FFFFFF"/>
                </a:solidFill>
                <a:latin typeface="Malgun Gothic"/>
                <a:ea typeface="Malgun Gothic"/>
                <a:cs typeface="Malgun Gothic"/>
              </a:rPr>
              <a:t>학교</a:t>
            </a:r>
            <a:r>
              <a:rPr lang="ko-KR" altLang="en-US" sz="1200" dirty="0">
                <a:solidFill>
                  <a:srgbClr val="FFFFFF"/>
                </a:solidFill>
                <a:latin typeface="Malgun Gothic"/>
                <a:ea typeface="Malgun Gothic"/>
                <a:cs typeface="Malgun Gothic"/>
              </a:rPr>
              <a:t>     </a:t>
            </a:r>
            <a:r>
              <a:rPr sz="1200" b="0" dirty="0" err="1">
                <a:solidFill>
                  <a:srgbClr val="FFFFFF"/>
                </a:solidFill>
                <a:latin typeface="Malgun Gothic"/>
                <a:ea typeface="Malgun Gothic"/>
                <a:cs typeface="Malgun Gothic"/>
              </a:rPr>
              <a:t>융합전자공학부</a:t>
            </a:r>
            <a:r>
              <a:rPr lang="en-US" sz="1200" dirty="0">
                <a:solidFill>
                  <a:srgbClr val="FFFFFF"/>
                </a:solidFill>
                <a:latin typeface="Malgun Gothic"/>
                <a:ea typeface="Malgun Gothic"/>
                <a:cs typeface="Malgun Gothic"/>
              </a:rPr>
              <a:t>     </a:t>
            </a:r>
            <a:r>
              <a:rPr sz="1200" b="0" dirty="0" err="1">
                <a:solidFill>
                  <a:srgbClr val="FFFFFF"/>
                </a:solidFill>
                <a:latin typeface="Malgun Gothic"/>
                <a:ea typeface="Malgun Gothic"/>
                <a:cs typeface="Malgun Gothic"/>
              </a:rPr>
              <a:t>양건</a:t>
            </a:r>
            <a:endParaRPr sz="1200" b="0" dirty="0">
              <a:solidFill>
                <a:srgbClr val="FFFFFF"/>
              </a:solidFill>
              <a:latin typeface="Malgun Gothic"/>
              <a:ea typeface="Malgun Gothic"/>
              <a:cs typeface="Malgun Gothic"/>
            </a:endParaRPr>
          </a:p>
          <a:p>
            <a:pPr algn="l">
              <a:defRPr sz="1200" b="0">
                <a:solidFill>
                  <a:srgbClr val="FFFFFF"/>
                </a:solidFill>
                <a:latin typeface="Malgun Gothic"/>
                <a:ea typeface="Malgun Gothic"/>
                <a:cs typeface="Malgun Gothic"/>
              </a:defRPr>
            </a:pPr>
            <a:r>
              <a:rPr sz="1200" b="0" dirty="0" err="1">
                <a:solidFill>
                  <a:srgbClr val="FFFFFF"/>
                </a:solidFill>
                <a:latin typeface="Malgun Gothic"/>
                <a:ea typeface="Malgun Gothic"/>
                <a:cs typeface="Malgun Gothic"/>
              </a:rPr>
              <a:t>한양대학교</a:t>
            </a:r>
            <a:r>
              <a:rPr lang="en-US" sz="1200" dirty="0">
                <a:solidFill>
                  <a:srgbClr val="FFFFFF"/>
                </a:solidFill>
                <a:latin typeface="Malgun Gothic"/>
                <a:ea typeface="Malgun Gothic"/>
                <a:cs typeface="Malgun Gothic"/>
              </a:rPr>
              <a:t>     </a:t>
            </a:r>
            <a:r>
              <a:rPr sz="1200" b="0" dirty="0" err="1">
                <a:solidFill>
                  <a:srgbClr val="FFFFFF"/>
                </a:solidFill>
                <a:latin typeface="Malgun Gothic"/>
                <a:ea typeface="Malgun Gothic"/>
                <a:cs typeface="Malgun Gothic"/>
              </a:rPr>
              <a:t>융합전자공학부</a:t>
            </a:r>
            <a:r>
              <a:rPr sz="1200" b="0" dirty="0">
                <a:solidFill>
                  <a:srgbClr val="FFFFFF"/>
                </a:solidFill>
                <a:latin typeface="Malgun Gothic"/>
                <a:ea typeface="Malgun Gothic"/>
                <a:cs typeface="Malgun Gothic"/>
              </a:rPr>
              <a:t> </a:t>
            </a:r>
            <a:r>
              <a:rPr lang="en-US" sz="1200" b="0" dirty="0">
                <a:solidFill>
                  <a:srgbClr val="FFFFFF"/>
                </a:solidFill>
                <a:latin typeface="Malgun Gothic"/>
                <a:ea typeface="Malgun Gothic"/>
                <a:cs typeface="Malgun Gothic"/>
              </a:rPr>
              <a:t>    </a:t>
            </a:r>
            <a:r>
              <a:rPr sz="1200" b="0" dirty="0" err="1">
                <a:solidFill>
                  <a:srgbClr val="FFFFFF"/>
                </a:solidFill>
                <a:latin typeface="Malgun Gothic"/>
                <a:ea typeface="Malgun Gothic"/>
                <a:cs typeface="Malgun Gothic"/>
              </a:rPr>
              <a:t>고은결</a:t>
            </a:r>
            <a:endParaRPr sz="1200" b="0" dirty="0">
              <a:solidFill>
                <a:srgbClr val="FFFFFF"/>
              </a:solidFill>
              <a:latin typeface="Malgun Gothic"/>
              <a:ea typeface="Malgun Gothic"/>
              <a:cs typeface="Malgun Gothic"/>
            </a:endParaRPr>
          </a:p>
          <a:p>
            <a:pPr algn="l">
              <a:defRPr sz="1200" b="0">
                <a:solidFill>
                  <a:srgbClr val="FFFFFF"/>
                </a:solidFill>
                <a:latin typeface="Malgun Gothic"/>
                <a:ea typeface="Malgun Gothic"/>
                <a:cs typeface="Malgun Gothic"/>
              </a:defRPr>
            </a:pPr>
            <a:r>
              <a:rPr sz="1200" b="0" dirty="0" err="1">
                <a:solidFill>
                  <a:srgbClr val="FFFFFF"/>
                </a:solidFill>
                <a:latin typeface="Malgun Gothic"/>
                <a:ea typeface="Malgun Gothic"/>
                <a:cs typeface="Malgun Gothic"/>
              </a:rPr>
              <a:t>성균관대학교</a:t>
            </a:r>
            <a:r>
              <a:rPr lang="en-US" sz="1200" dirty="0">
                <a:solidFill>
                  <a:srgbClr val="FFFFFF"/>
                </a:solidFill>
                <a:latin typeface="Malgun Gothic"/>
                <a:ea typeface="Malgun Gothic"/>
                <a:cs typeface="Malgun Gothic"/>
              </a:rPr>
              <a:t>  </a:t>
            </a:r>
            <a:r>
              <a:rPr sz="1200" b="0" dirty="0" err="1">
                <a:solidFill>
                  <a:srgbClr val="FFFFFF"/>
                </a:solidFill>
                <a:latin typeface="Malgun Gothic"/>
                <a:ea typeface="Malgun Gothic"/>
                <a:cs typeface="Malgun Gothic"/>
              </a:rPr>
              <a:t>시스템경영공학과</a:t>
            </a:r>
            <a:r>
              <a:rPr lang="en-US" sz="1200" dirty="0">
                <a:solidFill>
                  <a:srgbClr val="FFFFFF"/>
                </a:solidFill>
                <a:latin typeface="Malgun Gothic"/>
                <a:ea typeface="Malgun Gothic"/>
                <a:cs typeface="Malgun Gothic"/>
              </a:rPr>
              <a:t>  </a:t>
            </a:r>
            <a:r>
              <a:rPr sz="1200" b="0" dirty="0">
                <a:solidFill>
                  <a:srgbClr val="FFFFFF"/>
                </a:solidFill>
                <a:latin typeface="Malgun Gothic"/>
                <a:ea typeface="Malgun Gothic"/>
                <a:cs typeface="Malgun Gothic"/>
              </a:rPr>
              <a:t>김</a:t>
            </a:r>
            <a:r>
              <a:rPr lang="ko-KR" altLang="en-US" sz="1200" b="0" dirty="0" err="1">
                <a:solidFill>
                  <a:srgbClr val="FFFFFF"/>
                </a:solidFill>
                <a:latin typeface="Malgun Gothic"/>
                <a:ea typeface="Malgun Gothic"/>
                <a:cs typeface="Malgun Gothic"/>
              </a:rPr>
              <a:t>군협</a:t>
            </a:r>
            <a:endParaRPr sz="1200" b="0" dirty="0">
              <a:solidFill>
                <a:srgbClr val="FFFFFF"/>
              </a:solidFill>
              <a:latin typeface="Malgun Gothic"/>
              <a:ea typeface="Malgun Gothic"/>
              <a:cs typeface="Malgun Gothic"/>
            </a:endParaRPr>
          </a:p>
        </p:txBody>
      </p:sp>
      <p:pic>
        <p:nvPicPr>
          <p:cNvPr id="29" name="그림 28"/>
          <p:cNvPicPr>
            <a:picLocks noChangeAspect="1"/>
          </p:cNvPicPr>
          <p:nvPr/>
        </p:nvPicPr>
        <p:blipFill>
          <a:blip r:embed="rId4"/>
          <a:srcRect/>
          <a:stretch>
            <a:fillRect/>
          </a:stretch>
        </p:blipFill>
        <p:spPr>
          <a:xfrm>
            <a:off x="4656798" y="1055422"/>
            <a:ext cx="1925903" cy="1925903"/>
          </a:xfrm>
          <a:prstGeom prst="rect">
            <a:avLst/>
          </a:prstGeom>
        </p:spPr>
      </p:pic>
      <p:sp>
        <p:nvSpPr>
          <p:cNvPr id="15" name="직사각형 14">
            <a:extLst>
              <a:ext uri="{FF2B5EF4-FFF2-40B4-BE49-F238E27FC236}">
                <a16:creationId xmlns:a16="http://schemas.microsoft.com/office/drawing/2014/main" id="{334DC70F-960C-4C10-8AAA-AD9E813493C6}"/>
              </a:ext>
            </a:extLst>
          </p:cNvPr>
          <p:cNvSpPr>
            <a:spLocks noGrp="1"/>
          </p:cNvSpPr>
          <p:nvPr/>
        </p:nvSpPr>
        <p:spPr>
          <a:xfrm>
            <a:off x="8905875" y="266700"/>
            <a:ext cx="2857500" cy="266700"/>
          </a:xfrm>
          <a:prstGeom prst="rect">
            <a:avLst/>
          </a:prstGeom>
          <a:noFill/>
          <a:ln w="0">
            <a:noFill/>
            <a:prstDash val="solid"/>
          </a:ln>
        </p:spPr>
        <p:txBody>
          <a:bodyPr wrap="square" lIns="19050" tIns="19050" rIns="19050" bIns="19050" anchor="t">
            <a:normAutofit/>
          </a:bodyPr>
          <a:lstStyle/>
          <a:p>
            <a:pPr algn="r">
              <a:defRPr sz="1275" b="0">
                <a:solidFill>
                  <a:srgbClr val="FFFFFF"/>
                </a:solidFill>
                <a:latin typeface="Malgun Gothic"/>
                <a:ea typeface="Malgun Gothic"/>
                <a:cs typeface="Malgun Gothic"/>
              </a:defRPr>
            </a:pPr>
            <a:r>
              <a:rPr sz="1275" b="0" dirty="0">
                <a:solidFill>
                  <a:srgbClr val="FFFFFF"/>
                </a:solidFill>
                <a:latin typeface="Malgun Gothic"/>
                <a:ea typeface="Malgun Gothic"/>
                <a:cs typeface="Malgun Gothic"/>
              </a:rPr>
              <a:t>GPDK45 POST-ROUTE</a:t>
            </a:r>
          </a:p>
        </p:txBody>
      </p:sp>
    </p:spTree>
    <p:extLst>
      <p:ext uri="{BB962C8B-B14F-4D97-AF65-F5344CB8AC3E}">
        <p14:creationId xmlns:p14="http://schemas.microsoft.com/office/powerpoint/2010/main" val="559955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B5D20D6F-DF77-471F-AACF-3A71E16C0913}"/>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2">
            <a:extLst>
              <a:ext uri="{FF2B5EF4-FFF2-40B4-BE49-F238E27FC236}">
                <a16:creationId xmlns:a16="http://schemas.microsoft.com/office/drawing/2014/main" id="{976A073D-D256-493A-A359-007E0471B92E}"/>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defRPr sz="2625" b="0">
                <a:solidFill>
                  <a:srgbClr val="151A22"/>
                </a:solidFill>
                <a:latin typeface="Malgun Gothic"/>
                <a:ea typeface="Malgun Gothic"/>
                <a:cs typeface="Malgun Gothic"/>
              </a:defRPr>
            </a:pPr>
            <a:r>
              <a:rPr lang="ko-KR" altLang="en-US" sz="2625" dirty="0">
                <a:solidFill>
                  <a:srgbClr val="151A22"/>
                </a:solidFill>
                <a:latin typeface="Malgun Gothic"/>
                <a:ea typeface="Malgun Gothic"/>
                <a:cs typeface="Malgun Gothic"/>
              </a:rPr>
              <a:t>전통적 </a:t>
            </a:r>
            <a:r>
              <a:rPr lang="en-US" altLang="ko-KR" sz="2625" dirty="0">
                <a:solidFill>
                  <a:srgbClr val="151A22"/>
                </a:solidFill>
                <a:latin typeface="Malgun Gothic"/>
                <a:ea typeface="Malgun Gothic"/>
                <a:cs typeface="Malgun Gothic"/>
              </a:rPr>
              <a:t>AER</a:t>
            </a:r>
            <a:r>
              <a:rPr lang="ko-KR" altLang="en-US" sz="2625" dirty="0">
                <a:solidFill>
                  <a:srgbClr val="151A22"/>
                </a:solidFill>
                <a:latin typeface="Malgun Gothic"/>
                <a:ea typeface="Malgun Gothic"/>
                <a:cs typeface="Malgun Gothic"/>
              </a:rPr>
              <a:t>의 구성요소</a:t>
            </a:r>
          </a:p>
        </p:txBody>
      </p:sp>
      <p:sp>
        <p:nvSpPr>
          <p:cNvPr id="3" name="section-2">
            <a:extLst>
              <a:ext uri="{FF2B5EF4-FFF2-40B4-BE49-F238E27FC236}">
                <a16:creationId xmlns:a16="http://schemas.microsoft.com/office/drawing/2014/main" id="{292FFFEA-C821-4571-8CBD-879DB743EB18}"/>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lang="en-US" sz="900" dirty="0">
                <a:solidFill>
                  <a:srgbClr val="088B94"/>
                </a:solidFill>
                <a:latin typeface="Malgun Gothic"/>
                <a:ea typeface="Malgun Gothic"/>
                <a:cs typeface="Malgun Gothic"/>
              </a:rPr>
              <a:t>COMPONENTS</a:t>
            </a:r>
            <a:r>
              <a:rPr lang="ko-KR" altLang="en-US" sz="900" dirty="0">
                <a:solidFill>
                  <a:srgbClr val="088B94"/>
                </a:solidFill>
                <a:latin typeface="Malgun Gothic"/>
                <a:ea typeface="Malgun Gothic"/>
                <a:cs typeface="Malgun Gothic"/>
              </a:rPr>
              <a:t> </a:t>
            </a:r>
            <a:r>
              <a:rPr lang="en-US" altLang="ko-KR" sz="900" dirty="0">
                <a:solidFill>
                  <a:srgbClr val="088B94"/>
                </a:solidFill>
                <a:latin typeface="Malgun Gothic"/>
                <a:ea typeface="Malgun Gothic"/>
                <a:cs typeface="Malgun Gothic"/>
              </a:rPr>
              <a:t>OF</a:t>
            </a:r>
            <a:r>
              <a:rPr lang="ko-KR" altLang="en-US" sz="900" dirty="0">
                <a:solidFill>
                  <a:srgbClr val="088B94"/>
                </a:solidFill>
                <a:latin typeface="Malgun Gothic"/>
                <a:ea typeface="Malgun Gothic"/>
                <a:cs typeface="Malgun Gothic"/>
              </a:rPr>
              <a:t> </a:t>
            </a:r>
            <a:r>
              <a:rPr lang="en-US" altLang="ko-KR" sz="900" dirty="0">
                <a:solidFill>
                  <a:srgbClr val="088B94"/>
                </a:solidFill>
                <a:latin typeface="Malgun Gothic"/>
                <a:ea typeface="Malgun Gothic"/>
                <a:cs typeface="Malgun Gothic"/>
              </a:rPr>
              <a:t>TRADITIONAL</a:t>
            </a:r>
            <a:r>
              <a:rPr lang="ko-KR" altLang="en-US" sz="900" dirty="0">
                <a:solidFill>
                  <a:srgbClr val="088B94"/>
                </a:solidFill>
                <a:latin typeface="Malgun Gothic"/>
                <a:ea typeface="Malgun Gothic"/>
                <a:cs typeface="Malgun Gothic"/>
              </a:rPr>
              <a:t> </a:t>
            </a:r>
            <a:r>
              <a:rPr lang="en-US" altLang="ko-KR" sz="900" dirty="0">
                <a:solidFill>
                  <a:srgbClr val="088B94"/>
                </a:solidFill>
                <a:latin typeface="Malgun Gothic"/>
                <a:ea typeface="Malgun Gothic"/>
                <a:cs typeface="Malgun Gothic"/>
              </a:rPr>
              <a:t>AER</a:t>
            </a:r>
            <a:endParaRPr sz="900" b="0" dirty="0">
              <a:solidFill>
                <a:srgbClr val="088B94"/>
              </a:solidFill>
              <a:latin typeface="Malgun Gothic"/>
              <a:ea typeface="Malgun Gothic"/>
              <a:cs typeface="Malgun Gothic"/>
            </a:endParaRPr>
          </a:p>
        </p:txBody>
      </p:sp>
      <p:sp>
        <p:nvSpPr>
          <p:cNvPr id="4" name="직사각형 3">
            <a:extLst>
              <a:ext uri="{FF2B5EF4-FFF2-40B4-BE49-F238E27FC236}">
                <a16:creationId xmlns:a16="http://schemas.microsoft.com/office/drawing/2014/main" id="{F91F4841-B84C-4512-AC0D-8BCEAD94F9F0}"/>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pic>
        <p:nvPicPr>
          <p:cNvPr id="29" name="그림 28"/>
          <p:cNvPicPr>
            <a:picLocks noChangeAspect="1"/>
          </p:cNvPicPr>
          <p:nvPr/>
        </p:nvPicPr>
        <p:blipFill>
          <a:blip r:embed="rId3"/>
          <a:stretch/>
        </p:blipFill>
        <p:spPr>
          <a:xfrm>
            <a:off x="11285208" y="133349"/>
            <a:ext cx="900000" cy="900000"/>
          </a:xfrm>
          <a:prstGeom prst="rect">
            <a:avLst/>
          </a:prstGeom>
        </p:spPr>
      </p:pic>
      <p:sp>
        <p:nvSpPr>
          <p:cNvPr id="6" name="직사각형 5">
            <a:extLst>
              <a:ext uri="{FF2B5EF4-FFF2-40B4-BE49-F238E27FC236}">
                <a16:creationId xmlns:a16="http://schemas.microsoft.com/office/drawing/2014/main" id="{A2EC9650-6C46-44AF-8054-61C21BEEBDE6}"/>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
        <p:nvSpPr>
          <p:cNvPr id="9" name="직사각형 8">
            <a:extLst>
              <a:ext uri="{FF2B5EF4-FFF2-40B4-BE49-F238E27FC236}">
                <a16:creationId xmlns:a16="http://schemas.microsoft.com/office/drawing/2014/main" id="{C1851323-0A26-4D1D-BE26-C22D038ECF37}"/>
              </a:ext>
            </a:extLst>
          </p:cNvPr>
          <p:cNvSpPr>
            <a:spLocks noGrp="1"/>
          </p:cNvSpPr>
          <p:nvPr/>
        </p:nvSpPr>
        <p:spPr>
          <a:xfrm>
            <a:off x="628650" y="1295400"/>
            <a:ext cx="6381750" cy="323850"/>
          </a:xfrm>
          <a:prstGeom prst="rect">
            <a:avLst/>
          </a:prstGeom>
          <a:noFill/>
          <a:ln w="0">
            <a:noFill/>
            <a:prstDash val="solid"/>
          </a:ln>
        </p:spPr>
        <p:txBody>
          <a:bodyPr wrap="square" lIns="19050" tIns="19050" rIns="19050" bIns="19050" anchor="t">
            <a:normAutofit/>
          </a:bodyPr>
          <a:lstStyle/>
          <a:p>
            <a:pPr algn="l">
              <a:defRPr sz="1800" b="0">
                <a:solidFill>
                  <a:srgbClr val="088B94"/>
                </a:solidFill>
                <a:latin typeface="Malgun Gothic"/>
                <a:ea typeface="Malgun Gothic"/>
                <a:cs typeface="Malgun Gothic"/>
              </a:defRPr>
            </a:pPr>
            <a:r>
              <a:rPr sz="1800" b="0" dirty="0" err="1">
                <a:solidFill>
                  <a:srgbClr val="088B94"/>
                </a:solidFill>
                <a:latin typeface="Malgun Gothic"/>
                <a:ea typeface="Malgun Gothic"/>
                <a:cs typeface="Malgun Gothic"/>
              </a:rPr>
              <a:t>AER은</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무엇을</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보내는가</a:t>
            </a:r>
            <a:r>
              <a:rPr sz="1800" b="0" dirty="0">
                <a:solidFill>
                  <a:srgbClr val="088B94"/>
                </a:solidFill>
                <a:latin typeface="Malgun Gothic"/>
                <a:ea typeface="Malgun Gothic"/>
                <a:cs typeface="Malgun Gothic"/>
              </a:rPr>
              <a:t>?</a:t>
            </a:r>
          </a:p>
        </p:txBody>
      </p:sp>
      <p:sp>
        <p:nvSpPr>
          <p:cNvPr id="10" name="직사각형 9">
            <a:extLst>
              <a:ext uri="{FF2B5EF4-FFF2-40B4-BE49-F238E27FC236}">
                <a16:creationId xmlns:a16="http://schemas.microsoft.com/office/drawing/2014/main" id="{FD80772D-C140-4715-8019-50D4A0E13780}"/>
              </a:ext>
            </a:extLst>
          </p:cNvPr>
          <p:cNvSpPr>
            <a:spLocks noGrp="1"/>
          </p:cNvSpPr>
          <p:nvPr/>
        </p:nvSpPr>
        <p:spPr>
          <a:xfrm>
            <a:off x="628650" y="1657350"/>
            <a:ext cx="1333500" cy="28575"/>
          </a:xfrm>
          <a:prstGeom prst="rect">
            <a:avLst/>
          </a:prstGeom>
          <a:solidFill>
            <a:srgbClr val="088B94"/>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B5CE73A7-C14A-4E51-9F29-C03679345D49}"/>
              </a:ext>
            </a:extLst>
          </p:cNvPr>
          <p:cNvSpPr>
            <a:spLocks noGrp="1"/>
          </p:cNvSpPr>
          <p:nvPr/>
        </p:nvSpPr>
        <p:spPr>
          <a:xfrm>
            <a:off x="628650" y="1771650"/>
            <a:ext cx="6846110" cy="2381250"/>
          </a:xfrm>
          <a:prstGeom prst="rect">
            <a:avLst/>
          </a:prstGeom>
          <a:noFill/>
          <a:ln w="0">
            <a:noFill/>
            <a:prstDash val="solid"/>
          </a:ln>
        </p:spPr>
        <p:txBody>
          <a:bodyPr wrap="square" lIns="19050" tIns="19050" rIns="19050" bIns="19050" anchor="t">
            <a:normAutofit/>
          </a:bodyPr>
          <a:lstStyle/>
          <a:p>
            <a:pPr>
              <a:defRPr sz="1350" b="0">
                <a:solidFill>
                  <a:srgbClr val="151A22"/>
                </a:solidFill>
                <a:latin typeface="Malgun Gothic"/>
                <a:ea typeface="Malgun Gothic"/>
                <a:cs typeface="Malgun Gothic"/>
              </a:defRPr>
            </a:pPr>
            <a:r>
              <a:rPr lang="ko-KR" altLang="ko-KR" sz="1400" dirty="0">
                <a:solidFill>
                  <a:srgbClr val="151A22"/>
                </a:solidFill>
                <a:latin typeface="Malgun Gothic"/>
              </a:rPr>
              <a:t>AER(</a:t>
            </a:r>
            <a:r>
              <a:rPr lang="ko-KR" altLang="ko-KR" sz="1400" dirty="0" err="1">
                <a:solidFill>
                  <a:srgbClr val="151A22"/>
                </a:solidFill>
                <a:latin typeface="Malgun Gothic"/>
              </a:rPr>
              <a:t>Address-Event</a:t>
            </a:r>
            <a:r>
              <a:rPr lang="ko-KR" altLang="ko-KR" sz="1400" dirty="0">
                <a:solidFill>
                  <a:srgbClr val="151A22"/>
                </a:solidFill>
                <a:latin typeface="Malgun Gothic"/>
              </a:rPr>
              <a:t> </a:t>
            </a:r>
            <a:r>
              <a:rPr lang="ko-KR" altLang="ko-KR" sz="1400" dirty="0" err="1">
                <a:solidFill>
                  <a:srgbClr val="151A22"/>
                </a:solidFill>
                <a:latin typeface="Malgun Gothic"/>
              </a:rPr>
              <a:t>Representation</a:t>
            </a:r>
            <a:r>
              <a:rPr lang="ko-KR" altLang="ko-KR" sz="1400" dirty="0">
                <a:solidFill>
                  <a:srgbClr val="151A22"/>
                </a:solidFill>
                <a:latin typeface="Malgun Gothic"/>
              </a:rPr>
              <a:t>)은 </a:t>
            </a:r>
            <a:r>
              <a:rPr lang="ko-KR" altLang="ko-KR" sz="1400" dirty="0" err="1">
                <a:solidFill>
                  <a:srgbClr val="151A22"/>
                </a:solidFill>
                <a:latin typeface="Malgun Gothic"/>
              </a:rPr>
              <a:t>SNN과</a:t>
            </a:r>
            <a:r>
              <a:rPr lang="ko-KR" altLang="ko-KR" sz="1400" dirty="0">
                <a:solidFill>
                  <a:srgbClr val="151A22"/>
                </a:solidFill>
                <a:latin typeface="Malgun Gothic"/>
              </a:rPr>
              <a:t> </a:t>
            </a:r>
            <a:r>
              <a:rPr lang="ko-KR" altLang="ko-KR" sz="1400" dirty="0" err="1">
                <a:solidFill>
                  <a:srgbClr val="151A22"/>
                </a:solidFill>
                <a:latin typeface="Malgun Gothic"/>
              </a:rPr>
              <a:t>뉴로모픽</a:t>
            </a:r>
            <a:r>
              <a:rPr lang="ko-KR" altLang="ko-KR" sz="1400" dirty="0">
                <a:solidFill>
                  <a:srgbClr val="151A22"/>
                </a:solidFill>
                <a:latin typeface="Malgun Gothic"/>
              </a:rPr>
              <a:t> 시스템에서 발화한 뉴런의 번호를 주소로 전달하는 이벤트 기반 통신 방식으로, 발화 파형 자체나 막전위의 크기는 전송하지 않는다.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이벤트가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발생한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Source의</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번호만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주소로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바꾸어</a:t>
            </a:r>
            <a:r>
              <a:rPr sz="1400" b="0" dirty="0">
                <a:solidFill>
                  <a:srgbClr val="151A22"/>
                </a:solidFill>
                <a:latin typeface="Malgun Gothic"/>
                <a:ea typeface="Malgun Gothic"/>
                <a:cs typeface="Malgun Gothic"/>
              </a:rPr>
              <a:t> </a:t>
            </a:r>
            <a:r>
              <a:rPr lang="en-US" sz="1400" b="0" dirty="0">
                <a:solidFill>
                  <a:srgbClr val="151A22"/>
                </a:solidFill>
                <a:latin typeface="Malgun Gothic"/>
                <a:ea typeface="Malgun Gothic"/>
                <a:cs typeface="Malgun Gothic"/>
              </a:rPr>
              <a:t>1</a:t>
            </a:r>
            <a:r>
              <a:rPr lang="ko-KR" altLang="en-US" sz="1400" b="0" dirty="0">
                <a:solidFill>
                  <a:srgbClr val="151A22"/>
                </a:solidFill>
                <a:latin typeface="Malgun Gothic"/>
                <a:ea typeface="Malgun Gothic"/>
                <a:cs typeface="Malgun Gothic"/>
              </a:rPr>
              <a:t>개의 </a:t>
            </a:r>
            <a:r>
              <a:rPr sz="1400" b="0" dirty="0" err="1">
                <a:solidFill>
                  <a:srgbClr val="151A22"/>
                </a:solidFill>
                <a:latin typeface="Malgun Gothic"/>
                <a:ea typeface="Malgun Gothic"/>
                <a:cs typeface="Malgun Gothic"/>
              </a:rPr>
              <a:t>공용</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버스로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전달한다</a:t>
            </a:r>
            <a:r>
              <a:rPr sz="1400" b="0" dirty="0">
                <a:solidFill>
                  <a:srgbClr val="151A22"/>
                </a:solidFill>
                <a:latin typeface="Malgun Gothic"/>
                <a:ea typeface="Malgun Gothic"/>
                <a:cs typeface="Malgun Gothic"/>
              </a:rPr>
              <a:t>. 16개 </a:t>
            </a:r>
            <a:r>
              <a:rPr sz="1400" b="0" dirty="0" err="1">
                <a:solidFill>
                  <a:srgbClr val="151A22"/>
                </a:solidFill>
                <a:latin typeface="Malgun Gothic"/>
                <a:ea typeface="Malgun Gothic"/>
                <a:cs typeface="Malgun Gothic"/>
              </a:rPr>
              <a:t>뉴런은</a:t>
            </a:r>
            <a:r>
              <a:rPr sz="1400" b="0" dirty="0">
                <a:solidFill>
                  <a:srgbClr val="151A22"/>
                </a:solidFill>
                <a:latin typeface="Malgun Gothic"/>
                <a:ea typeface="Malgun Gothic"/>
                <a:cs typeface="Malgun Gothic"/>
              </a:rPr>
              <a:t> 0~15의 </a:t>
            </a:r>
            <a:r>
              <a:rPr sz="1400" b="0" dirty="0" err="1">
                <a:solidFill>
                  <a:srgbClr val="151A22"/>
                </a:solidFill>
                <a:latin typeface="Malgun Gothic"/>
                <a:ea typeface="Malgun Gothic"/>
                <a:cs typeface="Malgun Gothic"/>
              </a:rPr>
              <a:t>번호를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가지므로</a:t>
            </a:r>
            <a:r>
              <a:rPr sz="1400" b="0" dirty="0">
                <a:solidFill>
                  <a:srgbClr val="151A22"/>
                </a:solidFill>
                <a:latin typeface="Malgun Gothic"/>
                <a:ea typeface="Malgun Gothic"/>
                <a:cs typeface="Malgun Gothic"/>
              </a:rPr>
              <a:t> 4 bit </a:t>
            </a:r>
            <a:r>
              <a:rPr sz="1400" b="0" dirty="0" err="1">
                <a:solidFill>
                  <a:srgbClr val="151A22"/>
                </a:solidFill>
                <a:latin typeface="Malgun Gothic"/>
                <a:ea typeface="Malgun Gothic"/>
                <a:cs typeface="Malgun Gothic"/>
              </a:rPr>
              <a:t>주소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하나로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표현할</a:t>
            </a:r>
            <a:r>
              <a:rPr sz="1400" b="0" dirty="0">
                <a:solidFill>
                  <a:srgbClr val="151A22"/>
                </a:solidFill>
                <a:latin typeface="Malgun Gothic"/>
                <a:ea typeface="Malgun Gothic"/>
                <a:cs typeface="Malgun Gothic"/>
              </a:rPr>
              <a:t> 수 </a:t>
            </a:r>
            <a:r>
              <a:rPr sz="1400" b="0" dirty="0" err="1">
                <a:solidFill>
                  <a:srgbClr val="151A22"/>
                </a:solidFill>
                <a:latin typeface="Malgun Gothic"/>
                <a:ea typeface="Malgun Gothic"/>
                <a:cs typeface="Malgun Gothic"/>
              </a:rPr>
              <a:t>있다</a:t>
            </a:r>
            <a:r>
              <a:rPr sz="1400" b="0" dirty="0">
                <a:solidFill>
                  <a:srgbClr val="151A22"/>
                </a:solidFill>
                <a:latin typeface="Malgun Gothic"/>
                <a:ea typeface="Malgun Gothic"/>
                <a:cs typeface="Malgun Gothic"/>
              </a:rPr>
              <a:t>.</a:t>
            </a:r>
          </a:p>
          <a:p>
            <a:endParaRPr sz="1400" b="0" dirty="0">
              <a:solidFill>
                <a:srgbClr val="151A22"/>
              </a:solidFill>
              <a:latin typeface="Malgun Gothic"/>
              <a:ea typeface="Malgun Gothic"/>
              <a:cs typeface="Malgun Gothic"/>
            </a:endParaRPr>
          </a:p>
          <a:p>
            <a:pPr algn="l">
              <a:defRPr sz="1350" b="0">
                <a:solidFill>
                  <a:srgbClr val="151A22"/>
                </a:solidFill>
                <a:latin typeface="Malgun Gothic"/>
                <a:ea typeface="Malgun Gothic"/>
                <a:cs typeface="Malgun Gothic"/>
              </a:defRPr>
            </a:pPr>
            <a:r>
              <a:rPr sz="1400" b="0" dirty="0" err="1">
                <a:solidFill>
                  <a:srgbClr val="151A22"/>
                </a:solidFill>
                <a:latin typeface="Malgun Gothic"/>
                <a:ea typeface="Malgun Gothic"/>
                <a:cs typeface="Malgun Gothic"/>
              </a:rPr>
              <a:t>Source마다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별도의</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주소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버스를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만들지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않기</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때문에</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핀과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배선을</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줄일</a:t>
            </a:r>
            <a:r>
              <a:rPr sz="1400" b="0" dirty="0">
                <a:solidFill>
                  <a:srgbClr val="151A22"/>
                </a:solidFill>
                <a:latin typeface="Malgun Gothic"/>
                <a:ea typeface="Malgun Gothic"/>
                <a:cs typeface="Malgun Gothic"/>
              </a:rPr>
              <a:t> 수 </a:t>
            </a:r>
            <a:r>
              <a:rPr sz="1400" b="0" dirty="0" err="1">
                <a:solidFill>
                  <a:srgbClr val="151A22"/>
                </a:solidFill>
                <a:latin typeface="Malgun Gothic"/>
                <a:ea typeface="Malgun Gothic"/>
                <a:cs typeface="Malgun Gothic"/>
              </a:rPr>
              <a:t>있지만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공용</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버스는</a:t>
            </a:r>
            <a:r>
              <a:rPr sz="1400" b="0" dirty="0">
                <a:solidFill>
                  <a:srgbClr val="151A22"/>
                </a:solidFill>
                <a:latin typeface="Malgun Gothic"/>
                <a:ea typeface="Malgun Gothic"/>
                <a:cs typeface="Malgun Gothic"/>
              </a:rPr>
              <a:t> 한 </a:t>
            </a:r>
            <a:r>
              <a:rPr sz="1400" b="0" dirty="0" err="1">
                <a:solidFill>
                  <a:srgbClr val="151A22"/>
                </a:solidFill>
                <a:latin typeface="Malgun Gothic"/>
                <a:ea typeface="Malgun Gothic"/>
                <a:cs typeface="Malgun Gothic"/>
              </a:rPr>
              <a:t>번에</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하나</a:t>
            </a:r>
            <a:r>
              <a:rPr lang="ko-KR" altLang="en-US" sz="1400" b="0" dirty="0">
                <a:solidFill>
                  <a:srgbClr val="151A22"/>
                </a:solidFill>
                <a:latin typeface="Malgun Gothic"/>
                <a:ea typeface="Malgun Gothic"/>
                <a:cs typeface="Malgun Gothic"/>
              </a:rPr>
              <a:t>의 이벤트</a:t>
            </a:r>
            <a:r>
              <a:rPr sz="1400" b="0" dirty="0">
                <a:solidFill>
                  <a:srgbClr val="151A22"/>
                </a:solidFill>
                <a:latin typeface="Malgun Gothic"/>
                <a:ea typeface="Malgun Gothic"/>
                <a:cs typeface="Malgun Gothic"/>
              </a:rPr>
              <a:t>만 </a:t>
            </a:r>
            <a:r>
              <a:rPr sz="1400" b="0" dirty="0" err="1">
                <a:solidFill>
                  <a:srgbClr val="151A22"/>
                </a:solidFill>
                <a:latin typeface="Malgun Gothic"/>
                <a:ea typeface="Malgun Gothic"/>
                <a:cs typeface="Malgun Gothic"/>
              </a:rPr>
              <a:t>전달한다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따라서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컨트롤러는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여러</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a:t>
            </a:r>
            <a:r>
              <a:rPr sz="1400" b="0" dirty="0">
                <a:solidFill>
                  <a:srgbClr val="151A22"/>
                </a:solidFill>
                <a:latin typeface="Malgun Gothic"/>
                <a:ea typeface="Malgun Gothic"/>
                <a:cs typeface="Malgun Gothic"/>
              </a:rPr>
              <a:t> 중 </a:t>
            </a:r>
            <a:r>
              <a:rPr sz="1400" b="0" dirty="0" err="1">
                <a:solidFill>
                  <a:srgbClr val="151A22"/>
                </a:solidFill>
                <a:latin typeface="Malgun Gothic"/>
                <a:ea typeface="Malgun Gothic"/>
                <a:cs typeface="Malgun Gothic"/>
              </a:rPr>
              <a:t>이번에</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보낼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Source를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선택하고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선택되지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않은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요청이</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사라지지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않게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관리해야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한다</a:t>
            </a:r>
            <a:r>
              <a:rPr sz="1400" b="0" dirty="0">
                <a:solidFill>
                  <a:srgbClr val="151A22"/>
                </a:solidFill>
                <a:latin typeface="Malgun Gothic"/>
                <a:ea typeface="Malgun Gothic"/>
                <a:cs typeface="Malgun Gothic"/>
              </a:rPr>
              <a:t>.</a:t>
            </a:r>
          </a:p>
        </p:txBody>
      </p:sp>
      <p:sp>
        <p:nvSpPr>
          <p:cNvPr id="12" name="사각형: 둥근 모서리 11">
            <a:extLst>
              <a:ext uri="{FF2B5EF4-FFF2-40B4-BE49-F238E27FC236}">
                <a16:creationId xmlns:a16="http://schemas.microsoft.com/office/drawing/2014/main" id="{6B083AD6-1107-4308-B6A5-EE5C433B75AE}"/>
              </a:ext>
            </a:extLst>
          </p:cNvPr>
          <p:cNvSpPr>
            <a:spLocks noGrp="1"/>
          </p:cNvSpPr>
          <p:nvPr/>
        </p:nvSpPr>
        <p:spPr>
          <a:xfrm>
            <a:off x="7905750" y="1428750"/>
            <a:ext cx="3476625" cy="2333625"/>
          </a:xfrm>
          <a:prstGeom prst="roundRect">
            <a:avLst>
              <a:gd name="adj" fmla="val 4082"/>
            </a:avLst>
          </a:prstGeom>
          <a:solidFill>
            <a:srgbClr val="F7FAFC"/>
          </a:solidFill>
          <a:ln w="9525">
            <a:solidFill>
              <a:srgbClr val="D3DBE5"/>
            </a:solidFill>
            <a:prstDash val="solid"/>
          </a:ln>
        </p:spPr>
        <p:txBody>
          <a:bodyPr/>
          <a:lstStyle/>
          <a:p>
            <a:endParaRPr lang="ko-KR" altLang="en-US" dirty="0"/>
          </a:p>
        </p:txBody>
      </p:sp>
      <p:sp>
        <p:nvSpPr>
          <p:cNvPr id="13" name="직사각형 12">
            <a:extLst>
              <a:ext uri="{FF2B5EF4-FFF2-40B4-BE49-F238E27FC236}">
                <a16:creationId xmlns:a16="http://schemas.microsoft.com/office/drawing/2014/main" id="{5895236D-1D7F-4BC9-AE0F-1EC259ED1318}"/>
              </a:ext>
            </a:extLst>
          </p:cNvPr>
          <p:cNvSpPr>
            <a:spLocks noGrp="1"/>
          </p:cNvSpPr>
          <p:nvPr/>
        </p:nvSpPr>
        <p:spPr>
          <a:xfrm>
            <a:off x="8143875" y="1554299"/>
            <a:ext cx="3000375" cy="323850"/>
          </a:xfrm>
          <a:prstGeom prst="rect">
            <a:avLst/>
          </a:prstGeom>
          <a:noFill/>
          <a:ln w="0">
            <a:noFill/>
            <a:prstDash val="solid"/>
          </a:ln>
        </p:spPr>
        <p:txBody>
          <a:bodyPr wrap="square" lIns="19050" tIns="19050" rIns="19050" bIns="19050" anchor="t">
            <a:normAutofit/>
          </a:bodyPr>
          <a:lstStyle/>
          <a:p>
            <a:pPr algn="ctr">
              <a:defRPr sz="1800" b="0">
                <a:solidFill>
                  <a:srgbClr val="088B94"/>
                </a:solidFill>
                <a:latin typeface="Malgun Gothic"/>
                <a:ea typeface="Malgun Gothic"/>
                <a:cs typeface="Malgun Gothic"/>
              </a:defRPr>
            </a:pPr>
            <a:r>
              <a:rPr sz="1800" b="0" dirty="0">
                <a:solidFill>
                  <a:srgbClr val="088B94"/>
                </a:solidFill>
                <a:latin typeface="Malgun Gothic"/>
                <a:ea typeface="Malgun Gothic"/>
                <a:cs typeface="Malgun Gothic"/>
              </a:rPr>
              <a:t>Source 6 </a:t>
            </a:r>
            <a:r>
              <a:rPr sz="1800" b="0" dirty="0" err="1">
                <a:solidFill>
                  <a:srgbClr val="088B94"/>
                </a:solidFill>
                <a:latin typeface="Malgun Gothic"/>
                <a:ea typeface="Malgun Gothic"/>
                <a:cs typeface="Malgun Gothic"/>
              </a:rPr>
              <a:t>발화</a:t>
            </a:r>
            <a:endParaRPr sz="1800" b="0" dirty="0">
              <a:solidFill>
                <a:srgbClr val="088B94"/>
              </a:solidFill>
              <a:latin typeface="Malgun Gothic"/>
              <a:ea typeface="Malgun Gothic"/>
              <a:cs typeface="Malgun Gothic"/>
            </a:endParaRPr>
          </a:p>
        </p:txBody>
      </p:sp>
      <p:sp>
        <p:nvSpPr>
          <p:cNvPr id="15" name="직사각형 14">
            <a:extLst>
              <a:ext uri="{FF2B5EF4-FFF2-40B4-BE49-F238E27FC236}">
                <a16:creationId xmlns:a16="http://schemas.microsoft.com/office/drawing/2014/main" id="{78740802-5FBB-415A-A3DC-345EF1E01AF1}"/>
              </a:ext>
            </a:extLst>
          </p:cNvPr>
          <p:cNvSpPr>
            <a:spLocks noGrp="1"/>
          </p:cNvSpPr>
          <p:nvPr/>
        </p:nvSpPr>
        <p:spPr>
          <a:xfrm>
            <a:off x="9167812" y="1911486"/>
            <a:ext cx="952500" cy="342900"/>
          </a:xfrm>
          <a:prstGeom prst="rect">
            <a:avLst/>
          </a:prstGeom>
          <a:noFill/>
          <a:ln w="0">
            <a:noFill/>
            <a:prstDash val="solid"/>
          </a:ln>
        </p:spPr>
        <p:txBody>
          <a:bodyPr wrap="square" lIns="19050" tIns="19050" rIns="19050" bIns="19050" anchor="t">
            <a:normAutofit fontScale="95238"/>
          </a:bodyPr>
          <a:lstStyle/>
          <a:p>
            <a:pPr algn="ctr">
              <a:defRPr sz="2100" b="0">
                <a:solidFill>
                  <a:srgbClr val="27B1CA"/>
                </a:solidFill>
                <a:latin typeface="Malgun Gothic"/>
                <a:ea typeface="Malgun Gothic"/>
                <a:cs typeface="Malgun Gothic"/>
              </a:defRPr>
            </a:pPr>
            <a:r>
              <a:rPr sz="2100" b="0" dirty="0">
                <a:solidFill>
                  <a:srgbClr val="27B1CA"/>
                </a:solidFill>
                <a:latin typeface="Malgun Gothic"/>
                <a:ea typeface="Malgun Gothic"/>
                <a:cs typeface="Malgun Gothic"/>
              </a:rPr>
              <a:t>↓</a:t>
            </a:r>
          </a:p>
        </p:txBody>
      </p:sp>
      <p:sp>
        <p:nvSpPr>
          <p:cNvPr id="16" name="직사각형 15">
            <a:extLst>
              <a:ext uri="{FF2B5EF4-FFF2-40B4-BE49-F238E27FC236}">
                <a16:creationId xmlns:a16="http://schemas.microsoft.com/office/drawing/2014/main" id="{1CDBDA53-B2C9-4B9E-861D-2EB53B4B8EF4}"/>
              </a:ext>
            </a:extLst>
          </p:cNvPr>
          <p:cNvSpPr>
            <a:spLocks noGrp="1"/>
          </p:cNvSpPr>
          <p:nvPr/>
        </p:nvSpPr>
        <p:spPr>
          <a:xfrm>
            <a:off x="8239125" y="2333557"/>
            <a:ext cx="2809875" cy="361950"/>
          </a:xfrm>
          <a:prstGeom prst="rect">
            <a:avLst/>
          </a:prstGeom>
          <a:noFill/>
          <a:ln w="0">
            <a:noFill/>
            <a:prstDash val="solid"/>
          </a:ln>
        </p:spPr>
        <p:txBody>
          <a:bodyPr wrap="square" lIns="19050" tIns="19050" rIns="19050" bIns="19050" anchor="t">
            <a:normAutofit/>
          </a:bodyPr>
          <a:lstStyle/>
          <a:p>
            <a:pPr algn="ctr">
              <a:defRPr sz="1800" b="0">
                <a:solidFill>
                  <a:srgbClr val="2D5FE5"/>
                </a:solidFill>
                <a:latin typeface="Consolas"/>
                <a:ea typeface="Consolas"/>
                <a:cs typeface="Consolas"/>
              </a:defRPr>
            </a:pPr>
            <a:r>
              <a:rPr sz="1800" b="0" dirty="0" err="1">
                <a:solidFill>
                  <a:srgbClr val="2D5FE5"/>
                </a:solidFill>
                <a:latin typeface="Consolas"/>
                <a:ea typeface="Consolas"/>
                <a:cs typeface="Consolas"/>
              </a:rPr>
              <a:t>공용</a:t>
            </a:r>
            <a:r>
              <a:rPr lang="en-US" dirty="0">
                <a:solidFill>
                  <a:srgbClr val="2D5FE5"/>
                </a:solidFill>
                <a:latin typeface="Consolas"/>
                <a:ea typeface="Consolas"/>
                <a:cs typeface="Consolas"/>
              </a:rPr>
              <a:t> </a:t>
            </a:r>
            <a:r>
              <a:rPr lang="ko-KR" altLang="en-US" dirty="0">
                <a:solidFill>
                  <a:srgbClr val="2D5FE5"/>
                </a:solidFill>
                <a:latin typeface="Consolas"/>
                <a:ea typeface="Consolas"/>
                <a:cs typeface="Consolas"/>
              </a:rPr>
              <a:t>버스에 </a:t>
            </a:r>
            <a:r>
              <a:rPr lang="en-US" altLang="ko-KR" dirty="0">
                <a:solidFill>
                  <a:srgbClr val="2D5FE5"/>
                </a:solidFill>
                <a:latin typeface="Consolas"/>
                <a:ea typeface="Consolas"/>
                <a:cs typeface="Consolas"/>
              </a:rPr>
              <a:t>[</a:t>
            </a:r>
            <a:r>
              <a:rPr sz="1800" b="0" dirty="0">
                <a:solidFill>
                  <a:srgbClr val="2D5FE5"/>
                </a:solidFill>
                <a:latin typeface="Consolas"/>
                <a:ea typeface="Consolas"/>
                <a:cs typeface="Consolas"/>
              </a:rPr>
              <a:t>0110</a:t>
            </a:r>
            <a:r>
              <a:rPr lang="en-US" sz="1800" b="0" dirty="0">
                <a:solidFill>
                  <a:srgbClr val="2D5FE5"/>
                </a:solidFill>
                <a:latin typeface="Consolas"/>
                <a:ea typeface="Consolas"/>
                <a:cs typeface="Consolas"/>
              </a:rPr>
              <a:t>] </a:t>
            </a:r>
            <a:r>
              <a:rPr lang="ko-KR" altLang="en-US" sz="1800" b="0" dirty="0">
                <a:solidFill>
                  <a:srgbClr val="2D5FE5"/>
                </a:solidFill>
                <a:latin typeface="Consolas"/>
                <a:ea typeface="Consolas"/>
                <a:cs typeface="Consolas"/>
              </a:rPr>
              <a:t>요청</a:t>
            </a:r>
            <a:endParaRPr sz="1800" b="0" dirty="0">
              <a:solidFill>
                <a:srgbClr val="2D5FE5"/>
              </a:solidFill>
              <a:latin typeface="Consolas"/>
              <a:ea typeface="Consolas"/>
              <a:cs typeface="Consolas"/>
            </a:endParaRPr>
          </a:p>
        </p:txBody>
      </p:sp>
      <p:sp>
        <p:nvSpPr>
          <p:cNvPr id="18" name="직사각형 17">
            <a:extLst>
              <a:ext uri="{FF2B5EF4-FFF2-40B4-BE49-F238E27FC236}">
                <a16:creationId xmlns:a16="http://schemas.microsoft.com/office/drawing/2014/main" id="{C7813460-FDF0-4B9F-9AF9-A26814DF6406}"/>
              </a:ext>
            </a:extLst>
          </p:cNvPr>
          <p:cNvSpPr>
            <a:spLocks noGrp="1"/>
          </p:cNvSpPr>
          <p:nvPr/>
        </p:nvSpPr>
        <p:spPr>
          <a:xfrm>
            <a:off x="628650" y="4191000"/>
            <a:ext cx="7239000" cy="323850"/>
          </a:xfrm>
          <a:prstGeom prst="rect">
            <a:avLst/>
          </a:prstGeom>
          <a:noFill/>
          <a:ln w="0">
            <a:noFill/>
            <a:prstDash val="solid"/>
          </a:ln>
        </p:spPr>
        <p:txBody>
          <a:bodyPr wrap="square" lIns="19050" tIns="19050" rIns="19050" bIns="19050" anchor="t">
            <a:normAutofit/>
          </a:bodyPr>
          <a:lstStyle/>
          <a:p>
            <a:pPr algn="l">
              <a:defRPr sz="1800" b="0">
                <a:solidFill>
                  <a:srgbClr val="E87A24"/>
                </a:solidFill>
                <a:latin typeface="Malgun Gothic"/>
                <a:ea typeface="Malgun Gothic"/>
                <a:cs typeface="Malgun Gothic"/>
              </a:defRPr>
            </a:pPr>
            <a:r>
              <a:rPr sz="1800" b="0">
                <a:solidFill>
                  <a:srgbClr val="E87A24"/>
                </a:solidFill>
                <a:latin typeface="Malgun Gothic"/>
                <a:ea typeface="Malgun Gothic"/>
                <a:cs typeface="Malgun Gothic"/>
              </a:rPr>
              <a:t>Fixed Priority: 번호가 작은 요청을 먼저 선택</a:t>
            </a:r>
          </a:p>
        </p:txBody>
      </p:sp>
      <p:sp>
        <p:nvSpPr>
          <p:cNvPr id="19" name="직사각형 18">
            <a:extLst>
              <a:ext uri="{FF2B5EF4-FFF2-40B4-BE49-F238E27FC236}">
                <a16:creationId xmlns:a16="http://schemas.microsoft.com/office/drawing/2014/main" id="{441F6145-4F9D-4B64-AB43-381CE66B032B}"/>
              </a:ext>
            </a:extLst>
          </p:cNvPr>
          <p:cNvSpPr>
            <a:spLocks noGrp="1"/>
          </p:cNvSpPr>
          <p:nvPr/>
        </p:nvSpPr>
        <p:spPr>
          <a:xfrm>
            <a:off x="628650" y="4552950"/>
            <a:ext cx="1333500" cy="28575"/>
          </a:xfrm>
          <a:prstGeom prst="rect">
            <a:avLst/>
          </a:prstGeom>
          <a:solidFill>
            <a:srgbClr val="E87A24"/>
          </a:solidFill>
          <a:ln w="0">
            <a:noFill/>
            <a:prstDash val="solid"/>
          </a:ln>
        </p:spPr>
        <p:txBody>
          <a:bodyPr/>
          <a:lstStyle/>
          <a:p>
            <a:endParaRPr lang="ko-KR" altLang="en-US"/>
          </a:p>
        </p:txBody>
      </p:sp>
      <p:sp>
        <p:nvSpPr>
          <p:cNvPr id="20" name="직사각형 19">
            <a:extLst>
              <a:ext uri="{FF2B5EF4-FFF2-40B4-BE49-F238E27FC236}">
                <a16:creationId xmlns:a16="http://schemas.microsoft.com/office/drawing/2014/main" id="{ABED58F3-EF08-44A1-B21E-0E87F4787486}"/>
              </a:ext>
            </a:extLst>
          </p:cNvPr>
          <p:cNvSpPr>
            <a:spLocks noGrp="1"/>
          </p:cNvSpPr>
          <p:nvPr/>
        </p:nvSpPr>
        <p:spPr>
          <a:xfrm>
            <a:off x="628650" y="4648200"/>
            <a:ext cx="7429500" cy="1123950"/>
          </a:xfrm>
          <a:prstGeom prst="rect">
            <a:avLst/>
          </a:prstGeom>
          <a:noFill/>
          <a:ln w="0">
            <a:noFill/>
            <a:prstDash val="solid"/>
          </a:ln>
        </p:spPr>
        <p:txBody>
          <a:bodyPr wrap="square" lIns="19050" tIns="19050" rIns="19050" bIns="19050" anchor="t">
            <a:normAutofit/>
          </a:bodyPr>
          <a:lstStyle/>
          <a:p>
            <a:pPr algn="l">
              <a:defRPr sz="1350" b="0">
                <a:solidFill>
                  <a:srgbClr val="151A22"/>
                </a:solidFill>
                <a:latin typeface="Malgun Gothic"/>
                <a:ea typeface="Malgun Gothic"/>
                <a:cs typeface="Malgun Gothic"/>
              </a:defRPr>
            </a:pPr>
            <a:r>
              <a:rPr sz="1400" b="0" dirty="0">
                <a:solidFill>
                  <a:srgbClr val="151A22"/>
                </a:solidFill>
                <a:latin typeface="Malgun Gothic"/>
                <a:ea typeface="Malgun Gothic"/>
                <a:cs typeface="Malgun Gothic"/>
              </a:rPr>
              <a:t>Fixed </a:t>
            </a:r>
            <a:r>
              <a:rPr sz="1400" b="0" dirty="0" err="1">
                <a:solidFill>
                  <a:srgbClr val="151A22"/>
                </a:solidFill>
                <a:latin typeface="Malgun Gothic"/>
                <a:ea typeface="Malgun Gothic"/>
                <a:cs typeface="Malgun Gothic"/>
              </a:rPr>
              <a:t>Priority는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안정된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여러</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요청을</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비교해</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가장</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작은</a:t>
            </a:r>
            <a:r>
              <a:rPr sz="1400" b="0" dirty="0">
                <a:solidFill>
                  <a:srgbClr val="151A22"/>
                </a:solidFill>
                <a:latin typeface="Malgun Gothic"/>
                <a:ea typeface="Malgun Gothic"/>
                <a:cs typeface="Malgun Gothic"/>
              </a:rPr>
              <a:t> Source </a:t>
            </a:r>
            <a:r>
              <a:rPr sz="1400" b="0" dirty="0" err="1">
                <a:solidFill>
                  <a:srgbClr val="151A22"/>
                </a:solidFill>
                <a:latin typeface="Malgun Gothic"/>
                <a:ea typeface="Malgun Gothic"/>
                <a:cs typeface="Malgun Gothic"/>
              </a:rPr>
              <a:t>번호를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선택하는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중재</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방식이다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예를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들어</a:t>
            </a:r>
            <a:r>
              <a:rPr sz="1400" b="0" dirty="0">
                <a:solidFill>
                  <a:srgbClr val="151A22"/>
                </a:solidFill>
                <a:latin typeface="Malgun Gothic"/>
                <a:ea typeface="Malgun Gothic"/>
                <a:cs typeface="Malgun Gothic"/>
              </a:rPr>
              <a:t> Source 1, 6, 12가 </a:t>
            </a:r>
            <a:r>
              <a:rPr sz="1400" b="0" dirty="0" err="1">
                <a:solidFill>
                  <a:srgbClr val="151A22"/>
                </a:solidFill>
                <a:latin typeface="Malgun Gothic"/>
                <a:ea typeface="Malgun Gothic"/>
                <a:cs typeface="Malgun Gothic"/>
              </a:rPr>
              <a:t>동시에</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요청하면</a:t>
            </a:r>
            <a:r>
              <a:rPr sz="1400" b="0" dirty="0">
                <a:solidFill>
                  <a:srgbClr val="151A22"/>
                </a:solidFill>
                <a:latin typeface="Malgun Gothic"/>
                <a:ea typeface="Malgun Gothic"/>
                <a:cs typeface="Malgun Gothic"/>
              </a:rPr>
              <a:t> Source 1이 </a:t>
            </a:r>
            <a:r>
              <a:rPr sz="1400" b="0" dirty="0" err="1">
                <a:solidFill>
                  <a:srgbClr val="151A22"/>
                </a:solidFill>
                <a:latin typeface="Malgun Gothic"/>
                <a:ea typeface="Malgun Gothic"/>
                <a:cs typeface="Malgun Gothic"/>
              </a:rPr>
              <a:t>선택된다</a:t>
            </a:r>
            <a:r>
              <a:rPr sz="1400" b="0" dirty="0">
                <a:solidFill>
                  <a:srgbClr val="151A22"/>
                </a:solidFill>
                <a:latin typeface="Malgun Gothic"/>
                <a:ea typeface="Malgun Gothic"/>
                <a:cs typeface="Malgun Gothic"/>
              </a:rPr>
              <a:t>. </a:t>
            </a:r>
            <a:r>
              <a:rPr lang="ko-KR" altLang="en-US" sz="1400" dirty="0">
                <a:solidFill>
                  <a:srgbClr val="151A22"/>
                </a:solidFill>
                <a:latin typeface="Malgun Gothic"/>
                <a:ea typeface="Malgun Gothic"/>
                <a:cs typeface="Malgun Gothic"/>
              </a:rPr>
              <a:t>전통적 </a:t>
            </a:r>
            <a:r>
              <a:rPr lang="en-US" altLang="ko-KR" sz="1400" dirty="0">
                <a:solidFill>
                  <a:srgbClr val="151A22"/>
                </a:solidFill>
                <a:latin typeface="Malgun Gothic"/>
                <a:ea typeface="Malgun Gothic"/>
                <a:cs typeface="Malgun Gothic"/>
              </a:rPr>
              <a:t>AER</a:t>
            </a:r>
            <a:r>
              <a:rPr lang="ko-KR" altLang="en-US" sz="1400" dirty="0">
                <a:solidFill>
                  <a:srgbClr val="151A22"/>
                </a:solidFill>
                <a:latin typeface="Malgun Gothic"/>
                <a:ea typeface="Malgun Gothic"/>
                <a:cs typeface="Malgun Gothic"/>
              </a:rPr>
              <a:t>은 이 방식을 사용한다</a:t>
            </a:r>
            <a:r>
              <a:rPr lang="en-US" altLang="ko-KR" sz="1400" dirty="0">
                <a:solidFill>
                  <a:srgbClr val="151A22"/>
                </a:solidFill>
                <a:latin typeface="Malgun Gothic"/>
                <a:ea typeface="Malgun Gothic"/>
                <a:cs typeface="Malgun Gothic"/>
              </a:rPr>
              <a:t>. </a:t>
            </a:r>
            <a:r>
              <a:rPr lang="ko-KR" altLang="en-US" sz="1400" dirty="0">
                <a:solidFill>
                  <a:srgbClr val="151A22"/>
                </a:solidFill>
                <a:latin typeface="Malgun Gothic"/>
                <a:ea typeface="Malgun Gothic"/>
                <a:cs typeface="Malgun Gothic"/>
              </a:rPr>
              <a:t>다만 </a:t>
            </a:r>
            <a:r>
              <a:rPr sz="1400" b="0" dirty="0" err="1">
                <a:solidFill>
                  <a:srgbClr val="151A22"/>
                </a:solidFill>
                <a:latin typeface="Malgun Gothic"/>
                <a:ea typeface="Malgun Gothic"/>
                <a:cs typeface="Malgun Gothic"/>
              </a:rPr>
              <a:t>회로는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단순하지만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도착</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순서를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저장하는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FIFO나</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FCFS가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아니므로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낮은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번호가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반복</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요청하면</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높은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번호가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계속</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밀릴</a:t>
            </a:r>
            <a:r>
              <a:rPr sz="1400" b="0" dirty="0">
                <a:solidFill>
                  <a:srgbClr val="151A22"/>
                </a:solidFill>
                <a:latin typeface="Malgun Gothic"/>
                <a:ea typeface="Malgun Gothic"/>
                <a:cs typeface="Malgun Gothic"/>
              </a:rPr>
              <a:t> 수 </a:t>
            </a:r>
            <a:r>
              <a:rPr sz="1400" b="0" dirty="0" err="1">
                <a:solidFill>
                  <a:srgbClr val="151A22"/>
                </a:solidFill>
                <a:latin typeface="Malgun Gothic"/>
                <a:ea typeface="Malgun Gothic"/>
                <a:cs typeface="Malgun Gothic"/>
              </a:rPr>
              <a:t>있다</a:t>
            </a:r>
            <a:r>
              <a:rPr sz="1400" b="0" dirty="0">
                <a:solidFill>
                  <a:srgbClr val="151A22"/>
                </a:solidFill>
                <a:latin typeface="Malgun Gothic"/>
                <a:ea typeface="Malgun Gothic"/>
                <a:cs typeface="Malgun Gothic"/>
              </a:rPr>
              <a:t>.</a:t>
            </a:r>
          </a:p>
        </p:txBody>
      </p:sp>
      <p:sp>
        <p:nvSpPr>
          <p:cNvPr id="21" name="사각형: 둥근 모서리 20">
            <a:extLst>
              <a:ext uri="{FF2B5EF4-FFF2-40B4-BE49-F238E27FC236}">
                <a16:creationId xmlns:a16="http://schemas.microsoft.com/office/drawing/2014/main" id="{36FA40C4-43E5-4199-9796-CAF22BDE9B6D}"/>
              </a:ext>
            </a:extLst>
          </p:cNvPr>
          <p:cNvSpPr>
            <a:spLocks noGrp="1"/>
          </p:cNvSpPr>
          <p:nvPr/>
        </p:nvSpPr>
        <p:spPr>
          <a:xfrm>
            <a:off x="8401050" y="4438650"/>
            <a:ext cx="2981325" cy="685800"/>
          </a:xfrm>
          <a:prstGeom prst="roundRect">
            <a:avLst>
              <a:gd name="adj" fmla="val 13889"/>
            </a:avLst>
          </a:prstGeom>
          <a:solidFill>
            <a:srgbClr val="FFF3E8"/>
          </a:solidFill>
          <a:ln w="9525">
            <a:solidFill>
              <a:srgbClr val="E87A24"/>
            </a:solidFill>
            <a:prstDash val="solid"/>
          </a:ln>
        </p:spPr>
        <p:txBody>
          <a:bodyPr/>
          <a:lstStyle/>
          <a:p>
            <a:endParaRPr lang="ko-KR" altLang="en-US"/>
          </a:p>
        </p:txBody>
      </p:sp>
      <p:sp>
        <p:nvSpPr>
          <p:cNvPr id="22" name="직사각형 21">
            <a:extLst>
              <a:ext uri="{FF2B5EF4-FFF2-40B4-BE49-F238E27FC236}">
                <a16:creationId xmlns:a16="http://schemas.microsoft.com/office/drawing/2014/main" id="{A032FA34-F5C1-429D-A520-4F1E7EA60F53}"/>
              </a:ext>
            </a:extLst>
          </p:cNvPr>
          <p:cNvSpPr>
            <a:spLocks noGrp="1"/>
          </p:cNvSpPr>
          <p:nvPr/>
        </p:nvSpPr>
        <p:spPr>
          <a:xfrm>
            <a:off x="8676219" y="4552950"/>
            <a:ext cx="2430985" cy="457200"/>
          </a:xfrm>
          <a:prstGeom prst="rect">
            <a:avLst/>
          </a:prstGeom>
          <a:noFill/>
          <a:ln w="0">
            <a:noFill/>
            <a:prstDash val="solid"/>
          </a:ln>
        </p:spPr>
        <p:txBody>
          <a:bodyPr wrap="square" lIns="19050" tIns="19050" rIns="19050" bIns="19050" anchor="ctr">
            <a:normAutofit fontScale="96491"/>
          </a:bodyPr>
          <a:lstStyle/>
          <a:p>
            <a:pPr algn="l">
              <a:defRPr sz="1425" b="0">
                <a:solidFill>
                  <a:srgbClr val="E87A24"/>
                </a:solidFill>
                <a:latin typeface="Malgun Gothic"/>
                <a:ea typeface="Malgun Gothic"/>
                <a:cs typeface="Malgun Gothic"/>
              </a:defRPr>
            </a:pPr>
            <a:r>
              <a:rPr sz="1425" b="0" dirty="0" err="1">
                <a:solidFill>
                  <a:srgbClr val="E87A24"/>
                </a:solidFill>
                <a:latin typeface="Malgun Gothic"/>
                <a:ea typeface="Malgun Gothic"/>
                <a:cs typeface="Malgun Gothic"/>
              </a:rPr>
              <a:t>동시</a:t>
            </a:r>
            <a:r>
              <a:rPr sz="1425" b="0" dirty="0">
                <a:solidFill>
                  <a:srgbClr val="E87A24"/>
                </a:solidFill>
                <a:latin typeface="Malgun Gothic"/>
                <a:ea typeface="Malgun Gothic"/>
                <a:cs typeface="Malgun Gothic"/>
              </a:rPr>
              <a:t> </a:t>
            </a:r>
            <a:r>
              <a:rPr sz="1425" b="0" dirty="0" err="1">
                <a:solidFill>
                  <a:srgbClr val="E87A24"/>
                </a:solidFill>
                <a:latin typeface="Malgun Gothic"/>
                <a:ea typeface="Malgun Gothic"/>
                <a:cs typeface="Malgun Gothic"/>
              </a:rPr>
              <a:t>요청</a:t>
            </a:r>
            <a:r>
              <a:rPr lang="en-US" sz="1425" dirty="0">
                <a:solidFill>
                  <a:srgbClr val="E87A24"/>
                </a:solidFill>
                <a:latin typeface="Malgun Gothic"/>
                <a:ea typeface="Malgun Gothic"/>
                <a:cs typeface="Malgun Gothic"/>
              </a:rPr>
              <a:t> </a:t>
            </a:r>
            <a:r>
              <a:rPr sz="1425" b="0" dirty="0">
                <a:solidFill>
                  <a:srgbClr val="E87A24"/>
                </a:solidFill>
                <a:latin typeface="Malgun Gothic"/>
                <a:ea typeface="Malgun Gothic"/>
                <a:cs typeface="Malgun Gothic"/>
              </a:rPr>
              <a:t>{1, 6, 12}</a:t>
            </a:r>
            <a:r>
              <a:rPr lang="en-US" sz="1425" b="0" dirty="0">
                <a:solidFill>
                  <a:srgbClr val="E87A24"/>
                </a:solidFill>
                <a:latin typeface="Malgun Gothic"/>
                <a:ea typeface="Malgun Gothic"/>
                <a:cs typeface="Malgun Gothic"/>
              </a:rPr>
              <a:t> </a:t>
            </a:r>
            <a:r>
              <a:rPr sz="1425" b="0" dirty="0">
                <a:solidFill>
                  <a:srgbClr val="E87A24"/>
                </a:solidFill>
                <a:latin typeface="Malgun Gothic"/>
                <a:ea typeface="Malgun Gothic"/>
                <a:cs typeface="Malgun Gothic"/>
              </a:rPr>
              <a:t>→</a:t>
            </a:r>
            <a:r>
              <a:rPr lang="en-US" sz="1425" b="0" dirty="0">
                <a:solidFill>
                  <a:srgbClr val="E87A24"/>
                </a:solidFill>
                <a:latin typeface="Malgun Gothic"/>
                <a:ea typeface="Malgun Gothic"/>
                <a:cs typeface="Malgun Gothic"/>
              </a:rPr>
              <a:t> </a:t>
            </a:r>
            <a:r>
              <a:rPr sz="1425" b="0" dirty="0">
                <a:solidFill>
                  <a:srgbClr val="E87A24"/>
                </a:solidFill>
                <a:latin typeface="Malgun Gothic"/>
                <a:ea typeface="Malgun Gothic"/>
                <a:cs typeface="Malgun Gothic"/>
              </a:rPr>
              <a:t>1</a:t>
            </a:r>
            <a:r>
              <a:rPr lang="en-US" sz="1425" b="0" dirty="0">
                <a:solidFill>
                  <a:srgbClr val="E87A24"/>
                </a:solidFill>
                <a:latin typeface="Malgun Gothic"/>
                <a:ea typeface="Malgun Gothic"/>
                <a:cs typeface="Malgun Gothic"/>
              </a:rPr>
              <a:t> </a:t>
            </a:r>
            <a:r>
              <a:rPr lang="ko-KR" altLang="en-US" sz="1425" b="0" dirty="0">
                <a:solidFill>
                  <a:srgbClr val="E87A24"/>
                </a:solidFill>
                <a:latin typeface="Malgun Gothic"/>
                <a:ea typeface="Malgun Gothic"/>
                <a:cs typeface="Malgun Gothic"/>
              </a:rPr>
              <a:t>선택</a:t>
            </a:r>
            <a:endParaRPr sz="1425" b="0" dirty="0">
              <a:solidFill>
                <a:srgbClr val="E87A24"/>
              </a:solidFill>
              <a:latin typeface="Malgun Gothic"/>
              <a:ea typeface="Malgun Gothic"/>
              <a:cs typeface="Malgun Gothic"/>
            </a:endParaRPr>
          </a:p>
        </p:txBody>
      </p:sp>
      <p:sp>
        <p:nvSpPr>
          <p:cNvPr id="23" name="사각형: 둥근 모서리 22">
            <a:extLst>
              <a:ext uri="{FF2B5EF4-FFF2-40B4-BE49-F238E27FC236}">
                <a16:creationId xmlns:a16="http://schemas.microsoft.com/office/drawing/2014/main" id="{CE2FC4F3-E787-42F3-AE28-6447273ED485}"/>
              </a:ext>
            </a:extLst>
          </p:cNvPr>
          <p:cNvSpPr>
            <a:spLocks noGrp="1"/>
          </p:cNvSpPr>
          <p:nvPr/>
        </p:nvSpPr>
        <p:spPr>
          <a:xfrm>
            <a:off x="8401050" y="5257800"/>
            <a:ext cx="2981325" cy="800100"/>
          </a:xfrm>
          <a:prstGeom prst="roundRect">
            <a:avLst>
              <a:gd name="adj" fmla="val 11905"/>
            </a:avLst>
          </a:prstGeom>
          <a:solidFill>
            <a:srgbClr val="F6F8FA"/>
          </a:solidFill>
          <a:ln w="9525">
            <a:solidFill>
              <a:srgbClr val="D3DBE5"/>
            </a:solidFill>
            <a:prstDash val="solid"/>
          </a:ln>
        </p:spPr>
        <p:txBody>
          <a:bodyPr/>
          <a:lstStyle/>
          <a:p>
            <a:endParaRPr lang="ko-KR" altLang="en-US"/>
          </a:p>
        </p:txBody>
      </p:sp>
      <p:sp>
        <p:nvSpPr>
          <p:cNvPr id="24" name="직사각형 23">
            <a:extLst>
              <a:ext uri="{FF2B5EF4-FFF2-40B4-BE49-F238E27FC236}">
                <a16:creationId xmlns:a16="http://schemas.microsoft.com/office/drawing/2014/main" id="{80FDE1D4-D1E2-4ECB-946E-F7C9BBDD2C8C}"/>
              </a:ext>
            </a:extLst>
          </p:cNvPr>
          <p:cNvSpPr>
            <a:spLocks noGrp="1"/>
          </p:cNvSpPr>
          <p:nvPr/>
        </p:nvSpPr>
        <p:spPr>
          <a:xfrm>
            <a:off x="8572500" y="5372100"/>
            <a:ext cx="2638425" cy="571500"/>
          </a:xfrm>
          <a:prstGeom prst="rect">
            <a:avLst/>
          </a:prstGeom>
          <a:noFill/>
          <a:ln w="0">
            <a:noFill/>
            <a:prstDash val="solid"/>
          </a:ln>
        </p:spPr>
        <p:txBody>
          <a:bodyPr wrap="square" lIns="19050" tIns="19050" rIns="19050" bIns="19050" anchor="ctr">
            <a:normAutofit fontScale="91503" lnSpcReduction="10000"/>
          </a:bodyPr>
          <a:lstStyle/>
          <a:p>
            <a:pPr algn="l">
              <a:defRPr sz="1275" b="0">
                <a:solidFill>
                  <a:srgbClr val="151A22"/>
                </a:solidFill>
                <a:latin typeface="Malgun Gothic"/>
                <a:ea typeface="Malgun Gothic"/>
                <a:cs typeface="Malgun Gothic"/>
              </a:defRPr>
            </a:pPr>
            <a:r>
              <a:rPr sz="1275" b="0" dirty="0" err="1">
                <a:solidFill>
                  <a:srgbClr val="151A22"/>
                </a:solidFill>
                <a:latin typeface="Malgun Gothic"/>
                <a:ea typeface="Malgun Gothic"/>
                <a:cs typeface="Malgun Gothic"/>
              </a:rPr>
              <a:t>중재기는</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단순</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Encoder가</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아니라</a:t>
            </a:r>
            <a:endParaRPr sz="1275" b="0" dirty="0">
              <a:solidFill>
                <a:srgbClr val="151A22"/>
              </a:solidFill>
              <a:latin typeface="Malgun Gothic"/>
              <a:ea typeface="Malgun Gothic"/>
              <a:cs typeface="Malgun Gothic"/>
            </a:endParaRPr>
          </a:p>
          <a:p>
            <a:pPr algn="l">
              <a:defRPr sz="1275" b="0">
                <a:solidFill>
                  <a:srgbClr val="151A22"/>
                </a:solidFill>
                <a:latin typeface="Malgun Gothic"/>
                <a:ea typeface="Malgun Gothic"/>
                <a:cs typeface="Malgun Gothic"/>
              </a:defRPr>
            </a:pPr>
            <a:r>
              <a:rPr sz="1275" b="0" dirty="0">
                <a:solidFill>
                  <a:srgbClr val="151A22"/>
                </a:solidFill>
                <a:latin typeface="Malgun Gothic"/>
                <a:ea typeface="Malgun Gothic"/>
                <a:cs typeface="Malgun Gothic"/>
              </a:rPr>
              <a:t>“</a:t>
            </a:r>
            <a:r>
              <a:rPr sz="1275" b="0" dirty="0" err="1">
                <a:solidFill>
                  <a:srgbClr val="151A22"/>
                </a:solidFill>
                <a:latin typeface="Malgun Gothic"/>
                <a:ea typeface="Malgun Gothic"/>
                <a:cs typeface="Malgun Gothic"/>
              </a:rPr>
              <a:t>이번에</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누구를</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보낼지</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결정하는</a:t>
            </a:r>
            <a:r>
              <a:rPr sz="1275" b="0" dirty="0">
                <a:solidFill>
                  <a:srgbClr val="151A22"/>
                </a:solidFill>
                <a:latin typeface="Malgun Gothic"/>
                <a:ea typeface="Malgun Gothic"/>
                <a:cs typeface="Malgun Gothic"/>
              </a:rPr>
              <a:t> </a:t>
            </a:r>
            <a:r>
              <a:rPr sz="1275" b="0" dirty="0" err="1">
                <a:solidFill>
                  <a:srgbClr val="151A22"/>
                </a:solidFill>
                <a:latin typeface="Malgun Gothic"/>
                <a:ea typeface="Malgun Gothic"/>
                <a:cs typeface="Malgun Gothic"/>
              </a:rPr>
              <a:t>회로다</a:t>
            </a:r>
            <a:r>
              <a:rPr sz="1275" b="0" dirty="0">
                <a:solidFill>
                  <a:srgbClr val="151A22"/>
                </a:solidFill>
                <a:latin typeface="Malgun Gothic"/>
                <a:ea typeface="Malgun Gothic"/>
                <a:cs typeface="Malgun Gothic"/>
              </a:rPr>
              <a:t>.</a:t>
            </a:r>
          </a:p>
        </p:txBody>
      </p:sp>
      <p:sp>
        <p:nvSpPr>
          <p:cNvPr id="26" name="직사각형 25">
            <a:extLst>
              <a:ext uri="{FF2B5EF4-FFF2-40B4-BE49-F238E27FC236}">
                <a16:creationId xmlns:a16="http://schemas.microsoft.com/office/drawing/2014/main" id="{AAD3B9CC-257C-1993-B538-EC269E1C929A}"/>
              </a:ext>
            </a:extLst>
          </p:cNvPr>
          <p:cNvSpPr>
            <a:spLocks noGrp="1"/>
          </p:cNvSpPr>
          <p:nvPr/>
        </p:nvSpPr>
        <p:spPr>
          <a:xfrm>
            <a:off x="9167812" y="2638357"/>
            <a:ext cx="952500" cy="342900"/>
          </a:xfrm>
          <a:prstGeom prst="rect">
            <a:avLst/>
          </a:prstGeom>
          <a:noFill/>
          <a:ln w="0">
            <a:noFill/>
            <a:prstDash val="solid"/>
          </a:ln>
        </p:spPr>
        <p:txBody>
          <a:bodyPr wrap="square" lIns="19050" tIns="19050" rIns="19050" bIns="19050" anchor="t">
            <a:normAutofit fontScale="95238"/>
          </a:bodyPr>
          <a:lstStyle/>
          <a:p>
            <a:pPr algn="ctr">
              <a:defRPr sz="2100" b="0">
                <a:solidFill>
                  <a:srgbClr val="27B1CA"/>
                </a:solidFill>
                <a:latin typeface="Malgun Gothic"/>
                <a:ea typeface="Malgun Gothic"/>
                <a:cs typeface="Malgun Gothic"/>
              </a:defRPr>
            </a:pPr>
            <a:r>
              <a:rPr sz="2100" b="0" dirty="0">
                <a:solidFill>
                  <a:srgbClr val="27B1CA"/>
                </a:solidFill>
                <a:latin typeface="Malgun Gothic"/>
                <a:ea typeface="Malgun Gothic"/>
                <a:cs typeface="Malgun Gothic"/>
              </a:rPr>
              <a:t>↓</a:t>
            </a:r>
          </a:p>
        </p:txBody>
      </p:sp>
      <p:sp>
        <p:nvSpPr>
          <p:cNvPr id="27" name="직사각형 26">
            <a:extLst>
              <a:ext uri="{FF2B5EF4-FFF2-40B4-BE49-F238E27FC236}">
                <a16:creationId xmlns:a16="http://schemas.microsoft.com/office/drawing/2014/main" id="{D1C68D79-FDD5-7D1F-7819-A8E4F028B680}"/>
              </a:ext>
            </a:extLst>
          </p:cNvPr>
          <p:cNvSpPr>
            <a:spLocks noGrp="1"/>
          </p:cNvSpPr>
          <p:nvPr/>
        </p:nvSpPr>
        <p:spPr>
          <a:xfrm>
            <a:off x="8113383" y="3051881"/>
            <a:ext cx="3171825" cy="592884"/>
          </a:xfrm>
          <a:prstGeom prst="rect">
            <a:avLst/>
          </a:prstGeom>
          <a:noFill/>
          <a:ln w="0">
            <a:noFill/>
            <a:prstDash val="solid"/>
          </a:ln>
        </p:spPr>
        <p:txBody>
          <a:bodyPr wrap="square" lIns="19050" tIns="19050" rIns="19050" bIns="19050" anchor="t">
            <a:normAutofit/>
          </a:bodyPr>
          <a:lstStyle/>
          <a:p>
            <a:pPr algn="ctr">
              <a:defRPr sz="1800" b="0">
                <a:solidFill>
                  <a:srgbClr val="2D5FE5"/>
                </a:solidFill>
                <a:latin typeface="Consolas"/>
                <a:ea typeface="Consolas"/>
                <a:cs typeface="Consolas"/>
              </a:defRPr>
            </a:pPr>
            <a:r>
              <a:rPr lang="en-US" sz="1800" b="0" dirty="0">
                <a:solidFill>
                  <a:schemeClr val="tx1">
                    <a:lumMod val="65000"/>
                    <a:lumOff val="35000"/>
                  </a:schemeClr>
                </a:solidFill>
                <a:latin typeface="Consolas"/>
                <a:ea typeface="Consolas"/>
                <a:cs typeface="Consolas"/>
              </a:rPr>
              <a:t>Receiver</a:t>
            </a:r>
            <a:r>
              <a:rPr lang="ko-KR" altLang="en-US" sz="1800" b="0" dirty="0">
                <a:solidFill>
                  <a:schemeClr val="tx1">
                    <a:lumMod val="65000"/>
                    <a:lumOff val="35000"/>
                  </a:schemeClr>
                </a:solidFill>
                <a:latin typeface="Consolas"/>
                <a:ea typeface="Consolas"/>
                <a:cs typeface="Consolas"/>
              </a:rPr>
              <a:t>가 </a:t>
            </a:r>
            <a:r>
              <a:rPr lang="en-US" altLang="ko-KR" sz="1800" b="0" dirty="0">
                <a:solidFill>
                  <a:schemeClr val="tx1">
                    <a:lumMod val="65000"/>
                    <a:lumOff val="35000"/>
                  </a:schemeClr>
                </a:solidFill>
                <a:latin typeface="Consolas"/>
                <a:ea typeface="Consolas"/>
                <a:cs typeface="Consolas"/>
              </a:rPr>
              <a:t>0110</a:t>
            </a:r>
            <a:r>
              <a:rPr lang="ko-KR" altLang="en-US" sz="1800" b="0" dirty="0">
                <a:solidFill>
                  <a:schemeClr val="tx1">
                    <a:lumMod val="65000"/>
                    <a:lumOff val="35000"/>
                  </a:schemeClr>
                </a:solidFill>
                <a:latin typeface="Consolas"/>
                <a:ea typeface="Consolas"/>
                <a:cs typeface="Consolas"/>
              </a:rPr>
              <a:t>을 받아</a:t>
            </a:r>
            <a:endParaRPr lang="en-US" altLang="ko-KR" sz="1800" b="0" dirty="0">
              <a:solidFill>
                <a:schemeClr val="tx1">
                  <a:lumMod val="65000"/>
                  <a:lumOff val="35000"/>
                </a:schemeClr>
              </a:solidFill>
              <a:latin typeface="Consolas"/>
              <a:ea typeface="Consolas"/>
              <a:cs typeface="Consolas"/>
            </a:endParaRPr>
          </a:p>
          <a:p>
            <a:pPr algn="ctr">
              <a:defRPr sz="1800" b="0">
                <a:solidFill>
                  <a:srgbClr val="2D5FE5"/>
                </a:solidFill>
                <a:latin typeface="Consolas"/>
                <a:ea typeface="Consolas"/>
                <a:cs typeface="Consolas"/>
              </a:defRPr>
            </a:pPr>
            <a:r>
              <a:rPr lang="en-US" dirty="0">
                <a:solidFill>
                  <a:schemeClr val="tx1">
                    <a:lumMod val="65000"/>
                    <a:lumOff val="35000"/>
                  </a:schemeClr>
                </a:solidFill>
                <a:latin typeface="Consolas"/>
                <a:ea typeface="Consolas"/>
                <a:cs typeface="Consolas"/>
              </a:rPr>
              <a:t>Source 6 </a:t>
            </a:r>
            <a:r>
              <a:rPr lang="ko-KR" altLang="en-US" dirty="0">
                <a:solidFill>
                  <a:schemeClr val="tx1">
                    <a:lumMod val="65000"/>
                    <a:lumOff val="35000"/>
                  </a:schemeClr>
                </a:solidFill>
                <a:latin typeface="Consolas"/>
                <a:ea typeface="Consolas"/>
                <a:cs typeface="Consolas"/>
              </a:rPr>
              <a:t>이벤트로 해석</a:t>
            </a:r>
            <a:endParaRPr sz="1800" b="0" dirty="0">
              <a:solidFill>
                <a:schemeClr val="tx1">
                  <a:lumMod val="65000"/>
                  <a:lumOff val="35000"/>
                </a:schemeClr>
              </a:solidFill>
              <a:latin typeface="Consolas"/>
              <a:ea typeface="Consolas"/>
              <a:cs typeface="Consolas"/>
            </a:endParaRPr>
          </a:p>
        </p:txBody>
      </p:sp>
    </p:spTree>
    <p:extLst>
      <p:ext uri="{BB962C8B-B14F-4D97-AF65-F5344CB8AC3E}">
        <p14:creationId xmlns:p14="http://schemas.microsoft.com/office/powerpoint/2010/main" val="916602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그래픽 5">
            <a:extLst>
              <a:ext uri="{FF2B5EF4-FFF2-40B4-BE49-F238E27FC236}">
                <a16:creationId xmlns:a16="http://schemas.microsoft.com/office/drawing/2014/main" id="{8D143DCD-EA37-E60B-CA78-E1045EDA42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3833" y="1200149"/>
            <a:ext cx="7431484" cy="5095875"/>
          </a:xfrm>
          <a:prstGeom prst="rect">
            <a:avLst/>
          </a:prstGeom>
        </p:spPr>
      </p:pic>
      <p:sp>
        <p:nvSpPr>
          <p:cNvPr id="16" name="직사각형 15">
            <a:extLst>
              <a:ext uri="{FF2B5EF4-FFF2-40B4-BE49-F238E27FC236}">
                <a16:creationId xmlns:a16="http://schemas.microsoft.com/office/drawing/2014/main" id="{49230755-2953-4B5B-85FB-8F0AF0EDB15E}"/>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3">
            <a:extLst>
              <a:ext uri="{FF2B5EF4-FFF2-40B4-BE49-F238E27FC236}">
                <a16:creationId xmlns:a16="http://schemas.microsoft.com/office/drawing/2014/main" id="{2D0DE1E3-4BAD-4FCF-BFDF-D179915AE3D3}"/>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lang="ko-KR" altLang="en-US" sz="2625" b="0" dirty="0">
                <a:solidFill>
                  <a:srgbClr val="151A22"/>
                </a:solidFill>
                <a:latin typeface="Malgun Gothic"/>
                <a:ea typeface="Malgun Gothic"/>
                <a:cs typeface="Malgun Gothic"/>
              </a:rPr>
              <a:t>전통적 </a:t>
            </a:r>
            <a:r>
              <a:rPr lang="en-US" altLang="ko-KR" sz="2625" b="0" dirty="0">
                <a:solidFill>
                  <a:srgbClr val="151A22"/>
                </a:solidFill>
                <a:latin typeface="Malgun Gothic"/>
                <a:ea typeface="Malgun Gothic"/>
                <a:cs typeface="Malgun Gothic"/>
              </a:rPr>
              <a:t>AER</a:t>
            </a:r>
            <a:r>
              <a:rPr lang="ko-KR" altLang="en-US" sz="2625" b="0" dirty="0">
                <a:solidFill>
                  <a:srgbClr val="151A22"/>
                </a:solidFill>
                <a:latin typeface="Malgun Gothic"/>
                <a:ea typeface="Malgun Gothic"/>
                <a:cs typeface="Malgun Gothic"/>
              </a:rPr>
              <a:t>의 구성요소</a:t>
            </a:r>
            <a:endParaRPr sz="2625" b="0" dirty="0">
              <a:solidFill>
                <a:srgbClr val="151A22"/>
              </a:solidFill>
              <a:latin typeface="Malgun Gothic"/>
              <a:ea typeface="Malgun Gothic"/>
              <a:cs typeface="Malgun Gothic"/>
            </a:endParaRPr>
          </a:p>
        </p:txBody>
      </p:sp>
      <p:sp>
        <p:nvSpPr>
          <p:cNvPr id="3" name="section-3">
            <a:extLst>
              <a:ext uri="{FF2B5EF4-FFF2-40B4-BE49-F238E27FC236}">
                <a16:creationId xmlns:a16="http://schemas.microsoft.com/office/drawing/2014/main" id="{5DE67229-60A7-41C9-AFA0-11890BC443E3}"/>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defRPr sz="900" b="0">
                <a:solidFill>
                  <a:srgbClr val="088B94"/>
                </a:solidFill>
                <a:latin typeface="Malgun Gothic"/>
                <a:ea typeface="Malgun Gothic"/>
                <a:cs typeface="Malgun Gothic"/>
              </a:defRPr>
            </a:pPr>
            <a:r>
              <a:rPr lang="en-US" altLang="ko-KR" sz="900" dirty="0">
                <a:solidFill>
                  <a:srgbClr val="088B94"/>
                </a:solidFill>
                <a:latin typeface="Malgun Gothic"/>
                <a:ea typeface="Malgun Gothic"/>
                <a:cs typeface="Malgun Gothic"/>
              </a:rPr>
              <a:t>COMPONENTS OF TRADITIONAL AER</a:t>
            </a:r>
          </a:p>
        </p:txBody>
      </p:sp>
      <p:sp>
        <p:nvSpPr>
          <p:cNvPr id="4" name="직사각형 3">
            <a:extLst>
              <a:ext uri="{FF2B5EF4-FFF2-40B4-BE49-F238E27FC236}">
                <a16:creationId xmlns:a16="http://schemas.microsoft.com/office/drawing/2014/main" id="{1802235D-735A-47BC-851D-73A9C6D6E9C9}"/>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FD8021C6-4A34-4CD7-AB35-2718199FD033}"/>
              </a:ext>
            </a:extLst>
          </p:cNvPr>
          <p:cNvSpPr>
            <a:spLocks noGrp="1"/>
          </p:cNvSpPr>
          <p:nvPr/>
        </p:nvSpPr>
        <p:spPr>
          <a:xfrm>
            <a:off x="8210550" y="1209023"/>
            <a:ext cx="3333750" cy="323850"/>
          </a:xfrm>
          <a:prstGeom prst="rect">
            <a:avLst/>
          </a:prstGeom>
          <a:noFill/>
          <a:ln w="0">
            <a:noFill/>
            <a:prstDash val="solid"/>
          </a:ln>
        </p:spPr>
        <p:txBody>
          <a:bodyPr wrap="square" lIns="19050" tIns="19050" rIns="19050" bIns="19050" anchor="t">
            <a:normAutofit fontScale="99344"/>
          </a:bodyPr>
          <a:lstStyle/>
          <a:p>
            <a:pPr algn="l">
              <a:defRPr sz="1800" b="0">
                <a:solidFill>
                  <a:srgbClr val="088B94"/>
                </a:solidFill>
                <a:latin typeface="Malgun Gothic"/>
                <a:ea typeface="Malgun Gothic"/>
                <a:cs typeface="Malgun Gothic"/>
              </a:defRPr>
            </a:pPr>
            <a:r>
              <a:rPr lang="en-US" sz="1800" b="0" dirty="0">
                <a:solidFill>
                  <a:srgbClr val="088B94"/>
                </a:solidFill>
                <a:latin typeface="Malgun Gothic"/>
                <a:ea typeface="Malgun Gothic"/>
                <a:cs typeface="Malgun Gothic"/>
              </a:rPr>
              <a:t>4-</a:t>
            </a:r>
            <a:r>
              <a:rPr lang="en-US" dirty="0">
                <a:solidFill>
                  <a:srgbClr val="088B94"/>
                </a:solidFill>
                <a:latin typeface="Malgun Gothic"/>
                <a:ea typeface="Malgun Gothic"/>
                <a:cs typeface="Malgun Gothic"/>
              </a:rPr>
              <a:t>Phase</a:t>
            </a:r>
            <a:r>
              <a:rPr lang="ko-KR" altLang="en-US" dirty="0">
                <a:solidFill>
                  <a:srgbClr val="088B94"/>
                </a:solidFill>
                <a:latin typeface="Malgun Gothic"/>
                <a:ea typeface="Malgun Gothic"/>
                <a:cs typeface="Malgun Gothic"/>
              </a:rPr>
              <a:t> </a:t>
            </a:r>
            <a:r>
              <a:rPr lang="en-US" altLang="ko-KR" dirty="0">
                <a:solidFill>
                  <a:srgbClr val="088B94"/>
                </a:solidFill>
                <a:latin typeface="Malgun Gothic"/>
                <a:ea typeface="Malgun Gothic"/>
                <a:cs typeface="Malgun Gothic"/>
              </a:rPr>
              <a:t>Handshake</a:t>
            </a:r>
            <a:r>
              <a:rPr lang="ko-KR" altLang="en-US" dirty="0">
                <a:solidFill>
                  <a:srgbClr val="088B94"/>
                </a:solidFill>
                <a:latin typeface="Malgun Gothic"/>
                <a:ea typeface="Malgun Gothic"/>
                <a:cs typeface="Malgun Gothic"/>
              </a:rPr>
              <a:t> 통신 규약</a:t>
            </a:r>
            <a:endParaRPr sz="1800" b="0" dirty="0">
              <a:solidFill>
                <a:srgbClr val="088B94"/>
              </a:solidFill>
              <a:latin typeface="Malgun Gothic"/>
              <a:ea typeface="Malgun Gothic"/>
              <a:cs typeface="Malgun Gothic"/>
            </a:endParaRPr>
          </a:p>
        </p:txBody>
      </p:sp>
      <p:sp>
        <p:nvSpPr>
          <p:cNvPr id="11" name="직사각형 10">
            <a:extLst>
              <a:ext uri="{FF2B5EF4-FFF2-40B4-BE49-F238E27FC236}">
                <a16:creationId xmlns:a16="http://schemas.microsoft.com/office/drawing/2014/main" id="{F4918AC6-77E3-4677-94CB-A16C8048A4B7}"/>
              </a:ext>
            </a:extLst>
          </p:cNvPr>
          <p:cNvSpPr>
            <a:spLocks noGrp="1"/>
          </p:cNvSpPr>
          <p:nvPr/>
        </p:nvSpPr>
        <p:spPr>
          <a:xfrm>
            <a:off x="8210550" y="1570973"/>
            <a:ext cx="1333500" cy="28575"/>
          </a:xfrm>
          <a:prstGeom prst="rect">
            <a:avLst/>
          </a:prstGeom>
          <a:solidFill>
            <a:srgbClr val="088B94"/>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6F6D6261-BAE4-492B-8ADF-9292EB569424}"/>
              </a:ext>
            </a:extLst>
          </p:cNvPr>
          <p:cNvSpPr>
            <a:spLocks noGrp="1"/>
          </p:cNvSpPr>
          <p:nvPr/>
        </p:nvSpPr>
        <p:spPr>
          <a:xfrm>
            <a:off x="8210550" y="1704323"/>
            <a:ext cx="3238500" cy="2495550"/>
          </a:xfrm>
          <a:prstGeom prst="rect">
            <a:avLst/>
          </a:prstGeom>
          <a:noFill/>
          <a:ln w="0">
            <a:noFill/>
            <a:prstDash val="solid"/>
          </a:ln>
        </p:spPr>
        <p:txBody>
          <a:bodyPr wrap="square" lIns="19050" tIns="19050" rIns="19050" bIns="19050" anchor="t">
            <a:normAutofit fontScale="92500"/>
          </a:bodyPr>
          <a:lstStyle/>
          <a:p>
            <a:pPr algn="l">
              <a:defRPr sz="1275" b="0">
                <a:solidFill>
                  <a:srgbClr val="151A22"/>
                </a:solidFill>
                <a:latin typeface="Malgun Gothic"/>
                <a:ea typeface="Malgun Gothic"/>
                <a:cs typeface="Malgun Gothic"/>
              </a:defRPr>
            </a:pPr>
            <a:r>
              <a:rPr sz="1400" b="0" dirty="0">
                <a:solidFill>
                  <a:srgbClr val="151A22"/>
                </a:solidFill>
                <a:latin typeface="Malgun Gothic"/>
                <a:ea typeface="Malgun Gothic"/>
                <a:cs typeface="Malgun Gothic"/>
              </a:rPr>
              <a:t>4-Phase </a:t>
            </a:r>
            <a:r>
              <a:rPr sz="1400" b="0" dirty="0" err="1">
                <a:solidFill>
                  <a:srgbClr val="151A22"/>
                </a:solidFill>
                <a:latin typeface="Malgun Gothic"/>
                <a:ea typeface="Malgun Gothic"/>
                <a:cs typeface="Malgun Gothic"/>
              </a:rPr>
              <a:t>Handshake는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공통</a:t>
            </a:r>
            <a:r>
              <a:rPr sz="1400" b="0" dirty="0">
                <a:solidFill>
                  <a:srgbClr val="151A22"/>
                </a:solidFill>
                <a:latin typeface="Malgun Gothic"/>
                <a:ea typeface="Malgun Gothic"/>
                <a:cs typeface="Malgun Gothic"/>
              </a:rPr>
              <a:t> clock </a:t>
            </a:r>
            <a:r>
              <a:rPr sz="1400" b="0" dirty="0" err="1">
                <a:solidFill>
                  <a:srgbClr val="151A22"/>
                </a:solidFill>
                <a:latin typeface="Malgun Gothic"/>
                <a:ea typeface="Malgun Gothic"/>
                <a:cs typeface="Malgun Gothic"/>
              </a:rPr>
              <a:t>없이도</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수신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완료를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확인하는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규약이다</a:t>
            </a:r>
            <a:r>
              <a:rPr sz="1400" b="0" dirty="0">
                <a:solidFill>
                  <a:srgbClr val="151A22"/>
                </a:solidFill>
                <a:latin typeface="Malgun Gothic"/>
                <a:ea typeface="Malgun Gothic"/>
                <a:cs typeface="Malgun Gothic"/>
              </a:rPr>
              <a:t>.</a:t>
            </a:r>
          </a:p>
          <a:p>
            <a:endParaRPr sz="1400" b="0" dirty="0">
              <a:solidFill>
                <a:srgbClr val="151A22"/>
              </a:solidFill>
              <a:latin typeface="Malgun Gothic"/>
              <a:ea typeface="Malgun Gothic"/>
              <a:cs typeface="Malgun Gothic"/>
            </a:endParaRPr>
          </a:p>
          <a:p>
            <a:pPr algn="l">
              <a:defRPr sz="1275" b="0">
                <a:solidFill>
                  <a:srgbClr val="151A22"/>
                </a:solidFill>
                <a:latin typeface="Malgun Gothic"/>
                <a:ea typeface="Malgun Gothic"/>
                <a:cs typeface="Malgun Gothic"/>
              </a:defRPr>
            </a:pPr>
            <a:r>
              <a:rPr sz="1400" b="0" dirty="0">
                <a:solidFill>
                  <a:srgbClr val="151A22"/>
                </a:solidFill>
                <a:latin typeface="Malgun Gothic"/>
                <a:ea typeface="Malgun Gothic"/>
                <a:cs typeface="Malgun Gothic"/>
              </a:rPr>
              <a:t>① </a:t>
            </a:r>
            <a:r>
              <a:rPr sz="1400" b="0" dirty="0" err="1">
                <a:solidFill>
                  <a:srgbClr val="151A22"/>
                </a:solidFill>
                <a:latin typeface="Malgun Gothic"/>
                <a:ea typeface="Malgun Gothic"/>
                <a:cs typeface="Malgun Gothic"/>
              </a:rPr>
              <a:t>송신기가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REQ를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올린다</a:t>
            </a:r>
            <a:r>
              <a:rPr sz="1400" b="0" dirty="0">
                <a:solidFill>
                  <a:srgbClr val="151A22"/>
                </a:solidFill>
                <a:latin typeface="Malgun Gothic"/>
                <a:ea typeface="Malgun Gothic"/>
                <a:cs typeface="Malgun Gothic"/>
              </a:rPr>
              <a:t>.</a:t>
            </a:r>
          </a:p>
          <a:p>
            <a:pPr algn="l">
              <a:defRPr sz="1275" b="0">
                <a:solidFill>
                  <a:srgbClr val="151A22"/>
                </a:solidFill>
                <a:latin typeface="Malgun Gothic"/>
                <a:ea typeface="Malgun Gothic"/>
                <a:cs typeface="Malgun Gothic"/>
              </a:defRPr>
            </a:pPr>
            <a:r>
              <a:rPr sz="1400" b="0" dirty="0">
                <a:solidFill>
                  <a:srgbClr val="151A22"/>
                </a:solidFill>
                <a:latin typeface="Malgun Gothic"/>
                <a:ea typeface="Malgun Gothic"/>
                <a:cs typeface="Malgun Gothic"/>
              </a:rPr>
              <a:t>② </a:t>
            </a:r>
            <a:r>
              <a:rPr sz="1400" b="0" dirty="0" err="1">
                <a:solidFill>
                  <a:srgbClr val="151A22"/>
                </a:solidFill>
                <a:latin typeface="Malgun Gothic"/>
                <a:ea typeface="Malgun Gothic"/>
                <a:cs typeface="Malgun Gothic"/>
              </a:rPr>
              <a:t>수신기가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주소를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읽고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ACK를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올린다</a:t>
            </a:r>
            <a:r>
              <a:rPr sz="1400" b="0" dirty="0">
                <a:solidFill>
                  <a:srgbClr val="151A22"/>
                </a:solidFill>
                <a:latin typeface="Malgun Gothic"/>
                <a:ea typeface="Malgun Gothic"/>
                <a:cs typeface="Malgun Gothic"/>
              </a:rPr>
              <a:t>.</a:t>
            </a:r>
          </a:p>
          <a:p>
            <a:pPr algn="l">
              <a:defRPr sz="1275" b="0">
                <a:solidFill>
                  <a:srgbClr val="151A22"/>
                </a:solidFill>
                <a:latin typeface="Malgun Gothic"/>
                <a:ea typeface="Malgun Gothic"/>
                <a:cs typeface="Malgun Gothic"/>
              </a:defRPr>
            </a:pPr>
            <a:r>
              <a:rPr sz="1400" b="0" dirty="0">
                <a:solidFill>
                  <a:srgbClr val="151A22"/>
                </a:solidFill>
                <a:latin typeface="Malgun Gothic"/>
                <a:ea typeface="Malgun Gothic"/>
                <a:cs typeface="Malgun Gothic"/>
              </a:rPr>
              <a:t>③ </a:t>
            </a:r>
            <a:r>
              <a:rPr sz="1400" b="0" dirty="0" err="1">
                <a:solidFill>
                  <a:srgbClr val="151A22"/>
                </a:solidFill>
                <a:latin typeface="Malgun Gothic"/>
                <a:ea typeface="Malgun Gothic"/>
                <a:cs typeface="Malgun Gothic"/>
              </a:rPr>
              <a:t>송신기가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REQ를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내린다</a:t>
            </a:r>
            <a:r>
              <a:rPr sz="1400" b="0" dirty="0">
                <a:solidFill>
                  <a:srgbClr val="151A22"/>
                </a:solidFill>
                <a:latin typeface="Malgun Gothic"/>
                <a:ea typeface="Malgun Gothic"/>
                <a:cs typeface="Malgun Gothic"/>
              </a:rPr>
              <a:t>.</a:t>
            </a:r>
          </a:p>
          <a:p>
            <a:pPr algn="l">
              <a:defRPr sz="1275" b="0">
                <a:solidFill>
                  <a:srgbClr val="151A22"/>
                </a:solidFill>
                <a:latin typeface="Malgun Gothic"/>
                <a:ea typeface="Malgun Gothic"/>
                <a:cs typeface="Malgun Gothic"/>
              </a:defRPr>
            </a:pPr>
            <a:r>
              <a:rPr sz="1400" b="0" dirty="0">
                <a:solidFill>
                  <a:srgbClr val="151A22"/>
                </a:solidFill>
                <a:latin typeface="Malgun Gothic"/>
                <a:ea typeface="Malgun Gothic"/>
                <a:cs typeface="Malgun Gothic"/>
              </a:rPr>
              <a:t>④ </a:t>
            </a:r>
            <a:r>
              <a:rPr sz="1400" b="0" dirty="0" err="1">
                <a:solidFill>
                  <a:srgbClr val="151A22"/>
                </a:solidFill>
                <a:latin typeface="Malgun Gothic"/>
                <a:ea typeface="Malgun Gothic"/>
                <a:cs typeface="Malgun Gothic"/>
              </a:rPr>
              <a:t>수신기가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ACK를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내려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IDLE로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돌아간다</a:t>
            </a:r>
            <a:r>
              <a:rPr sz="1400" b="0" dirty="0">
                <a:solidFill>
                  <a:srgbClr val="151A22"/>
                </a:solidFill>
                <a:latin typeface="Malgun Gothic"/>
                <a:ea typeface="Malgun Gothic"/>
                <a:cs typeface="Malgun Gothic"/>
              </a:rPr>
              <a:t>.</a:t>
            </a:r>
          </a:p>
          <a:p>
            <a:endParaRPr sz="1400" b="0" dirty="0">
              <a:solidFill>
                <a:srgbClr val="151A22"/>
              </a:solidFill>
              <a:latin typeface="Malgun Gothic"/>
              <a:ea typeface="Malgun Gothic"/>
              <a:cs typeface="Malgun Gothic"/>
            </a:endParaRPr>
          </a:p>
          <a:p>
            <a:pPr algn="l">
              <a:defRPr sz="1275" b="0">
                <a:solidFill>
                  <a:srgbClr val="151A22"/>
                </a:solidFill>
                <a:latin typeface="Malgun Gothic"/>
                <a:ea typeface="Malgun Gothic"/>
                <a:cs typeface="Malgun Gothic"/>
              </a:defRPr>
            </a:pPr>
            <a:r>
              <a:rPr sz="1400" b="0" dirty="0" err="1">
                <a:solidFill>
                  <a:srgbClr val="151A22"/>
                </a:solidFill>
                <a:latin typeface="Malgun Gothic"/>
                <a:ea typeface="Malgun Gothic"/>
                <a:cs typeface="Malgun Gothic"/>
              </a:rPr>
              <a:t>송신기는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ACK를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받을</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때까지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REQ와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주소를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유지해야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한다</a:t>
            </a:r>
            <a:r>
              <a:rPr sz="1400" b="0" dirty="0">
                <a:solidFill>
                  <a:srgbClr val="151A22"/>
                </a:solidFill>
                <a:latin typeface="Malgun Gothic"/>
                <a:ea typeface="Malgun Gothic"/>
                <a:cs typeface="Malgun Gothic"/>
              </a:rPr>
              <a:t>.</a:t>
            </a:r>
            <a:r>
              <a:rPr lang="en-US" sz="1400" b="0" dirty="0">
                <a:solidFill>
                  <a:srgbClr val="151A22"/>
                </a:solidFill>
                <a:latin typeface="Malgun Gothic"/>
                <a:ea typeface="Malgun Gothic"/>
                <a:cs typeface="Malgun Gothic"/>
              </a:rPr>
              <a:t> </a:t>
            </a:r>
            <a:r>
              <a:rPr lang="ko-KR" altLang="en-US" sz="1400" b="0" dirty="0">
                <a:solidFill>
                  <a:srgbClr val="151A22"/>
                </a:solidFill>
                <a:latin typeface="Malgun Gothic"/>
                <a:ea typeface="Malgun Gothic"/>
                <a:cs typeface="Malgun Gothic"/>
              </a:rPr>
              <a:t>전통적 </a:t>
            </a:r>
            <a:r>
              <a:rPr lang="en-US" altLang="ko-KR" sz="1400" b="0" dirty="0">
                <a:solidFill>
                  <a:srgbClr val="151A22"/>
                </a:solidFill>
                <a:latin typeface="Malgun Gothic"/>
                <a:ea typeface="Malgun Gothic"/>
                <a:cs typeface="Malgun Gothic"/>
              </a:rPr>
              <a:t>AER</a:t>
            </a:r>
            <a:r>
              <a:rPr lang="ko-KR" altLang="en-US" sz="1400" b="0" dirty="0">
                <a:solidFill>
                  <a:srgbClr val="151A22"/>
                </a:solidFill>
                <a:latin typeface="Malgun Gothic"/>
                <a:ea typeface="Malgun Gothic"/>
                <a:cs typeface="Malgun Gothic"/>
              </a:rPr>
              <a:t>은 이 통신 방법을 채택한다</a:t>
            </a:r>
            <a:r>
              <a:rPr lang="en-US" altLang="ko-KR" sz="1400" b="0" dirty="0">
                <a:solidFill>
                  <a:srgbClr val="151A22"/>
                </a:solidFill>
                <a:latin typeface="Malgun Gothic"/>
                <a:ea typeface="Malgun Gothic"/>
                <a:cs typeface="Malgun Gothic"/>
              </a:rPr>
              <a:t>.</a:t>
            </a:r>
            <a:endParaRPr sz="1400" b="0" dirty="0">
              <a:solidFill>
                <a:srgbClr val="151A22"/>
              </a:solidFill>
              <a:latin typeface="Malgun Gothic"/>
              <a:ea typeface="Malgun Gothic"/>
              <a:cs typeface="Malgun Gothic"/>
            </a:endParaRPr>
          </a:p>
        </p:txBody>
      </p:sp>
      <p:sp>
        <p:nvSpPr>
          <p:cNvPr id="13" name="직사각형 12">
            <a:extLst>
              <a:ext uri="{FF2B5EF4-FFF2-40B4-BE49-F238E27FC236}">
                <a16:creationId xmlns:a16="http://schemas.microsoft.com/office/drawing/2014/main" id="{3E0823FC-5A14-49CE-86A6-39C2EED7D736}"/>
              </a:ext>
            </a:extLst>
          </p:cNvPr>
          <p:cNvSpPr>
            <a:spLocks noGrp="1"/>
          </p:cNvSpPr>
          <p:nvPr/>
        </p:nvSpPr>
        <p:spPr>
          <a:xfrm>
            <a:off x="8210550" y="4371323"/>
            <a:ext cx="3333750" cy="323850"/>
          </a:xfrm>
          <a:prstGeom prst="rect">
            <a:avLst/>
          </a:prstGeom>
          <a:noFill/>
          <a:ln w="0">
            <a:noFill/>
            <a:prstDash val="solid"/>
          </a:ln>
        </p:spPr>
        <p:txBody>
          <a:bodyPr wrap="square" lIns="19050" tIns="19050" rIns="19050" bIns="19050" anchor="t">
            <a:normAutofit fontScale="91081"/>
          </a:bodyPr>
          <a:lstStyle/>
          <a:p>
            <a:pPr algn="l">
              <a:defRPr sz="1800" b="0">
                <a:solidFill>
                  <a:srgbClr val="E87A24"/>
                </a:solidFill>
                <a:latin typeface="Malgun Gothic"/>
                <a:ea typeface="Malgun Gothic"/>
                <a:cs typeface="Malgun Gothic"/>
              </a:defRPr>
            </a:pPr>
            <a:r>
              <a:rPr sz="1800" b="0" dirty="0">
                <a:solidFill>
                  <a:srgbClr val="E87A24"/>
                </a:solidFill>
                <a:latin typeface="Malgun Gothic"/>
                <a:ea typeface="Malgun Gothic"/>
                <a:cs typeface="Malgun Gothic"/>
              </a:rPr>
              <a:t>Return-to-</a:t>
            </a:r>
            <a:r>
              <a:rPr sz="1800" b="0" dirty="0" err="1">
                <a:solidFill>
                  <a:srgbClr val="E87A24"/>
                </a:solidFill>
                <a:latin typeface="Malgun Gothic"/>
                <a:ea typeface="Malgun Gothic"/>
                <a:cs typeface="Malgun Gothic"/>
              </a:rPr>
              <a:t>Zero가</a:t>
            </a:r>
            <a:r>
              <a:rPr sz="1800" b="0" dirty="0">
                <a:solidFill>
                  <a:srgbClr val="E87A24"/>
                </a:solidFill>
                <a:latin typeface="Malgun Gothic"/>
                <a:ea typeface="Malgun Gothic"/>
                <a:cs typeface="Malgun Gothic"/>
              </a:rPr>
              <a:t> </a:t>
            </a:r>
            <a:r>
              <a:rPr sz="1800" b="0" dirty="0" err="1">
                <a:solidFill>
                  <a:srgbClr val="E87A24"/>
                </a:solidFill>
                <a:latin typeface="Malgun Gothic"/>
                <a:ea typeface="Malgun Gothic"/>
                <a:cs typeface="Malgun Gothic"/>
              </a:rPr>
              <a:t>만드는</a:t>
            </a:r>
            <a:r>
              <a:rPr sz="1800" b="0" dirty="0">
                <a:solidFill>
                  <a:srgbClr val="E87A24"/>
                </a:solidFill>
                <a:latin typeface="Malgun Gothic"/>
                <a:ea typeface="Malgun Gothic"/>
                <a:cs typeface="Malgun Gothic"/>
              </a:rPr>
              <a:t> </a:t>
            </a:r>
            <a:r>
              <a:rPr sz="1800" b="0" dirty="0" err="1">
                <a:solidFill>
                  <a:srgbClr val="E87A24"/>
                </a:solidFill>
                <a:latin typeface="Malgun Gothic"/>
                <a:ea typeface="Malgun Gothic"/>
                <a:cs typeface="Malgun Gothic"/>
              </a:rPr>
              <a:t>전송</a:t>
            </a:r>
            <a:r>
              <a:rPr sz="1800" b="0" dirty="0">
                <a:solidFill>
                  <a:srgbClr val="E87A24"/>
                </a:solidFill>
                <a:latin typeface="Malgun Gothic"/>
                <a:ea typeface="Malgun Gothic"/>
                <a:cs typeface="Malgun Gothic"/>
              </a:rPr>
              <a:t> </a:t>
            </a:r>
            <a:r>
              <a:rPr sz="1800" b="0" dirty="0" err="1">
                <a:solidFill>
                  <a:srgbClr val="E87A24"/>
                </a:solidFill>
                <a:latin typeface="Malgun Gothic"/>
                <a:ea typeface="Malgun Gothic"/>
                <a:cs typeface="Malgun Gothic"/>
              </a:rPr>
              <a:t>공백</a:t>
            </a:r>
            <a:endParaRPr sz="1800" b="0" dirty="0">
              <a:solidFill>
                <a:srgbClr val="E87A24"/>
              </a:solidFill>
              <a:latin typeface="Malgun Gothic"/>
              <a:ea typeface="Malgun Gothic"/>
              <a:cs typeface="Malgun Gothic"/>
            </a:endParaRPr>
          </a:p>
        </p:txBody>
      </p:sp>
      <p:sp>
        <p:nvSpPr>
          <p:cNvPr id="14" name="직사각형 13">
            <a:extLst>
              <a:ext uri="{FF2B5EF4-FFF2-40B4-BE49-F238E27FC236}">
                <a16:creationId xmlns:a16="http://schemas.microsoft.com/office/drawing/2014/main" id="{8D25186A-EE10-4E53-9AD1-B01E6B53FA3A}"/>
              </a:ext>
            </a:extLst>
          </p:cNvPr>
          <p:cNvSpPr>
            <a:spLocks noGrp="1"/>
          </p:cNvSpPr>
          <p:nvPr/>
        </p:nvSpPr>
        <p:spPr>
          <a:xfrm>
            <a:off x="8210550" y="4733273"/>
            <a:ext cx="1333500" cy="28575"/>
          </a:xfrm>
          <a:prstGeom prst="rect">
            <a:avLst/>
          </a:prstGeom>
          <a:solidFill>
            <a:srgbClr val="E87A24"/>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3473F37C-5CD6-4520-839D-DD2A12F2F13D}"/>
              </a:ext>
            </a:extLst>
          </p:cNvPr>
          <p:cNvSpPr>
            <a:spLocks noGrp="1"/>
          </p:cNvSpPr>
          <p:nvPr/>
        </p:nvSpPr>
        <p:spPr>
          <a:xfrm>
            <a:off x="8210550" y="4857098"/>
            <a:ext cx="3238500" cy="1638236"/>
          </a:xfrm>
          <a:prstGeom prst="rect">
            <a:avLst/>
          </a:prstGeom>
          <a:noFill/>
          <a:ln w="0">
            <a:noFill/>
            <a:prstDash val="solid"/>
          </a:ln>
        </p:spPr>
        <p:txBody>
          <a:bodyPr wrap="square" lIns="19050" tIns="19050" rIns="19050" bIns="19050" anchor="t">
            <a:normAutofit fontScale="94850"/>
          </a:bodyPr>
          <a:lstStyle/>
          <a:p>
            <a:pPr algn="l">
              <a:defRPr sz="1275" b="0">
                <a:solidFill>
                  <a:srgbClr val="151A22"/>
                </a:solidFill>
                <a:latin typeface="Malgun Gothic"/>
                <a:ea typeface="Malgun Gothic"/>
                <a:cs typeface="Malgun Gothic"/>
              </a:defRPr>
            </a:pPr>
            <a:r>
              <a:rPr lang="ko-KR" altLang="en-US" sz="1400" b="0" dirty="0">
                <a:solidFill>
                  <a:srgbClr val="151A22"/>
                </a:solidFill>
                <a:latin typeface="Malgun Gothic"/>
                <a:ea typeface="Malgun Gothic"/>
                <a:cs typeface="Malgun Gothic"/>
              </a:rPr>
              <a:t>그렇기 때문에 </a:t>
            </a:r>
            <a:r>
              <a:rPr lang="ko-KR" altLang="en-US" sz="1400" dirty="0">
                <a:solidFill>
                  <a:srgbClr val="151A22"/>
                </a:solidFill>
                <a:latin typeface="Malgun Gothic"/>
                <a:ea typeface="Malgun Gothic"/>
                <a:cs typeface="Malgun Gothic"/>
              </a:rPr>
              <a:t>전통적 </a:t>
            </a:r>
            <a:r>
              <a:rPr lang="en-US" altLang="ko-KR" sz="1400" dirty="0">
                <a:solidFill>
                  <a:srgbClr val="151A22"/>
                </a:solidFill>
                <a:latin typeface="Malgun Gothic"/>
                <a:ea typeface="Malgun Gothic"/>
                <a:cs typeface="Malgun Gothic"/>
              </a:rPr>
              <a:t>AER</a:t>
            </a:r>
            <a:r>
              <a:rPr lang="ko-KR" altLang="en-US" sz="1400" dirty="0">
                <a:solidFill>
                  <a:srgbClr val="151A22"/>
                </a:solidFill>
                <a:latin typeface="Malgun Gothic"/>
                <a:ea typeface="Malgun Gothic"/>
                <a:cs typeface="Malgun Gothic"/>
              </a:rPr>
              <a:t>은 </a:t>
            </a:r>
            <a:r>
              <a:rPr sz="1400" b="0" dirty="0" err="1">
                <a:solidFill>
                  <a:srgbClr val="151A22"/>
                </a:solidFill>
                <a:latin typeface="Malgun Gothic"/>
                <a:ea typeface="Malgun Gothic"/>
                <a:cs typeface="Malgun Gothic"/>
              </a:rPr>
              <a:t>REQ와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ACK가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모두</a:t>
            </a:r>
            <a:r>
              <a:rPr sz="1400" b="0" dirty="0">
                <a:solidFill>
                  <a:srgbClr val="151A22"/>
                </a:solidFill>
                <a:latin typeface="Malgun Gothic"/>
                <a:ea typeface="Malgun Gothic"/>
                <a:cs typeface="Malgun Gothic"/>
              </a:rPr>
              <a:t> 0으로 </a:t>
            </a:r>
            <a:r>
              <a:rPr sz="1400" b="0" dirty="0" err="1">
                <a:solidFill>
                  <a:srgbClr val="151A22"/>
                </a:solidFill>
                <a:latin typeface="Malgun Gothic"/>
                <a:ea typeface="Malgun Gothic"/>
                <a:cs typeface="Malgun Gothic"/>
              </a:rPr>
              <a:t>복귀해야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다음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이벤트를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시작할</a:t>
            </a:r>
            <a:r>
              <a:rPr sz="1400" b="0" dirty="0">
                <a:solidFill>
                  <a:srgbClr val="151A22"/>
                </a:solidFill>
                <a:latin typeface="Malgun Gothic"/>
                <a:ea typeface="Malgun Gothic"/>
                <a:cs typeface="Malgun Gothic"/>
              </a:rPr>
              <a:t> 수 </a:t>
            </a:r>
            <a:r>
              <a:rPr sz="1400" b="0" dirty="0" err="1">
                <a:solidFill>
                  <a:srgbClr val="151A22"/>
                </a:solidFill>
                <a:latin typeface="Malgun Gothic"/>
                <a:ea typeface="Malgun Gothic"/>
                <a:cs typeface="Malgun Gothic"/>
              </a:rPr>
              <a:t>있다</a:t>
            </a:r>
            <a:r>
              <a:rPr sz="1400" b="0" dirty="0">
                <a:solidFill>
                  <a:srgbClr val="151A22"/>
                </a:solidFill>
                <a:latin typeface="Malgun Gothic"/>
                <a:ea typeface="Malgun Gothic"/>
                <a:cs typeface="Malgun Gothic"/>
              </a:rPr>
              <a:t>. 이 </a:t>
            </a:r>
            <a:r>
              <a:rPr sz="1400" b="0" dirty="0" err="1">
                <a:solidFill>
                  <a:srgbClr val="151A22"/>
                </a:solidFill>
                <a:latin typeface="Malgun Gothic"/>
                <a:ea typeface="Malgun Gothic"/>
                <a:cs typeface="Malgun Gothic"/>
              </a:rPr>
              <a:t>복귀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과정을</a:t>
            </a:r>
            <a:r>
              <a:rPr sz="1400" b="0" dirty="0">
                <a:solidFill>
                  <a:srgbClr val="151A22"/>
                </a:solidFill>
                <a:latin typeface="Malgun Gothic"/>
                <a:ea typeface="Malgun Gothic"/>
                <a:cs typeface="Malgun Gothic"/>
              </a:rPr>
              <a:t> Return-to-</a:t>
            </a:r>
            <a:r>
              <a:rPr sz="1400" b="0" dirty="0" err="1">
                <a:solidFill>
                  <a:srgbClr val="151A22"/>
                </a:solidFill>
                <a:latin typeface="Malgun Gothic"/>
                <a:ea typeface="Malgun Gothic"/>
                <a:cs typeface="Malgun Gothic"/>
              </a:rPr>
              <a:t>Zero라고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한다</a:t>
            </a:r>
            <a:r>
              <a:rPr sz="1400" b="0" dirty="0">
                <a:solidFill>
                  <a:srgbClr val="151A22"/>
                </a:solidFill>
                <a:latin typeface="Malgun Gothic"/>
                <a:ea typeface="Malgun Gothic"/>
                <a:cs typeface="Malgun Gothic"/>
              </a:rPr>
              <a:t>.</a:t>
            </a:r>
            <a:r>
              <a:rPr lang="ko-KR" altLang="en-US" sz="1400" b="0" dirty="0">
                <a:solidFill>
                  <a:srgbClr val="151A22"/>
                </a:solidFill>
                <a:latin typeface="Malgun Gothic"/>
                <a:ea typeface="Malgun Gothic"/>
                <a:cs typeface="Malgun Gothic"/>
              </a:rPr>
              <a:t> </a:t>
            </a:r>
            <a:endParaRPr lang="en-US" altLang="ko-KR" sz="1400" b="0" dirty="0">
              <a:solidFill>
                <a:srgbClr val="151A22"/>
              </a:solidFill>
              <a:latin typeface="Malgun Gothic"/>
              <a:ea typeface="Malgun Gothic"/>
              <a:cs typeface="Malgun Gothic"/>
            </a:endParaRPr>
          </a:p>
          <a:p>
            <a:pPr algn="l">
              <a:defRPr sz="1275" b="0">
                <a:solidFill>
                  <a:srgbClr val="151A22"/>
                </a:solidFill>
                <a:latin typeface="Malgun Gothic"/>
                <a:ea typeface="Malgun Gothic"/>
                <a:cs typeface="Malgun Gothic"/>
              </a:defRPr>
            </a:pPr>
            <a:endParaRPr lang="en-US" sz="1400" dirty="0">
              <a:solidFill>
                <a:srgbClr val="151A22"/>
              </a:solidFill>
              <a:latin typeface="Malgun Gothic"/>
              <a:ea typeface="Malgun Gothic"/>
              <a:cs typeface="Malgun Gothic"/>
            </a:endParaRPr>
          </a:p>
          <a:p>
            <a:pPr algn="l">
              <a:defRPr sz="1275" b="0">
                <a:solidFill>
                  <a:srgbClr val="151A22"/>
                </a:solidFill>
                <a:latin typeface="Malgun Gothic"/>
                <a:ea typeface="Malgun Gothic"/>
                <a:cs typeface="Malgun Gothic"/>
              </a:defRPr>
            </a:pPr>
            <a:r>
              <a:rPr sz="1400" b="0" dirty="0" err="1">
                <a:solidFill>
                  <a:srgbClr val="151A22"/>
                </a:solidFill>
                <a:latin typeface="Malgun Gothic"/>
                <a:ea typeface="Malgun Gothic"/>
                <a:cs typeface="Malgun Gothic"/>
              </a:rPr>
              <a:t>전달</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완료는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명확하지만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복귀하는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동안</a:t>
            </a:r>
            <a:r>
              <a:rPr sz="1400" b="0" dirty="0">
                <a:solidFill>
                  <a:srgbClr val="151A22"/>
                </a:solidFill>
                <a:latin typeface="Malgun Gothic"/>
                <a:ea typeface="Malgun Gothic"/>
                <a:cs typeface="Malgun Gothic"/>
              </a:rPr>
              <a:t> 새 </a:t>
            </a:r>
            <a:r>
              <a:rPr sz="1400" b="0" dirty="0" err="1">
                <a:solidFill>
                  <a:srgbClr val="151A22"/>
                </a:solidFill>
                <a:latin typeface="Malgun Gothic"/>
                <a:ea typeface="Malgun Gothic"/>
                <a:cs typeface="Malgun Gothic"/>
              </a:rPr>
              <a:t>주소를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보내지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못하는</a:t>
            </a:r>
            <a:r>
              <a:rPr sz="1400" b="0" dirty="0">
                <a:solidFill>
                  <a:srgbClr val="151A22"/>
                </a:solidFill>
                <a:latin typeface="Malgun Gothic"/>
                <a:ea typeface="Malgun Gothic"/>
                <a:cs typeface="Malgun Gothic"/>
              </a:rPr>
              <a:t> protocol </a:t>
            </a:r>
            <a:r>
              <a:rPr sz="1400" b="0" dirty="0" err="1">
                <a:solidFill>
                  <a:srgbClr val="151A22"/>
                </a:solidFill>
                <a:latin typeface="Malgun Gothic"/>
                <a:ea typeface="Malgun Gothic"/>
                <a:cs typeface="Malgun Gothic"/>
              </a:rPr>
              <a:t>bubble이</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생긴다</a:t>
            </a:r>
            <a:r>
              <a:rPr lang="ko-KR" altLang="en-US" sz="1400" dirty="0">
                <a:solidFill>
                  <a:srgbClr val="151A22"/>
                </a:solidFill>
                <a:latin typeface="Malgun Gothic"/>
                <a:ea typeface="Malgun Gothic"/>
                <a:cs typeface="Malgun Gothic"/>
              </a:rPr>
              <a:t>는 문제점이 있다</a:t>
            </a:r>
            <a:r>
              <a:rPr lang="en-US" altLang="ko-KR" sz="1400" dirty="0">
                <a:solidFill>
                  <a:srgbClr val="151A22"/>
                </a:solidFill>
                <a:latin typeface="Malgun Gothic"/>
                <a:ea typeface="Malgun Gothic"/>
                <a:cs typeface="Malgun Gothic"/>
              </a:rPr>
              <a:t>.</a:t>
            </a:r>
            <a:endParaRPr sz="1400" b="0" dirty="0">
              <a:solidFill>
                <a:srgbClr val="151A22"/>
              </a:solidFill>
              <a:latin typeface="Malgun Gothic"/>
              <a:ea typeface="Malgun Gothic"/>
              <a:cs typeface="Malgun Gothic"/>
            </a:endParaRPr>
          </a:p>
        </p:txBody>
      </p:sp>
      <p:pic>
        <p:nvPicPr>
          <p:cNvPr id="9" name="그림 8">
            <a:extLst>
              <a:ext uri="{FF2B5EF4-FFF2-40B4-BE49-F238E27FC236}">
                <a16:creationId xmlns:a16="http://schemas.microsoft.com/office/drawing/2014/main" id="{67303256-C11A-E3CD-2F71-697FB75A3914}"/>
              </a:ext>
            </a:extLst>
          </p:cNvPr>
          <p:cNvPicPr>
            <a:picLocks noChangeAspect="1"/>
          </p:cNvPicPr>
          <p:nvPr/>
        </p:nvPicPr>
        <p:blipFill>
          <a:blip r:embed="rId4"/>
          <a:stretch/>
        </p:blipFill>
        <p:spPr>
          <a:xfrm>
            <a:off x="11285208" y="133349"/>
            <a:ext cx="900000" cy="900000"/>
          </a:xfrm>
          <a:prstGeom prst="rect">
            <a:avLst/>
          </a:prstGeom>
        </p:spPr>
      </p:pic>
      <p:sp>
        <p:nvSpPr>
          <p:cNvPr id="7" name="직사각형 6">
            <a:extLst>
              <a:ext uri="{FF2B5EF4-FFF2-40B4-BE49-F238E27FC236}">
                <a16:creationId xmlns:a16="http://schemas.microsoft.com/office/drawing/2014/main" id="{38B70224-75DA-863E-ABC8-5F5556018687}"/>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513946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1F6A28CA-B2DF-4EE8-ABE0-72E01F5A8DA7}"/>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4">
            <a:extLst>
              <a:ext uri="{FF2B5EF4-FFF2-40B4-BE49-F238E27FC236}">
                <a16:creationId xmlns:a16="http://schemas.microsoft.com/office/drawing/2014/main" id="{5735F552-E1F9-48C3-8DE2-AD0C8C397184}"/>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sz="2625" b="0" dirty="0" err="1">
                <a:solidFill>
                  <a:srgbClr val="151A22"/>
                </a:solidFill>
                <a:latin typeface="Malgun Gothic"/>
                <a:ea typeface="Malgun Gothic"/>
                <a:cs typeface="Malgun Gothic"/>
              </a:rPr>
              <a:t>전통형</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AER의</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장점과</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한계</a:t>
            </a:r>
            <a:endParaRPr sz="2625" b="0" dirty="0">
              <a:solidFill>
                <a:srgbClr val="151A22"/>
              </a:solidFill>
              <a:latin typeface="Malgun Gothic"/>
              <a:ea typeface="Malgun Gothic"/>
              <a:cs typeface="Malgun Gothic"/>
            </a:endParaRPr>
          </a:p>
        </p:txBody>
      </p:sp>
      <p:sp>
        <p:nvSpPr>
          <p:cNvPr id="3" name="section-4">
            <a:extLst>
              <a:ext uri="{FF2B5EF4-FFF2-40B4-BE49-F238E27FC236}">
                <a16:creationId xmlns:a16="http://schemas.microsoft.com/office/drawing/2014/main" id="{F42E148E-5F68-450D-A9B0-3A5E5098E114}"/>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BASELINE CHARACTERISTICS</a:t>
            </a:r>
          </a:p>
        </p:txBody>
      </p:sp>
      <p:sp>
        <p:nvSpPr>
          <p:cNvPr id="4" name="직사각형 3">
            <a:extLst>
              <a:ext uri="{FF2B5EF4-FFF2-40B4-BE49-F238E27FC236}">
                <a16:creationId xmlns:a16="http://schemas.microsoft.com/office/drawing/2014/main" id="{72585302-089A-48C0-920A-A08427955759}"/>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B6022A4C-33A2-49E5-8E0B-694CBECFC3D9}"/>
              </a:ext>
            </a:extLst>
          </p:cNvPr>
          <p:cNvSpPr>
            <a:spLocks noGrp="1"/>
          </p:cNvSpPr>
          <p:nvPr/>
        </p:nvSpPr>
        <p:spPr>
          <a:xfrm>
            <a:off x="533400" y="1409700"/>
            <a:ext cx="5476875" cy="514350"/>
          </a:xfrm>
          <a:prstGeom prst="rect">
            <a:avLst/>
          </a:prstGeom>
          <a:solidFill>
            <a:srgbClr val="088B94"/>
          </a:solidFill>
          <a:ln w="9525">
            <a:solidFill>
              <a:srgbClr val="D3DBE5"/>
            </a:solidFill>
            <a:prstDash val="solid"/>
          </a:ln>
        </p:spPr>
        <p:txBody>
          <a:bodyPr/>
          <a:lstStyle/>
          <a:p>
            <a:endParaRPr lang="ko-KR" altLang="en-US"/>
          </a:p>
        </p:txBody>
      </p:sp>
      <p:sp>
        <p:nvSpPr>
          <p:cNvPr id="10" name="직사각형 9">
            <a:extLst>
              <a:ext uri="{FF2B5EF4-FFF2-40B4-BE49-F238E27FC236}">
                <a16:creationId xmlns:a16="http://schemas.microsoft.com/office/drawing/2014/main" id="{08430EAD-8A85-4E39-8878-5F1E914FC1C2}"/>
              </a:ext>
            </a:extLst>
          </p:cNvPr>
          <p:cNvSpPr>
            <a:spLocks noGrp="1"/>
          </p:cNvSpPr>
          <p:nvPr/>
        </p:nvSpPr>
        <p:spPr>
          <a:xfrm>
            <a:off x="628650" y="1476375"/>
            <a:ext cx="5286375" cy="38100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장점</a:t>
            </a:r>
          </a:p>
        </p:txBody>
      </p:sp>
      <p:sp>
        <p:nvSpPr>
          <p:cNvPr id="11" name="직사각형 10">
            <a:extLst>
              <a:ext uri="{FF2B5EF4-FFF2-40B4-BE49-F238E27FC236}">
                <a16:creationId xmlns:a16="http://schemas.microsoft.com/office/drawing/2014/main" id="{774311CE-0205-4600-9C27-B8660AC52BD9}"/>
              </a:ext>
            </a:extLst>
          </p:cNvPr>
          <p:cNvSpPr>
            <a:spLocks noGrp="1"/>
          </p:cNvSpPr>
          <p:nvPr/>
        </p:nvSpPr>
        <p:spPr>
          <a:xfrm>
            <a:off x="6010275" y="1409700"/>
            <a:ext cx="5476875" cy="514350"/>
          </a:xfrm>
          <a:prstGeom prst="rect">
            <a:avLst/>
          </a:prstGeom>
          <a:solidFill>
            <a:srgbClr val="E87A24"/>
          </a:solidFill>
          <a:ln w="9525">
            <a:solidFill>
              <a:srgbClr val="D3DBE5"/>
            </a:solidFill>
            <a:prstDash val="solid"/>
          </a:ln>
        </p:spPr>
        <p:txBody>
          <a:bodyPr/>
          <a:lstStyle/>
          <a:p>
            <a:endParaRPr lang="ko-KR" altLang="en-US"/>
          </a:p>
        </p:txBody>
      </p:sp>
      <p:sp>
        <p:nvSpPr>
          <p:cNvPr id="12" name="직사각형 11">
            <a:extLst>
              <a:ext uri="{FF2B5EF4-FFF2-40B4-BE49-F238E27FC236}">
                <a16:creationId xmlns:a16="http://schemas.microsoft.com/office/drawing/2014/main" id="{B246F921-BD5D-4992-9154-EC2A692281D9}"/>
              </a:ext>
            </a:extLst>
          </p:cNvPr>
          <p:cNvSpPr>
            <a:spLocks noGrp="1"/>
          </p:cNvSpPr>
          <p:nvPr/>
        </p:nvSpPr>
        <p:spPr>
          <a:xfrm>
            <a:off x="6105525" y="1476375"/>
            <a:ext cx="5286375" cy="38100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한계</a:t>
            </a:r>
          </a:p>
        </p:txBody>
      </p:sp>
      <p:sp>
        <p:nvSpPr>
          <p:cNvPr id="13" name="직사각형 12">
            <a:extLst>
              <a:ext uri="{FF2B5EF4-FFF2-40B4-BE49-F238E27FC236}">
                <a16:creationId xmlns:a16="http://schemas.microsoft.com/office/drawing/2014/main" id="{C9015DD8-BC25-462E-A397-669622FC05D5}"/>
              </a:ext>
            </a:extLst>
          </p:cNvPr>
          <p:cNvSpPr>
            <a:spLocks noGrp="1"/>
          </p:cNvSpPr>
          <p:nvPr/>
        </p:nvSpPr>
        <p:spPr>
          <a:xfrm>
            <a:off x="533400" y="1924050"/>
            <a:ext cx="5476875" cy="685800"/>
          </a:xfrm>
          <a:prstGeom prst="rect">
            <a:avLst/>
          </a:prstGeom>
          <a:solidFill>
            <a:srgbClr val="EAF8F4"/>
          </a:solidFill>
          <a:ln w="9525">
            <a:solidFill>
              <a:srgbClr val="D3DBE5"/>
            </a:solidFill>
            <a:prstDash val="solid"/>
          </a:ln>
        </p:spPr>
        <p:txBody>
          <a:bodyPr/>
          <a:lstStyle/>
          <a:p>
            <a:endParaRPr lang="ko-KR" altLang="en-US"/>
          </a:p>
        </p:txBody>
      </p:sp>
      <p:sp>
        <p:nvSpPr>
          <p:cNvPr id="14" name="직사각형 13">
            <a:extLst>
              <a:ext uri="{FF2B5EF4-FFF2-40B4-BE49-F238E27FC236}">
                <a16:creationId xmlns:a16="http://schemas.microsoft.com/office/drawing/2014/main" id="{AA5D03BB-3127-4013-9060-BEE5ACE423CC}"/>
              </a:ext>
            </a:extLst>
          </p:cNvPr>
          <p:cNvSpPr>
            <a:spLocks noGrp="1"/>
          </p:cNvSpPr>
          <p:nvPr/>
        </p:nvSpPr>
        <p:spPr>
          <a:xfrm>
            <a:off x="628650" y="1990725"/>
            <a:ext cx="5286375" cy="552450"/>
          </a:xfrm>
          <a:prstGeom prst="rect">
            <a:avLst/>
          </a:prstGeom>
          <a:noFill/>
          <a:ln w="0">
            <a:noFill/>
            <a:prstDash val="solid"/>
          </a:ln>
        </p:spPr>
        <p:txBody>
          <a:bodyPr wrap="square" lIns="19050" tIns="19050" rIns="19050" bIns="19050" anchor="ctr">
            <a:normAutofit/>
          </a:bodyPr>
          <a:lstStyle/>
          <a:p>
            <a:pPr algn="l">
              <a:defRPr sz="1200" b="0">
                <a:solidFill>
                  <a:srgbClr val="151A22"/>
                </a:solidFill>
                <a:latin typeface="Malgun Gothic"/>
                <a:ea typeface="Malgun Gothic"/>
                <a:cs typeface="Malgun Gothic"/>
              </a:defRPr>
            </a:pPr>
            <a:r>
              <a:rPr sz="1200" b="0" dirty="0" err="1">
                <a:solidFill>
                  <a:srgbClr val="151A22"/>
                </a:solidFill>
                <a:latin typeface="Malgun Gothic"/>
                <a:ea typeface="Malgun Gothic"/>
                <a:cs typeface="Malgun Gothic"/>
              </a:rPr>
              <a:t>전역</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clock이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없어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이벤트가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없을</a:t>
            </a:r>
            <a:r>
              <a:rPr sz="1200" b="0" dirty="0">
                <a:solidFill>
                  <a:srgbClr val="151A22"/>
                </a:solidFill>
                <a:latin typeface="Malgun Gothic"/>
                <a:ea typeface="Malgun Gothic"/>
                <a:cs typeface="Malgun Gothic"/>
              </a:rPr>
              <a:t> 때 clock </a:t>
            </a:r>
            <a:r>
              <a:rPr sz="1200" b="0" dirty="0" err="1">
                <a:solidFill>
                  <a:srgbClr val="151A22"/>
                </a:solidFill>
                <a:latin typeface="Malgun Gothic"/>
                <a:ea typeface="Malgun Gothic"/>
                <a:cs typeface="Malgun Gothic"/>
              </a:rPr>
              <a:t>tree를</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계속</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전환하지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않는다</a:t>
            </a:r>
            <a:r>
              <a:rPr sz="1200" b="0" dirty="0">
                <a:solidFill>
                  <a:srgbClr val="151A22"/>
                </a:solidFill>
                <a:latin typeface="Malgun Gothic"/>
                <a:ea typeface="Malgun Gothic"/>
                <a:cs typeface="Malgun Gothic"/>
              </a:rPr>
              <a:t>.</a:t>
            </a:r>
          </a:p>
        </p:txBody>
      </p:sp>
      <p:sp>
        <p:nvSpPr>
          <p:cNvPr id="15" name="직사각형 14">
            <a:extLst>
              <a:ext uri="{FF2B5EF4-FFF2-40B4-BE49-F238E27FC236}">
                <a16:creationId xmlns:a16="http://schemas.microsoft.com/office/drawing/2014/main" id="{9B802129-A05D-416D-B92A-915B20B4BBA7}"/>
              </a:ext>
            </a:extLst>
          </p:cNvPr>
          <p:cNvSpPr>
            <a:spLocks noGrp="1"/>
          </p:cNvSpPr>
          <p:nvPr/>
        </p:nvSpPr>
        <p:spPr>
          <a:xfrm>
            <a:off x="6010275" y="1924050"/>
            <a:ext cx="5476875" cy="685800"/>
          </a:xfrm>
          <a:prstGeom prst="rect">
            <a:avLst/>
          </a:prstGeom>
          <a:solidFill>
            <a:srgbClr val="FFF2E7"/>
          </a:solidFill>
          <a:ln w="9525">
            <a:solidFill>
              <a:srgbClr val="D3DBE5"/>
            </a:solidFill>
            <a:prstDash val="solid"/>
          </a:ln>
        </p:spPr>
        <p:txBody>
          <a:bodyPr/>
          <a:lstStyle/>
          <a:p>
            <a:endParaRPr lang="ko-KR" altLang="en-US"/>
          </a:p>
        </p:txBody>
      </p:sp>
      <p:sp>
        <p:nvSpPr>
          <p:cNvPr id="16" name="직사각형 15">
            <a:extLst>
              <a:ext uri="{FF2B5EF4-FFF2-40B4-BE49-F238E27FC236}">
                <a16:creationId xmlns:a16="http://schemas.microsoft.com/office/drawing/2014/main" id="{D55A8D03-4895-4788-B724-6D897FC9801D}"/>
              </a:ext>
            </a:extLst>
          </p:cNvPr>
          <p:cNvSpPr>
            <a:spLocks noGrp="1"/>
          </p:cNvSpPr>
          <p:nvPr/>
        </p:nvSpPr>
        <p:spPr>
          <a:xfrm>
            <a:off x="6010275" y="1990725"/>
            <a:ext cx="5476875" cy="552450"/>
          </a:xfrm>
          <a:prstGeom prst="rect">
            <a:avLst/>
          </a:prstGeom>
          <a:noFill/>
          <a:ln w="0">
            <a:noFill/>
            <a:prstDash val="solid"/>
          </a:ln>
        </p:spPr>
        <p:txBody>
          <a:bodyPr wrap="square" lIns="19050" tIns="19050" rIns="19050" bIns="19050" anchor="ctr">
            <a:normAutofit/>
          </a:bodyPr>
          <a:lstStyle/>
          <a:p>
            <a:pPr algn="ctr">
              <a:defRPr sz="1200" b="0">
                <a:solidFill>
                  <a:srgbClr val="151A22"/>
                </a:solidFill>
                <a:latin typeface="Malgun Gothic"/>
                <a:ea typeface="Malgun Gothic"/>
                <a:cs typeface="Malgun Gothic"/>
              </a:defRPr>
            </a:pPr>
            <a:r>
              <a:rPr lang="ko-KR" altLang="ko-KR" sz="1200" dirty="0" err="1">
                <a:solidFill>
                  <a:srgbClr val="151A22"/>
                </a:solidFill>
                <a:latin typeface="Malgun Gothic"/>
              </a:rPr>
              <a:t>REQ가</a:t>
            </a:r>
            <a:r>
              <a:rPr lang="ko-KR" altLang="ko-KR" sz="1200" dirty="0">
                <a:solidFill>
                  <a:srgbClr val="151A22"/>
                </a:solidFill>
                <a:latin typeface="Malgun Gothic"/>
              </a:rPr>
              <a:t> 거의 동시에 변하거나 </a:t>
            </a:r>
            <a:r>
              <a:rPr lang="ko-KR" altLang="ko-KR" sz="1200" dirty="0" err="1">
                <a:solidFill>
                  <a:srgbClr val="151A22"/>
                </a:solidFill>
                <a:latin typeface="Malgun Gothic"/>
              </a:rPr>
              <a:t>latch</a:t>
            </a:r>
            <a:r>
              <a:rPr lang="ko-KR" altLang="ko-KR" sz="1200" dirty="0">
                <a:solidFill>
                  <a:srgbClr val="151A22"/>
                </a:solidFill>
                <a:latin typeface="Malgun Gothic"/>
              </a:rPr>
              <a:t> 시점과 겹치면 </a:t>
            </a:r>
            <a:r>
              <a:rPr lang="ko-KR" altLang="ko-KR" sz="1200" dirty="0" err="1">
                <a:solidFill>
                  <a:srgbClr val="151A22"/>
                </a:solidFill>
                <a:latin typeface="Malgun Gothic"/>
              </a:rPr>
              <a:t>metastability가</a:t>
            </a:r>
            <a:r>
              <a:rPr lang="ko-KR" altLang="ko-KR" sz="1200" dirty="0">
                <a:solidFill>
                  <a:srgbClr val="151A22"/>
                </a:solidFill>
                <a:latin typeface="Malgun Gothic"/>
              </a:rPr>
              <a:t> 발생할 수 있으며,</a:t>
            </a:r>
            <a:r>
              <a:rPr lang="en-US" altLang="ko-KR" sz="1200" dirty="0">
                <a:solidFill>
                  <a:srgbClr val="151A22"/>
                </a:solidFill>
                <a:latin typeface="Malgun Gothic"/>
              </a:rPr>
              <a:t> </a:t>
            </a:r>
            <a:r>
              <a:rPr lang="ko-KR" altLang="ko-KR" sz="1200" dirty="0" err="1">
                <a:solidFill>
                  <a:srgbClr val="151A22"/>
                </a:solidFill>
                <a:latin typeface="Malgun Gothic"/>
              </a:rPr>
              <a:t>MUTEX가</a:t>
            </a:r>
            <a:r>
              <a:rPr lang="ko-KR" altLang="ko-KR" sz="1200" dirty="0">
                <a:solidFill>
                  <a:srgbClr val="151A22"/>
                </a:solidFill>
                <a:latin typeface="Malgun Gothic"/>
              </a:rPr>
              <a:t> 없어 안정적인 단일 선택을 </a:t>
            </a:r>
            <a:r>
              <a:rPr lang="ko-KR" altLang="ko-KR" sz="1200" dirty="0" err="1">
                <a:solidFill>
                  <a:srgbClr val="151A22"/>
                </a:solidFill>
                <a:latin typeface="Malgun Gothic"/>
              </a:rPr>
              <a:t>transistor-level로</a:t>
            </a:r>
            <a:r>
              <a:rPr lang="ko-KR" altLang="ko-KR" sz="1200" dirty="0">
                <a:solidFill>
                  <a:srgbClr val="151A22"/>
                </a:solidFill>
                <a:latin typeface="Malgun Gothic"/>
              </a:rPr>
              <a:t> 보장하지 못한다.</a:t>
            </a:r>
            <a:endParaRPr sz="1200" b="0" dirty="0">
              <a:solidFill>
                <a:srgbClr val="151A22"/>
              </a:solidFill>
              <a:latin typeface="Malgun Gothic"/>
              <a:ea typeface="Malgun Gothic"/>
              <a:cs typeface="Malgun Gothic"/>
            </a:endParaRPr>
          </a:p>
        </p:txBody>
      </p:sp>
      <p:sp>
        <p:nvSpPr>
          <p:cNvPr id="17" name="직사각형 16">
            <a:extLst>
              <a:ext uri="{FF2B5EF4-FFF2-40B4-BE49-F238E27FC236}">
                <a16:creationId xmlns:a16="http://schemas.microsoft.com/office/drawing/2014/main" id="{DDF2E307-0FE8-4ABC-8B38-F79005F987A3}"/>
              </a:ext>
            </a:extLst>
          </p:cNvPr>
          <p:cNvSpPr>
            <a:spLocks noGrp="1"/>
          </p:cNvSpPr>
          <p:nvPr/>
        </p:nvSpPr>
        <p:spPr>
          <a:xfrm>
            <a:off x="533400" y="2609850"/>
            <a:ext cx="5476875" cy="685800"/>
          </a:xfrm>
          <a:prstGeom prst="rect">
            <a:avLst/>
          </a:prstGeom>
          <a:solidFill>
            <a:srgbClr val="F3FBF8"/>
          </a:solidFill>
          <a:ln w="9525">
            <a:solidFill>
              <a:srgbClr val="D3DBE5"/>
            </a:solidFill>
            <a:prstDash val="solid"/>
          </a:ln>
        </p:spPr>
        <p:txBody>
          <a:bodyPr/>
          <a:lstStyle/>
          <a:p>
            <a:endParaRPr lang="ko-KR" altLang="en-US"/>
          </a:p>
        </p:txBody>
      </p:sp>
      <p:sp>
        <p:nvSpPr>
          <p:cNvPr id="18" name="직사각형 17">
            <a:extLst>
              <a:ext uri="{FF2B5EF4-FFF2-40B4-BE49-F238E27FC236}">
                <a16:creationId xmlns:a16="http://schemas.microsoft.com/office/drawing/2014/main" id="{1839A792-6391-4EA5-A218-9864B4B2E1B3}"/>
              </a:ext>
            </a:extLst>
          </p:cNvPr>
          <p:cNvSpPr>
            <a:spLocks noGrp="1"/>
          </p:cNvSpPr>
          <p:nvPr/>
        </p:nvSpPr>
        <p:spPr>
          <a:xfrm>
            <a:off x="628650" y="2676525"/>
            <a:ext cx="5286375" cy="552450"/>
          </a:xfrm>
          <a:prstGeom prst="rect">
            <a:avLst/>
          </a:prstGeom>
          <a:noFill/>
          <a:ln w="0">
            <a:noFill/>
            <a:prstDash val="solid"/>
          </a:ln>
        </p:spPr>
        <p:txBody>
          <a:bodyPr wrap="square" lIns="19050" tIns="19050" rIns="19050" bIns="19050" anchor="ctr">
            <a:normAutofit/>
          </a:bodyPr>
          <a:lstStyle/>
          <a:p>
            <a:pPr algn="l">
              <a:defRPr sz="1200" b="0">
                <a:solidFill>
                  <a:srgbClr val="151A22"/>
                </a:solidFill>
                <a:latin typeface="Malgun Gothic"/>
                <a:ea typeface="Malgun Gothic"/>
                <a:cs typeface="Malgun Gothic"/>
              </a:defRPr>
            </a:pPr>
            <a:r>
              <a:rPr sz="1200" b="0">
                <a:solidFill>
                  <a:srgbClr val="151A22"/>
                </a:solidFill>
                <a:latin typeface="Malgun Gothic"/>
                <a:ea typeface="Malgun Gothic"/>
                <a:cs typeface="Malgun Gothic"/>
              </a:rPr>
              <a:t>Grant 주소 4 bit와 busy 1 bit, 총 latch 5개만 저장해 상태가 적다.</a:t>
            </a:r>
          </a:p>
        </p:txBody>
      </p:sp>
      <p:sp>
        <p:nvSpPr>
          <p:cNvPr id="19" name="직사각형 18">
            <a:extLst>
              <a:ext uri="{FF2B5EF4-FFF2-40B4-BE49-F238E27FC236}">
                <a16:creationId xmlns:a16="http://schemas.microsoft.com/office/drawing/2014/main" id="{F37A5D7B-64D6-413E-9194-F5DA74AAFCEC}"/>
              </a:ext>
            </a:extLst>
          </p:cNvPr>
          <p:cNvSpPr>
            <a:spLocks noGrp="1"/>
          </p:cNvSpPr>
          <p:nvPr/>
        </p:nvSpPr>
        <p:spPr>
          <a:xfrm>
            <a:off x="6010275" y="2609850"/>
            <a:ext cx="5476875" cy="685800"/>
          </a:xfrm>
          <a:prstGeom prst="rect">
            <a:avLst/>
          </a:prstGeom>
          <a:solidFill>
            <a:srgbClr val="FFF8F1"/>
          </a:solidFill>
          <a:ln w="9525">
            <a:solidFill>
              <a:srgbClr val="D3DBE5"/>
            </a:solidFill>
            <a:prstDash val="solid"/>
          </a:ln>
        </p:spPr>
        <p:txBody>
          <a:bodyPr/>
          <a:lstStyle/>
          <a:p>
            <a:endParaRPr lang="ko-KR" altLang="en-US"/>
          </a:p>
        </p:txBody>
      </p:sp>
      <p:sp>
        <p:nvSpPr>
          <p:cNvPr id="20" name="직사각형 19">
            <a:extLst>
              <a:ext uri="{FF2B5EF4-FFF2-40B4-BE49-F238E27FC236}">
                <a16:creationId xmlns:a16="http://schemas.microsoft.com/office/drawing/2014/main" id="{D1464B9B-9ACC-4D89-BC70-FD41ACE948AA}"/>
              </a:ext>
            </a:extLst>
          </p:cNvPr>
          <p:cNvSpPr>
            <a:spLocks noGrp="1"/>
          </p:cNvSpPr>
          <p:nvPr/>
        </p:nvSpPr>
        <p:spPr>
          <a:xfrm>
            <a:off x="6105525" y="2676525"/>
            <a:ext cx="5286375" cy="552450"/>
          </a:xfrm>
          <a:prstGeom prst="rect">
            <a:avLst/>
          </a:prstGeom>
          <a:noFill/>
          <a:ln w="0">
            <a:noFill/>
            <a:prstDash val="solid"/>
          </a:ln>
        </p:spPr>
        <p:txBody>
          <a:bodyPr wrap="square" lIns="19050" tIns="19050" rIns="19050" bIns="19050" anchor="ctr">
            <a:normAutofit/>
          </a:bodyPr>
          <a:lstStyle/>
          <a:p>
            <a:pPr>
              <a:defRPr sz="1200" b="0">
                <a:solidFill>
                  <a:srgbClr val="151A22"/>
                </a:solidFill>
                <a:latin typeface="Malgun Gothic"/>
                <a:ea typeface="Malgun Gothic"/>
                <a:cs typeface="Malgun Gothic"/>
              </a:defRPr>
            </a:pPr>
            <a:r>
              <a:rPr sz="1200" b="0" dirty="0" err="1">
                <a:solidFill>
                  <a:srgbClr val="151A22"/>
                </a:solidFill>
                <a:latin typeface="Malgun Gothic"/>
                <a:ea typeface="Malgun Gothic"/>
                <a:cs typeface="Malgun Gothic"/>
              </a:rPr>
              <a:t>이벤트</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대기</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공간이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없어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선택되지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않은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Source는</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ACK까지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REQ를</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유지해야</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한다</a:t>
            </a:r>
            <a:r>
              <a:rPr sz="1200" b="0" dirty="0">
                <a:solidFill>
                  <a:srgbClr val="151A22"/>
                </a:solidFill>
                <a:latin typeface="Malgun Gothic"/>
                <a:ea typeface="Malgun Gothic"/>
                <a:cs typeface="Malgun Gothic"/>
              </a:rPr>
              <a:t>.</a:t>
            </a:r>
          </a:p>
        </p:txBody>
      </p:sp>
      <p:sp>
        <p:nvSpPr>
          <p:cNvPr id="21" name="직사각형 20">
            <a:extLst>
              <a:ext uri="{FF2B5EF4-FFF2-40B4-BE49-F238E27FC236}">
                <a16:creationId xmlns:a16="http://schemas.microsoft.com/office/drawing/2014/main" id="{7F36ECD6-0C56-4B6E-A5CB-66F90C19F5FC}"/>
              </a:ext>
            </a:extLst>
          </p:cNvPr>
          <p:cNvSpPr>
            <a:spLocks noGrp="1"/>
          </p:cNvSpPr>
          <p:nvPr/>
        </p:nvSpPr>
        <p:spPr>
          <a:xfrm>
            <a:off x="533400" y="3295650"/>
            <a:ext cx="5476875" cy="685800"/>
          </a:xfrm>
          <a:prstGeom prst="rect">
            <a:avLst/>
          </a:prstGeom>
          <a:solidFill>
            <a:srgbClr val="EAF8F4"/>
          </a:solidFill>
          <a:ln w="9525">
            <a:solidFill>
              <a:srgbClr val="D3DBE5"/>
            </a:solidFill>
            <a:prstDash val="solid"/>
          </a:ln>
        </p:spPr>
        <p:txBody>
          <a:bodyPr/>
          <a:lstStyle/>
          <a:p>
            <a:endParaRPr lang="ko-KR" altLang="en-US"/>
          </a:p>
        </p:txBody>
      </p:sp>
      <p:sp>
        <p:nvSpPr>
          <p:cNvPr id="22" name="직사각형 21">
            <a:extLst>
              <a:ext uri="{FF2B5EF4-FFF2-40B4-BE49-F238E27FC236}">
                <a16:creationId xmlns:a16="http://schemas.microsoft.com/office/drawing/2014/main" id="{17986E74-4261-4B77-81C3-CF09590E470F}"/>
              </a:ext>
            </a:extLst>
          </p:cNvPr>
          <p:cNvSpPr>
            <a:spLocks noGrp="1"/>
          </p:cNvSpPr>
          <p:nvPr/>
        </p:nvSpPr>
        <p:spPr>
          <a:xfrm>
            <a:off x="628650" y="3362325"/>
            <a:ext cx="5286375" cy="552450"/>
          </a:xfrm>
          <a:prstGeom prst="rect">
            <a:avLst/>
          </a:prstGeom>
          <a:noFill/>
          <a:ln w="0">
            <a:noFill/>
            <a:prstDash val="solid"/>
          </a:ln>
        </p:spPr>
        <p:txBody>
          <a:bodyPr wrap="square" lIns="19050" tIns="19050" rIns="19050" bIns="19050" anchor="ctr">
            <a:normAutofit/>
          </a:bodyPr>
          <a:lstStyle/>
          <a:p>
            <a:pPr algn="l">
              <a:defRPr sz="1200" b="0">
                <a:solidFill>
                  <a:srgbClr val="151A22"/>
                </a:solidFill>
                <a:latin typeface="Malgun Gothic"/>
                <a:ea typeface="Malgun Gothic"/>
                <a:cs typeface="Malgun Gothic"/>
              </a:defRPr>
            </a:pPr>
            <a:r>
              <a:rPr sz="1200" b="0">
                <a:solidFill>
                  <a:srgbClr val="151A22"/>
                </a:solidFill>
                <a:latin typeface="Malgun Gothic"/>
                <a:ea typeface="Malgun Gothic"/>
                <a:cs typeface="Malgun Gothic"/>
              </a:rPr>
              <a:t>Source와 Receiver가 모두 4-Phase로 transaction 완료를 직접 확인한다.</a:t>
            </a:r>
          </a:p>
        </p:txBody>
      </p:sp>
      <p:sp>
        <p:nvSpPr>
          <p:cNvPr id="23" name="직사각형 22">
            <a:extLst>
              <a:ext uri="{FF2B5EF4-FFF2-40B4-BE49-F238E27FC236}">
                <a16:creationId xmlns:a16="http://schemas.microsoft.com/office/drawing/2014/main" id="{B5E1B5D7-D63C-4B57-96D0-5D2ABFFE384C}"/>
              </a:ext>
            </a:extLst>
          </p:cNvPr>
          <p:cNvSpPr>
            <a:spLocks noGrp="1"/>
          </p:cNvSpPr>
          <p:nvPr/>
        </p:nvSpPr>
        <p:spPr>
          <a:xfrm>
            <a:off x="6010275" y="3295650"/>
            <a:ext cx="5476875" cy="685800"/>
          </a:xfrm>
          <a:prstGeom prst="rect">
            <a:avLst/>
          </a:prstGeom>
          <a:solidFill>
            <a:srgbClr val="FFF2E7"/>
          </a:solidFill>
          <a:ln w="9525">
            <a:solidFill>
              <a:srgbClr val="D3DBE5"/>
            </a:solidFill>
            <a:prstDash val="solid"/>
          </a:ln>
        </p:spPr>
        <p:txBody>
          <a:bodyPr/>
          <a:lstStyle/>
          <a:p>
            <a:endParaRPr lang="ko-KR" altLang="en-US"/>
          </a:p>
        </p:txBody>
      </p:sp>
      <p:sp>
        <p:nvSpPr>
          <p:cNvPr id="24" name="직사각형 23">
            <a:extLst>
              <a:ext uri="{FF2B5EF4-FFF2-40B4-BE49-F238E27FC236}">
                <a16:creationId xmlns:a16="http://schemas.microsoft.com/office/drawing/2014/main" id="{78E0CC45-787E-4D25-8EBC-1D14336A9EE6}"/>
              </a:ext>
            </a:extLst>
          </p:cNvPr>
          <p:cNvSpPr>
            <a:spLocks noGrp="1"/>
          </p:cNvSpPr>
          <p:nvPr/>
        </p:nvSpPr>
        <p:spPr>
          <a:xfrm>
            <a:off x="6105525" y="3362325"/>
            <a:ext cx="5286375" cy="552450"/>
          </a:xfrm>
          <a:prstGeom prst="rect">
            <a:avLst/>
          </a:prstGeom>
          <a:noFill/>
          <a:ln w="0">
            <a:noFill/>
            <a:prstDash val="solid"/>
          </a:ln>
        </p:spPr>
        <p:txBody>
          <a:bodyPr wrap="square" lIns="19050" tIns="19050" rIns="19050" bIns="19050" anchor="ctr">
            <a:normAutofit/>
          </a:bodyPr>
          <a:lstStyle/>
          <a:p>
            <a:pPr>
              <a:defRPr sz="1200" b="0">
                <a:solidFill>
                  <a:srgbClr val="151A22"/>
                </a:solidFill>
                <a:latin typeface="Malgun Gothic"/>
                <a:ea typeface="Malgun Gothic"/>
                <a:cs typeface="Malgun Gothic"/>
              </a:defRPr>
            </a:pPr>
            <a:r>
              <a:rPr sz="1200" b="0" dirty="0">
                <a:solidFill>
                  <a:srgbClr val="151A22"/>
                </a:solidFill>
                <a:latin typeface="Malgun Gothic"/>
                <a:ea typeface="Malgun Gothic"/>
                <a:cs typeface="Malgun Gothic"/>
              </a:rPr>
              <a:t>Fixed Priority </a:t>
            </a:r>
            <a:r>
              <a:rPr sz="1200" b="0" dirty="0" err="1">
                <a:solidFill>
                  <a:srgbClr val="151A22"/>
                </a:solidFill>
                <a:latin typeface="Malgun Gothic"/>
                <a:ea typeface="Malgun Gothic"/>
                <a:cs typeface="Malgun Gothic"/>
              </a:rPr>
              <a:t>때문에</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낮은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번호가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반복</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요청하면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높은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번호가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계속</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밀릴</a:t>
            </a:r>
            <a:r>
              <a:rPr sz="1200" b="0" dirty="0">
                <a:solidFill>
                  <a:srgbClr val="151A22"/>
                </a:solidFill>
                <a:latin typeface="Malgun Gothic"/>
                <a:ea typeface="Malgun Gothic"/>
                <a:cs typeface="Malgun Gothic"/>
              </a:rPr>
              <a:t> 수 </a:t>
            </a:r>
            <a:r>
              <a:rPr sz="1200" b="0" dirty="0" err="1">
                <a:solidFill>
                  <a:srgbClr val="151A22"/>
                </a:solidFill>
                <a:latin typeface="Malgun Gothic"/>
                <a:ea typeface="Malgun Gothic"/>
                <a:cs typeface="Malgun Gothic"/>
              </a:rPr>
              <a:t>있다</a:t>
            </a:r>
            <a:r>
              <a:rPr sz="1200" b="0" dirty="0">
                <a:solidFill>
                  <a:srgbClr val="151A22"/>
                </a:solidFill>
                <a:latin typeface="Malgun Gothic"/>
                <a:ea typeface="Malgun Gothic"/>
                <a:cs typeface="Malgun Gothic"/>
              </a:rPr>
              <a:t>.</a:t>
            </a:r>
          </a:p>
        </p:txBody>
      </p:sp>
      <p:sp>
        <p:nvSpPr>
          <p:cNvPr id="25" name="직사각형 24">
            <a:extLst>
              <a:ext uri="{FF2B5EF4-FFF2-40B4-BE49-F238E27FC236}">
                <a16:creationId xmlns:a16="http://schemas.microsoft.com/office/drawing/2014/main" id="{A4F85606-CB38-4F33-849E-978BAA9EBFB6}"/>
              </a:ext>
            </a:extLst>
          </p:cNvPr>
          <p:cNvSpPr>
            <a:spLocks noGrp="1"/>
          </p:cNvSpPr>
          <p:nvPr/>
        </p:nvSpPr>
        <p:spPr>
          <a:xfrm>
            <a:off x="533400" y="3981450"/>
            <a:ext cx="5476875" cy="685800"/>
          </a:xfrm>
          <a:prstGeom prst="rect">
            <a:avLst/>
          </a:prstGeom>
          <a:solidFill>
            <a:srgbClr val="F3FBF8"/>
          </a:solidFill>
          <a:ln w="9525">
            <a:solidFill>
              <a:srgbClr val="D3DBE5"/>
            </a:solidFill>
            <a:prstDash val="solid"/>
          </a:ln>
        </p:spPr>
        <p:txBody>
          <a:bodyPr/>
          <a:lstStyle/>
          <a:p>
            <a:endParaRPr lang="ko-KR" altLang="en-US"/>
          </a:p>
        </p:txBody>
      </p:sp>
      <p:sp>
        <p:nvSpPr>
          <p:cNvPr id="26" name="직사각형 25">
            <a:extLst>
              <a:ext uri="{FF2B5EF4-FFF2-40B4-BE49-F238E27FC236}">
                <a16:creationId xmlns:a16="http://schemas.microsoft.com/office/drawing/2014/main" id="{C9404E68-5F81-4756-9983-E6FFC24C6350}"/>
              </a:ext>
            </a:extLst>
          </p:cNvPr>
          <p:cNvSpPr>
            <a:spLocks noGrp="1"/>
          </p:cNvSpPr>
          <p:nvPr/>
        </p:nvSpPr>
        <p:spPr>
          <a:xfrm>
            <a:off x="628650" y="4048125"/>
            <a:ext cx="5286375" cy="552450"/>
          </a:xfrm>
          <a:prstGeom prst="rect">
            <a:avLst/>
          </a:prstGeom>
          <a:noFill/>
          <a:ln w="0">
            <a:noFill/>
            <a:prstDash val="solid"/>
          </a:ln>
        </p:spPr>
        <p:txBody>
          <a:bodyPr wrap="square" lIns="19050" tIns="19050" rIns="19050" bIns="19050" anchor="ctr">
            <a:normAutofit/>
          </a:bodyPr>
          <a:lstStyle/>
          <a:p>
            <a:pPr algn="l">
              <a:defRPr sz="1200" b="0">
                <a:solidFill>
                  <a:srgbClr val="151A22"/>
                </a:solidFill>
                <a:latin typeface="Malgun Gothic"/>
                <a:ea typeface="Malgun Gothic"/>
                <a:cs typeface="Malgun Gothic"/>
              </a:defRPr>
            </a:pPr>
            <a:r>
              <a:rPr sz="1200" b="0">
                <a:solidFill>
                  <a:srgbClr val="151A22"/>
                </a:solidFill>
                <a:latin typeface="Malgun Gothic"/>
                <a:ea typeface="Malgun Gothic"/>
                <a:cs typeface="Malgun Gothic"/>
              </a:rPr>
              <a:t>Post-route 92 instances, cell area 214.092 µm²의 작은 기준 구조다.</a:t>
            </a:r>
          </a:p>
        </p:txBody>
      </p:sp>
      <p:sp>
        <p:nvSpPr>
          <p:cNvPr id="27" name="직사각형 26">
            <a:extLst>
              <a:ext uri="{FF2B5EF4-FFF2-40B4-BE49-F238E27FC236}">
                <a16:creationId xmlns:a16="http://schemas.microsoft.com/office/drawing/2014/main" id="{C027519B-7494-40DA-AD13-1100ABBA856C}"/>
              </a:ext>
            </a:extLst>
          </p:cNvPr>
          <p:cNvSpPr>
            <a:spLocks noGrp="1"/>
          </p:cNvSpPr>
          <p:nvPr/>
        </p:nvSpPr>
        <p:spPr>
          <a:xfrm>
            <a:off x="6010275" y="3981450"/>
            <a:ext cx="5476875" cy="685800"/>
          </a:xfrm>
          <a:prstGeom prst="rect">
            <a:avLst/>
          </a:prstGeom>
          <a:solidFill>
            <a:srgbClr val="FFF8F1"/>
          </a:solidFill>
          <a:ln w="9525">
            <a:solidFill>
              <a:srgbClr val="D3DBE5"/>
            </a:solidFill>
            <a:prstDash val="solid"/>
          </a:ln>
        </p:spPr>
        <p:txBody>
          <a:bodyPr/>
          <a:lstStyle/>
          <a:p>
            <a:endParaRPr lang="ko-KR" altLang="en-US"/>
          </a:p>
        </p:txBody>
      </p:sp>
      <p:sp>
        <p:nvSpPr>
          <p:cNvPr id="28" name="직사각형 27">
            <a:extLst>
              <a:ext uri="{FF2B5EF4-FFF2-40B4-BE49-F238E27FC236}">
                <a16:creationId xmlns:a16="http://schemas.microsoft.com/office/drawing/2014/main" id="{34108D69-10D4-4E00-9B2F-1C0F0934B9B1}"/>
              </a:ext>
            </a:extLst>
          </p:cNvPr>
          <p:cNvSpPr>
            <a:spLocks noGrp="1"/>
          </p:cNvSpPr>
          <p:nvPr/>
        </p:nvSpPr>
        <p:spPr>
          <a:xfrm>
            <a:off x="6105525" y="4048125"/>
            <a:ext cx="5286375" cy="552450"/>
          </a:xfrm>
          <a:prstGeom prst="rect">
            <a:avLst/>
          </a:prstGeom>
          <a:noFill/>
          <a:ln w="0">
            <a:noFill/>
            <a:prstDash val="solid"/>
          </a:ln>
        </p:spPr>
        <p:txBody>
          <a:bodyPr wrap="square" lIns="19050" tIns="19050" rIns="19050" bIns="19050" anchor="ctr">
            <a:normAutofit/>
          </a:bodyPr>
          <a:lstStyle/>
          <a:p>
            <a:pPr>
              <a:defRPr sz="1200" b="0">
                <a:solidFill>
                  <a:srgbClr val="151A22"/>
                </a:solidFill>
                <a:latin typeface="Malgun Gothic"/>
                <a:ea typeface="Malgun Gothic"/>
                <a:cs typeface="Malgun Gothic"/>
              </a:defRPr>
            </a:pPr>
            <a:r>
              <a:rPr sz="1200" b="0" dirty="0" err="1">
                <a:solidFill>
                  <a:srgbClr val="151A22"/>
                </a:solidFill>
                <a:latin typeface="Malgun Gothic"/>
                <a:ea typeface="Malgun Gothic"/>
                <a:cs typeface="Malgun Gothic"/>
              </a:rPr>
              <a:t>Receiver가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멈추면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공유</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버스</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전체가</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멈추고</a:t>
            </a:r>
            <a:r>
              <a:rPr sz="1200" b="0" dirty="0">
                <a:solidFill>
                  <a:srgbClr val="151A22"/>
                </a:solidFill>
                <a:latin typeface="Malgun Gothic"/>
                <a:ea typeface="Malgun Gothic"/>
                <a:cs typeface="Malgun Gothic"/>
              </a:rPr>
              <a:t>, 매 </a:t>
            </a:r>
            <a:r>
              <a:rPr sz="1200" b="0" dirty="0" err="1">
                <a:solidFill>
                  <a:srgbClr val="151A22"/>
                </a:solidFill>
                <a:latin typeface="Malgun Gothic"/>
                <a:ea typeface="Malgun Gothic"/>
                <a:cs typeface="Malgun Gothic"/>
              </a:rPr>
              <a:t>전송마다</a:t>
            </a:r>
            <a:r>
              <a:rPr sz="1200" b="0" dirty="0">
                <a:solidFill>
                  <a:srgbClr val="151A22"/>
                </a:solidFill>
                <a:latin typeface="Malgun Gothic"/>
                <a:ea typeface="Malgun Gothic"/>
                <a:cs typeface="Malgun Gothic"/>
              </a:rPr>
              <a:t> Return-to-Zero </a:t>
            </a:r>
            <a:r>
              <a:rPr sz="1200" b="0" dirty="0" err="1">
                <a:solidFill>
                  <a:srgbClr val="151A22"/>
                </a:solidFill>
                <a:latin typeface="Malgun Gothic"/>
                <a:ea typeface="Malgun Gothic"/>
                <a:cs typeface="Malgun Gothic"/>
              </a:rPr>
              <a:t>공백이</a:t>
            </a:r>
            <a:r>
              <a:rPr sz="1200" b="0" dirty="0">
                <a:solidFill>
                  <a:srgbClr val="151A22"/>
                </a:solidFill>
                <a:latin typeface="Malgun Gothic"/>
                <a:ea typeface="Malgun Gothic"/>
                <a:cs typeface="Malgun Gothic"/>
              </a:rPr>
              <a:t> </a:t>
            </a:r>
            <a:r>
              <a:rPr sz="1200" b="0" dirty="0" err="1">
                <a:solidFill>
                  <a:srgbClr val="151A22"/>
                </a:solidFill>
                <a:latin typeface="Malgun Gothic"/>
                <a:ea typeface="Malgun Gothic"/>
                <a:cs typeface="Malgun Gothic"/>
              </a:rPr>
              <a:t>생긴다</a:t>
            </a:r>
            <a:r>
              <a:rPr sz="1200" b="0" dirty="0">
                <a:solidFill>
                  <a:srgbClr val="151A22"/>
                </a:solidFill>
                <a:latin typeface="Malgun Gothic"/>
                <a:ea typeface="Malgun Gothic"/>
                <a:cs typeface="Malgun Gothic"/>
              </a:rPr>
              <a:t>.</a:t>
            </a:r>
          </a:p>
        </p:txBody>
      </p:sp>
      <p:sp>
        <p:nvSpPr>
          <p:cNvPr id="29" name="직사각형 28">
            <a:extLst>
              <a:ext uri="{FF2B5EF4-FFF2-40B4-BE49-F238E27FC236}">
                <a16:creationId xmlns:a16="http://schemas.microsoft.com/office/drawing/2014/main" id="{8ED3B251-C0CA-42F1-BDBE-D9357AF984E7}"/>
              </a:ext>
            </a:extLst>
          </p:cNvPr>
          <p:cNvSpPr>
            <a:spLocks noGrp="1"/>
          </p:cNvSpPr>
          <p:nvPr/>
        </p:nvSpPr>
        <p:spPr>
          <a:xfrm>
            <a:off x="533400" y="4667250"/>
            <a:ext cx="5476875" cy="685800"/>
          </a:xfrm>
          <a:prstGeom prst="rect">
            <a:avLst/>
          </a:prstGeom>
          <a:solidFill>
            <a:srgbClr val="EAF8F4"/>
          </a:solidFill>
          <a:ln w="9525">
            <a:solidFill>
              <a:srgbClr val="D3DBE5"/>
            </a:solidFill>
            <a:prstDash val="solid"/>
          </a:ln>
        </p:spPr>
        <p:txBody>
          <a:bodyPr/>
          <a:lstStyle/>
          <a:p>
            <a:endParaRPr lang="ko-KR" altLang="en-US"/>
          </a:p>
        </p:txBody>
      </p:sp>
      <p:sp>
        <p:nvSpPr>
          <p:cNvPr id="30" name="직사각형 29">
            <a:extLst>
              <a:ext uri="{FF2B5EF4-FFF2-40B4-BE49-F238E27FC236}">
                <a16:creationId xmlns:a16="http://schemas.microsoft.com/office/drawing/2014/main" id="{7B26568B-D001-44DF-B3B7-2D0ACF3E190D}"/>
              </a:ext>
            </a:extLst>
          </p:cNvPr>
          <p:cNvSpPr>
            <a:spLocks noGrp="1"/>
          </p:cNvSpPr>
          <p:nvPr/>
        </p:nvSpPr>
        <p:spPr>
          <a:xfrm>
            <a:off x="628650" y="4733925"/>
            <a:ext cx="5286375" cy="552450"/>
          </a:xfrm>
          <a:prstGeom prst="rect">
            <a:avLst/>
          </a:prstGeom>
          <a:noFill/>
          <a:ln w="0">
            <a:noFill/>
            <a:prstDash val="solid"/>
          </a:ln>
        </p:spPr>
        <p:txBody>
          <a:bodyPr wrap="square" lIns="19050" tIns="19050" rIns="19050" bIns="19050" anchor="ctr">
            <a:normAutofit/>
          </a:bodyPr>
          <a:lstStyle/>
          <a:p>
            <a:pPr algn="l">
              <a:defRPr sz="1200" b="0">
                <a:solidFill>
                  <a:srgbClr val="151A22"/>
                </a:solidFill>
                <a:latin typeface="Malgun Gothic"/>
                <a:ea typeface="Malgun Gothic"/>
                <a:cs typeface="Malgun Gothic"/>
              </a:defRPr>
            </a:pPr>
            <a:r>
              <a:rPr sz="1200" b="0">
                <a:solidFill>
                  <a:srgbClr val="151A22"/>
                </a:solidFill>
                <a:latin typeface="Malgun Gothic"/>
                <a:ea typeface="Malgun Gothic"/>
                <a:cs typeface="Malgun Gothic"/>
              </a:rPr>
              <a:t>주소를 먼저 안정시킨 뒤 REQ를 올리는 bundled-data 구조로 구현할 수 있다.</a:t>
            </a:r>
          </a:p>
        </p:txBody>
      </p:sp>
      <p:sp>
        <p:nvSpPr>
          <p:cNvPr id="31" name="직사각형 30">
            <a:extLst>
              <a:ext uri="{FF2B5EF4-FFF2-40B4-BE49-F238E27FC236}">
                <a16:creationId xmlns:a16="http://schemas.microsoft.com/office/drawing/2014/main" id="{68E3FA37-508B-4C1E-A201-D425B44D5247}"/>
              </a:ext>
            </a:extLst>
          </p:cNvPr>
          <p:cNvSpPr>
            <a:spLocks noGrp="1"/>
          </p:cNvSpPr>
          <p:nvPr/>
        </p:nvSpPr>
        <p:spPr>
          <a:xfrm>
            <a:off x="6010275" y="4667250"/>
            <a:ext cx="5476875" cy="685800"/>
          </a:xfrm>
          <a:prstGeom prst="rect">
            <a:avLst/>
          </a:prstGeom>
          <a:solidFill>
            <a:srgbClr val="FFF2E7"/>
          </a:solidFill>
          <a:ln w="9525">
            <a:solidFill>
              <a:srgbClr val="D3DBE5"/>
            </a:solidFill>
            <a:prstDash val="solid"/>
          </a:ln>
        </p:spPr>
        <p:txBody>
          <a:bodyPr/>
          <a:lstStyle/>
          <a:p>
            <a:endParaRPr lang="ko-KR" altLang="en-US"/>
          </a:p>
        </p:txBody>
      </p:sp>
      <p:sp>
        <p:nvSpPr>
          <p:cNvPr id="32" name="직사각형 31">
            <a:extLst>
              <a:ext uri="{FF2B5EF4-FFF2-40B4-BE49-F238E27FC236}">
                <a16:creationId xmlns:a16="http://schemas.microsoft.com/office/drawing/2014/main" id="{6C3678B3-7055-4719-AAAC-7C2D86145F96}"/>
              </a:ext>
            </a:extLst>
          </p:cNvPr>
          <p:cNvSpPr>
            <a:spLocks noGrp="1"/>
          </p:cNvSpPr>
          <p:nvPr/>
        </p:nvSpPr>
        <p:spPr>
          <a:xfrm>
            <a:off x="6105525" y="4733925"/>
            <a:ext cx="5286375" cy="552450"/>
          </a:xfrm>
          <a:prstGeom prst="rect">
            <a:avLst/>
          </a:prstGeom>
          <a:noFill/>
          <a:ln w="0">
            <a:noFill/>
            <a:prstDash val="solid"/>
          </a:ln>
        </p:spPr>
        <p:txBody>
          <a:bodyPr wrap="square" lIns="19050" tIns="19050" rIns="19050" bIns="19050" anchor="ctr">
            <a:normAutofit/>
          </a:bodyPr>
          <a:lstStyle/>
          <a:p>
            <a:pPr>
              <a:defRPr sz="1200" b="0">
                <a:solidFill>
                  <a:srgbClr val="151A22"/>
                </a:solidFill>
                <a:latin typeface="Malgun Gothic"/>
                <a:ea typeface="Malgun Gothic"/>
                <a:cs typeface="Malgun Gothic"/>
              </a:defRPr>
            </a:pPr>
            <a:r>
              <a:rPr lang="ko-KR" altLang="ko-KR" sz="1200" dirty="0">
                <a:solidFill>
                  <a:srgbClr val="151A22"/>
                </a:solidFill>
                <a:latin typeface="Malgun Gothic"/>
              </a:rPr>
              <a:t>공통 </a:t>
            </a:r>
            <a:r>
              <a:rPr lang="ko-KR" altLang="ko-KR" sz="1200" dirty="0" err="1">
                <a:solidFill>
                  <a:srgbClr val="151A22"/>
                </a:solidFill>
                <a:latin typeface="Malgun Gothic"/>
              </a:rPr>
              <a:t>clock이</a:t>
            </a:r>
            <a:r>
              <a:rPr lang="ko-KR" altLang="ko-KR" sz="1200" dirty="0">
                <a:solidFill>
                  <a:srgbClr val="151A22"/>
                </a:solidFill>
                <a:latin typeface="Malgun Gothic"/>
              </a:rPr>
              <a:t> 없어 내부 </a:t>
            </a:r>
            <a:r>
              <a:rPr lang="ko-KR" altLang="ko-KR" sz="1200" dirty="0" err="1">
                <a:solidFill>
                  <a:srgbClr val="151A22"/>
                </a:solidFill>
                <a:latin typeface="Malgun Gothic"/>
              </a:rPr>
              <a:t>self-timed</a:t>
            </a:r>
            <a:r>
              <a:rPr lang="ko-KR" altLang="ko-KR" sz="1200" dirty="0">
                <a:solidFill>
                  <a:srgbClr val="151A22"/>
                </a:solidFill>
                <a:latin typeface="Malgun Gothic"/>
              </a:rPr>
              <a:t> 경로와 신호 간 상대시간 조건을 일반적인 </a:t>
            </a:r>
            <a:r>
              <a:rPr lang="ko-KR" altLang="ko-KR" sz="1200" dirty="0" err="1">
                <a:solidFill>
                  <a:srgbClr val="151A22"/>
                </a:solidFill>
                <a:latin typeface="Malgun Gothic"/>
              </a:rPr>
              <a:t>STA만으로</a:t>
            </a:r>
            <a:r>
              <a:rPr lang="ko-KR" altLang="ko-KR" sz="1200" dirty="0">
                <a:solidFill>
                  <a:srgbClr val="151A22"/>
                </a:solidFill>
                <a:latin typeface="Malgun Gothic"/>
              </a:rPr>
              <a:t> 완전히 검증하기 어렵다.</a:t>
            </a:r>
            <a:endParaRPr sz="1200" b="0" dirty="0">
              <a:solidFill>
                <a:srgbClr val="151A22"/>
              </a:solidFill>
              <a:latin typeface="Malgun Gothic"/>
              <a:ea typeface="Malgun Gothic"/>
              <a:cs typeface="Malgun Gothic"/>
            </a:endParaRPr>
          </a:p>
        </p:txBody>
      </p:sp>
      <p:sp>
        <p:nvSpPr>
          <p:cNvPr id="33" name="사각형: 둥근 모서리 32">
            <a:extLst>
              <a:ext uri="{FF2B5EF4-FFF2-40B4-BE49-F238E27FC236}">
                <a16:creationId xmlns:a16="http://schemas.microsoft.com/office/drawing/2014/main" id="{8C069A65-14C5-4F8E-B7C8-48000A62EA4C}"/>
              </a:ext>
            </a:extLst>
          </p:cNvPr>
          <p:cNvSpPr>
            <a:spLocks noGrp="1"/>
          </p:cNvSpPr>
          <p:nvPr/>
        </p:nvSpPr>
        <p:spPr>
          <a:xfrm>
            <a:off x="533400" y="5543550"/>
            <a:ext cx="10953750" cy="666750"/>
          </a:xfrm>
          <a:prstGeom prst="roundRect">
            <a:avLst>
              <a:gd name="adj" fmla="val 14286"/>
            </a:avLst>
          </a:prstGeom>
          <a:solidFill>
            <a:srgbClr val="F5F7F9"/>
          </a:solidFill>
          <a:ln w="9525">
            <a:solidFill>
              <a:srgbClr val="D3DBE5"/>
            </a:solidFill>
            <a:prstDash val="solid"/>
          </a:ln>
        </p:spPr>
        <p:txBody>
          <a:bodyPr/>
          <a:lstStyle/>
          <a:p>
            <a:endParaRPr lang="ko-KR" altLang="en-US"/>
          </a:p>
        </p:txBody>
      </p:sp>
      <p:sp>
        <p:nvSpPr>
          <p:cNvPr id="34" name="직사각형 33">
            <a:extLst>
              <a:ext uri="{FF2B5EF4-FFF2-40B4-BE49-F238E27FC236}">
                <a16:creationId xmlns:a16="http://schemas.microsoft.com/office/drawing/2014/main" id="{55A24A96-96D3-4005-A132-471C6CCEDDF1}"/>
              </a:ext>
            </a:extLst>
          </p:cNvPr>
          <p:cNvSpPr>
            <a:spLocks noGrp="1"/>
          </p:cNvSpPr>
          <p:nvPr/>
        </p:nvSpPr>
        <p:spPr>
          <a:xfrm>
            <a:off x="704850" y="5657850"/>
            <a:ext cx="10610850" cy="438150"/>
          </a:xfrm>
          <a:prstGeom prst="rect">
            <a:avLst/>
          </a:prstGeom>
          <a:noFill/>
          <a:ln w="0">
            <a:noFill/>
            <a:prstDash val="solid"/>
          </a:ln>
        </p:spPr>
        <p:txBody>
          <a:bodyPr wrap="square" lIns="19050" tIns="19050" rIns="19050" bIns="19050" anchor="ctr">
            <a:normAutofit fontScale="97222"/>
          </a:bodyPr>
          <a:lstStyle/>
          <a:p>
            <a:pPr algn="l">
              <a:defRPr sz="1350" b="0">
                <a:solidFill>
                  <a:srgbClr val="1E2C4F"/>
                </a:solidFill>
                <a:latin typeface="Malgun Gothic"/>
                <a:ea typeface="Malgun Gothic"/>
                <a:cs typeface="Malgun Gothic"/>
              </a:defRPr>
            </a:pPr>
            <a:r>
              <a:rPr sz="1350" b="0">
                <a:solidFill>
                  <a:srgbClr val="1E2C4F"/>
                </a:solidFill>
                <a:latin typeface="Malgun Gothic"/>
                <a:ea typeface="Malgun Gothic"/>
                <a:cs typeface="Malgun Gothic"/>
              </a:rPr>
              <a:t>개선 목표는 단순 면적 축소가 아니다. 비동기 입력 보호, 이벤트 저장, starvation 방지, Receiver 정체 격리를 추가하면서 PPA 비용을 관리해야 한다.</a:t>
            </a:r>
          </a:p>
        </p:txBody>
      </p:sp>
      <p:pic>
        <p:nvPicPr>
          <p:cNvPr id="36" name="그림 35">
            <a:extLst>
              <a:ext uri="{FF2B5EF4-FFF2-40B4-BE49-F238E27FC236}">
                <a16:creationId xmlns:a16="http://schemas.microsoft.com/office/drawing/2014/main" id="{3CDCFEDC-917D-4D89-F75C-37FA13A5E8D1}"/>
              </a:ext>
            </a:extLst>
          </p:cNvPr>
          <p:cNvPicPr>
            <a:picLocks noChangeAspect="1"/>
          </p:cNvPicPr>
          <p:nvPr/>
        </p:nvPicPr>
        <p:blipFill>
          <a:blip r:embed="rId3"/>
          <a:stretch/>
        </p:blipFill>
        <p:spPr>
          <a:xfrm>
            <a:off x="11285208" y="133349"/>
            <a:ext cx="900000" cy="900000"/>
          </a:xfrm>
          <a:prstGeom prst="rect">
            <a:avLst/>
          </a:prstGeom>
        </p:spPr>
      </p:pic>
      <p:sp>
        <p:nvSpPr>
          <p:cNvPr id="6" name="직사각형 5">
            <a:extLst>
              <a:ext uri="{FF2B5EF4-FFF2-40B4-BE49-F238E27FC236}">
                <a16:creationId xmlns:a16="http://schemas.microsoft.com/office/drawing/2014/main" id="{DCCAD9E4-D519-08DD-2BF4-D4F05A6F7FC1}"/>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1243672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9C435B28-E0BE-48A6-8C53-736C0B2CFEA2}"/>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5">
            <a:extLst>
              <a:ext uri="{FF2B5EF4-FFF2-40B4-BE49-F238E27FC236}">
                <a16:creationId xmlns:a16="http://schemas.microsoft.com/office/drawing/2014/main" id="{0271CD59-B51B-4176-A29C-07CEE94A899E}"/>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lang="ko-KR" altLang="en-US" sz="2625" b="0" dirty="0">
                <a:solidFill>
                  <a:srgbClr val="151A22"/>
                </a:solidFill>
                <a:latin typeface="Malgun Gothic"/>
                <a:ea typeface="Malgun Gothic"/>
                <a:cs typeface="Malgun Gothic"/>
              </a:rPr>
              <a:t>개선 방안 </a:t>
            </a:r>
            <a:r>
              <a:rPr lang="en-US" altLang="ko-K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비동기</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요청을</a:t>
            </a:r>
            <a:r>
              <a:rPr sz="2625" b="0" dirty="0">
                <a:solidFill>
                  <a:srgbClr val="151A22"/>
                </a:solidFill>
                <a:latin typeface="Malgun Gothic"/>
                <a:ea typeface="Malgun Gothic"/>
                <a:cs typeface="Malgun Gothic"/>
              </a:rPr>
              <a:t> 2FF로 </a:t>
            </a:r>
            <a:r>
              <a:rPr sz="2625" b="0" dirty="0" err="1">
                <a:solidFill>
                  <a:srgbClr val="151A22"/>
                </a:solidFill>
                <a:latin typeface="Malgun Gothic"/>
                <a:ea typeface="Malgun Gothic"/>
                <a:cs typeface="Malgun Gothic"/>
              </a:rPr>
              <a:t>보호</a:t>
            </a:r>
            <a:endParaRPr sz="2625" b="0" dirty="0">
              <a:solidFill>
                <a:srgbClr val="151A22"/>
              </a:solidFill>
              <a:latin typeface="Malgun Gothic"/>
              <a:ea typeface="Malgun Gothic"/>
              <a:cs typeface="Malgun Gothic"/>
            </a:endParaRPr>
          </a:p>
        </p:txBody>
      </p:sp>
      <p:sp>
        <p:nvSpPr>
          <p:cNvPr id="3" name="section-5">
            <a:extLst>
              <a:ext uri="{FF2B5EF4-FFF2-40B4-BE49-F238E27FC236}">
                <a16:creationId xmlns:a16="http://schemas.microsoft.com/office/drawing/2014/main" id="{CC862CED-8410-4076-863C-4A51E63C28CC}"/>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METASTABILITY RISK REDUCTION</a:t>
            </a:r>
          </a:p>
        </p:txBody>
      </p:sp>
      <p:sp>
        <p:nvSpPr>
          <p:cNvPr id="4" name="직사각형 3">
            <a:extLst>
              <a:ext uri="{FF2B5EF4-FFF2-40B4-BE49-F238E27FC236}">
                <a16:creationId xmlns:a16="http://schemas.microsoft.com/office/drawing/2014/main" id="{E28BBD20-8D9B-4040-B3D3-3855E3598BB9}"/>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3EE6F321-477B-4856-8F09-C37AD3D7CA73}"/>
              </a:ext>
            </a:extLst>
          </p:cNvPr>
          <p:cNvSpPr>
            <a:spLocks noGrp="1"/>
          </p:cNvSpPr>
          <p:nvPr/>
        </p:nvSpPr>
        <p:spPr>
          <a:xfrm>
            <a:off x="609601" y="4677990"/>
            <a:ext cx="4953000" cy="323850"/>
          </a:xfrm>
          <a:prstGeom prst="rect">
            <a:avLst/>
          </a:prstGeom>
          <a:noFill/>
          <a:ln w="0">
            <a:noFill/>
            <a:prstDash val="solid"/>
          </a:ln>
        </p:spPr>
        <p:txBody>
          <a:bodyPr wrap="square" lIns="19050" tIns="19050" rIns="19050" bIns="19050" anchor="t">
            <a:normAutofit/>
          </a:bodyPr>
          <a:lstStyle/>
          <a:p>
            <a:pPr algn="l">
              <a:defRPr sz="1800" b="0">
                <a:solidFill>
                  <a:srgbClr val="D84343"/>
                </a:solidFill>
                <a:latin typeface="Malgun Gothic"/>
                <a:ea typeface="Malgun Gothic"/>
                <a:cs typeface="Malgun Gothic"/>
              </a:defRPr>
            </a:pPr>
            <a:r>
              <a:rPr sz="1800" b="0" dirty="0" err="1">
                <a:solidFill>
                  <a:srgbClr val="D84343"/>
                </a:solidFill>
                <a:latin typeface="Malgun Gothic"/>
                <a:ea typeface="Malgun Gothic"/>
                <a:cs typeface="Malgun Gothic"/>
              </a:rPr>
              <a:t>Metastability란</a:t>
            </a:r>
            <a:r>
              <a:rPr sz="1800" b="0" dirty="0">
                <a:solidFill>
                  <a:srgbClr val="D84343"/>
                </a:solidFill>
                <a:latin typeface="Malgun Gothic"/>
                <a:ea typeface="Malgun Gothic"/>
                <a:cs typeface="Malgun Gothic"/>
              </a:rPr>
              <a:t>?</a:t>
            </a:r>
          </a:p>
        </p:txBody>
      </p:sp>
      <p:sp>
        <p:nvSpPr>
          <p:cNvPr id="11" name="직사각형 10">
            <a:extLst>
              <a:ext uri="{FF2B5EF4-FFF2-40B4-BE49-F238E27FC236}">
                <a16:creationId xmlns:a16="http://schemas.microsoft.com/office/drawing/2014/main" id="{0E3BDA66-2F8C-4FB5-90A7-EE414B34F1E0}"/>
              </a:ext>
            </a:extLst>
          </p:cNvPr>
          <p:cNvSpPr>
            <a:spLocks noGrp="1"/>
          </p:cNvSpPr>
          <p:nvPr/>
        </p:nvSpPr>
        <p:spPr>
          <a:xfrm>
            <a:off x="609601" y="5039940"/>
            <a:ext cx="1333500" cy="28575"/>
          </a:xfrm>
          <a:prstGeom prst="rect">
            <a:avLst/>
          </a:prstGeom>
          <a:solidFill>
            <a:srgbClr val="D84343"/>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3D438A98-D807-4DA9-B2B6-2DDE6C08DE91}"/>
              </a:ext>
            </a:extLst>
          </p:cNvPr>
          <p:cNvSpPr>
            <a:spLocks noGrp="1"/>
          </p:cNvSpPr>
          <p:nvPr/>
        </p:nvSpPr>
        <p:spPr>
          <a:xfrm>
            <a:off x="609600" y="5173290"/>
            <a:ext cx="5142195" cy="1160449"/>
          </a:xfrm>
          <a:prstGeom prst="rect">
            <a:avLst/>
          </a:prstGeom>
          <a:noFill/>
          <a:ln w="0">
            <a:noFill/>
            <a:prstDash val="solid"/>
          </a:ln>
        </p:spPr>
        <p:txBody>
          <a:bodyPr wrap="square" lIns="19050" tIns="19050" rIns="19050" bIns="19050" anchor="t">
            <a:normAutofit/>
          </a:bodyPr>
          <a:lstStyle/>
          <a:p>
            <a:pPr algn="just">
              <a:defRPr sz="1350" b="0">
                <a:solidFill>
                  <a:srgbClr val="151A22"/>
                </a:solidFill>
                <a:latin typeface="Malgun Gothic"/>
                <a:ea typeface="Malgun Gothic"/>
                <a:cs typeface="Malgun Gothic"/>
              </a:defRPr>
            </a:pPr>
            <a:r>
              <a:rPr sz="1350" b="0" dirty="0" err="1">
                <a:solidFill>
                  <a:srgbClr val="151A22"/>
                </a:solidFill>
                <a:latin typeface="Malgun Gothic"/>
                <a:ea typeface="Malgun Gothic"/>
                <a:cs typeface="Malgun Gothic"/>
              </a:rPr>
              <a:t>비동기</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REQ가</a:t>
            </a:r>
            <a:r>
              <a:rPr sz="1350" b="0" dirty="0">
                <a:solidFill>
                  <a:srgbClr val="151A22"/>
                </a:solidFill>
                <a:latin typeface="Malgun Gothic"/>
                <a:ea typeface="Malgun Gothic"/>
                <a:cs typeface="Malgun Gothic"/>
              </a:rPr>
              <a:t> clock </a:t>
            </a:r>
            <a:r>
              <a:rPr sz="1350" b="0" dirty="0" err="1">
                <a:solidFill>
                  <a:srgbClr val="151A22"/>
                </a:solidFill>
                <a:latin typeface="Malgun Gothic"/>
                <a:ea typeface="Malgun Gothic"/>
                <a:cs typeface="Malgun Gothic"/>
              </a:rPr>
              <a:t>edge와</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거의</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동시에</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변하면</a:t>
            </a:r>
            <a:r>
              <a:rPr sz="1350" b="0" dirty="0">
                <a:solidFill>
                  <a:srgbClr val="151A22"/>
                </a:solidFill>
                <a:latin typeface="Malgun Gothic"/>
                <a:ea typeface="Malgun Gothic"/>
                <a:cs typeface="Malgun Gothic"/>
              </a:rPr>
              <a:t> 첫 </a:t>
            </a:r>
            <a:r>
              <a:rPr sz="1350" b="0" dirty="0" err="1">
                <a:solidFill>
                  <a:srgbClr val="151A22"/>
                </a:solidFill>
                <a:latin typeface="Malgun Gothic"/>
                <a:ea typeface="Malgun Gothic"/>
                <a:cs typeface="Malgun Gothic"/>
              </a:rPr>
              <a:t>번째</a:t>
            </a:r>
            <a:r>
              <a:rPr sz="1350" b="0" dirty="0">
                <a:solidFill>
                  <a:srgbClr val="151A22"/>
                </a:solidFill>
                <a:latin typeface="Malgun Gothic"/>
                <a:ea typeface="Malgun Gothic"/>
                <a:cs typeface="Malgun Gothic"/>
              </a:rPr>
              <a:t> Flip-</a:t>
            </a:r>
            <a:r>
              <a:rPr sz="1350" b="0" dirty="0" err="1">
                <a:solidFill>
                  <a:srgbClr val="151A22"/>
                </a:solidFill>
                <a:latin typeface="Malgun Gothic"/>
                <a:ea typeface="Malgun Gothic"/>
                <a:cs typeface="Malgun Gothic"/>
              </a:rPr>
              <a:t>Flop이</a:t>
            </a:r>
            <a:r>
              <a:rPr sz="1350" b="0" dirty="0">
                <a:solidFill>
                  <a:srgbClr val="151A22"/>
                </a:solidFill>
                <a:latin typeface="Malgun Gothic"/>
                <a:ea typeface="Malgun Gothic"/>
                <a:cs typeface="Malgun Gothic"/>
              </a:rPr>
              <a:t> setup/hold </a:t>
            </a:r>
            <a:r>
              <a:rPr sz="1350" b="0" dirty="0" err="1">
                <a:solidFill>
                  <a:srgbClr val="151A22"/>
                </a:solidFill>
                <a:latin typeface="Malgun Gothic"/>
                <a:ea typeface="Malgun Gothic"/>
                <a:cs typeface="Malgun Gothic"/>
              </a:rPr>
              <a:t>조건을</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만족하지</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못할</a:t>
            </a:r>
            <a:r>
              <a:rPr sz="1350" b="0" dirty="0">
                <a:solidFill>
                  <a:srgbClr val="151A22"/>
                </a:solidFill>
                <a:latin typeface="Malgun Gothic"/>
                <a:ea typeface="Malgun Gothic"/>
                <a:cs typeface="Malgun Gothic"/>
              </a:rPr>
              <a:t> 수 </a:t>
            </a:r>
            <a:r>
              <a:rPr sz="1350" b="0" dirty="0" err="1">
                <a:solidFill>
                  <a:srgbClr val="151A22"/>
                </a:solidFill>
                <a:latin typeface="Malgun Gothic"/>
                <a:ea typeface="Malgun Gothic"/>
                <a:cs typeface="Malgun Gothic"/>
              </a:rPr>
              <a:t>있다</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이때</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출력이</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즉시</a:t>
            </a:r>
            <a:r>
              <a:rPr sz="1350" b="0" dirty="0">
                <a:solidFill>
                  <a:srgbClr val="151A22"/>
                </a:solidFill>
                <a:latin typeface="Malgun Gothic"/>
                <a:ea typeface="Malgun Gothic"/>
                <a:cs typeface="Malgun Gothic"/>
              </a:rPr>
              <a:t> 0이나 1로 </a:t>
            </a:r>
            <a:r>
              <a:rPr sz="1350" b="0" dirty="0" err="1">
                <a:solidFill>
                  <a:srgbClr val="151A22"/>
                </a:solidFill>
                <a:latin typeface="Malgun Gothic"/>
                <a:ea typeface="Malgun Gothic"/>
                <a:cs typeface="Malgun Gothic"/>
              </a:rPr>
              <a:t>결정되지</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못하고</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잠시</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중간</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전압에</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머무는</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상태를</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metastability라고</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한다</a:t>
            </a:r>
            <a:r>
              <a:rPr sz="1350" b="0" dirty="0">
                <a:solidFill>
                  <a:srgbClr val="151A22"/>
                </a:solidFill>
                <a:latin typeface="Malgun Gothic"/>
                <a:ea typeface="Malgun Gothic"/>
                <a:cs typeface="Malgun Gothic"/>
              </a:rPr>
              <a:t>. 이 </a:t>
            </a:r>
            <a:r>
              <a:rPr sz="1350" b="0" dirty="0" err="1">
                <a:solidFill>
                  <a:srgbClr val="151A22"/>
                </a:solidFill>
                <a:latin typeface="Malgun Gothic"/>
                <a:ea typeface="Malgun Gothic"/>
                <a:cs typeface="Malgun Gothic"/>
              </a:rPr>
              <a:t>값이</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중재기</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전체로</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퍼지면</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선택</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결과가</a:t>
            </a:r>
            <a:r>
              <a:rPr sz="1350" b="0" dirty="0">
                <a:solidFill>
                  <a:srgbClr val="151A22"/>
                </a:solidFill>
                <a:latin typeface="Malgun Gothic"/>
                <a:ea typeface="Malgun Gothic"/>
                <a:cs typeface="Malgun Gothic"/>
              </a:rPr>
              <a:t> </a:t>
            </a:r>
            <a:r>
              <a:rPr sz="1350" b="0" dirty="0" err="1">
                <a:solidFill>
                  <a:srgbClr val="151A22"/>
                </a:solidFill>
                <a:latin typeface="Malgun Gothic"/>
                <a:ea typeface="Malgun Gothic"/>
                <a:cs typeface="Malgun Gothic"/>
              </a:rPr>
              <a:t>불안정해질</a:t>
            </a:r>
            <a:r>
              <a:rPr sz="1350" b="0" dirty="0">
                <a:solidFill>
                  <a:srgbClr val="151A22"/>
                </a:solidFill>
                <a:latin typeface="Malgun Gothic"/>
                <a:ea typeface="Malgun Gothic"/>
                <a:cs typeface="Malgun Gothic"/>
              </a:rPr>
              <a:t> 수 </a:t>
            </a:r>
            <a:r>
              <a:rPr sz="1350" b="0" dirty="0" err="1">
                <a:solidFill>
                  <a:srgbClr val="151A22"/>
                </a:solidFill>
                <a:latin typeface="Malgun Gothic"/>
                <a:ea typeface="Malgun Gothic"/>
                <a:cs typeface="Malgun Gothic"/>
              </a:rPr>
              <a:t>있다</a:t>
            </a:r>
            <a:r>
              <a:rPr sz="1350" b="0" dirty="0">
                <a:solidFill>
                  <a:srgbClr val="151A22"/>
                </a:solidFill>
                <a:latin typeface="Malgun Gothic"/>
                <a:ea typeface="Malgun Gothic"/>
                <a:cs typeface="Malgun Gothic"/>
              </a:rPr>
              <a:t>.</a:t>
            </a:r>
          </a:p>
        </p:txBody>
      </p:sp>
      <p:sp>
        <p:nvSpPr>
          <p:cNvPr id="13" name="직사각형 12">
            <a:extLst>
              <a:ext uri="{FF2B5EF4-FFF2-40B4-BE49-F238E27FC236}">
                <a16:creationId xmlns:a16="http://schemas.microsoft.com/office/drawing/2014/main" id="{31715E45-917F-467E-848B-D1990DB442E4}"/>
              </a:ext>
            </a:extLst>
          </p:cNvPr>
          <p:cNvSpPr>
            <a:spLocks noGrp="1"/>
          </p:cNvSpPr>
          <p:nvPr/>
        </p:nvSpPr>
        <p:spPr>
          <a:xfrm>
            <a:off x="6440207" y="4677990"/>
            <a:ext cx="4953000" cy="323850"/>
          </a:xfrm>
          <a:prstGeom prst="rect">
            <a:avLst/>
          </a:prstGeom>
          <a:noFill/>
          <a:ln w="0">
            <a:noFill/>
            <a:prstDash val="solid"/>
          </a:ln>
        </p:spPr>
        <p:txBody>
          <a:bodyPr wrap="square" lIns="19050" tIns="19050" rIns="19050" bIns="19050" anchor="t">
            <a:normAutofit/>
          </a:bodyPr>
          <a:lstStyle/>
          <a:p>
            <a:pPr algn="l">
              <a:defRPr sz="1800" b="0">
                <a:solidFill>
                  <a:srgbClr val="2D5FE5"/>
                </a:solidFill>
                <a:latin typeface="Malgun Gothic"/>
                <a:ea typeface="Malgun Gothic"/>
                <a:cs typeface="Malgun Gothic"/>
              </a:defRPr>
            </a:pPr>
            <a:r>
              <a:rPr sz="1800" b="0" dirty="0">
                <a:solidFill>
                  <a:srgbClr val="2D5FE5"/>
                </a:solidFill>
                <a:latin typeface="Malgun Gothic"/>
                <a:ea typeface="Malgun Gothic"/>
                <a:cs typeface="Malgun Gothic"/>
              </a:rPr>
              <a:t>FF</a:t>
            </a:r>
            <a:r>
              <a:rPr lang="ko-KR" altLang="en-US" dirty="0">
                <a:solidFill>
                  <a:srgbClr val="2D5FE5"/>
                </a:solidFill>
                <a:latin typeface="Malgun Gothic"/>
                <a:ea typeface="Malgun Gothic"/>
                <a:cs typeface="Malgun Gothic"/>
              </a:rPr>
              <a:t>를 </a:t>
            </a:r>
            <a:r>
              <a:rPr lang="en-US" altLang="ko-KR" dirty="0">
                <a:solidFill>
                  <a:srgbClr val="2D5FE5"/>
                </a:solidFill>
                <a:latin typeface="Malgun Gothic"/>
                <a:ea typeface="Malgun Gothic"/>
                <a:cs typeface="Malgun Gothic"/>
              </a:rPr>
              <a:t>2</a:t>
            </a:r>
            <a:r>
              <a:rPr lang="ko-KR" altLang="en-US" dirty="0">
                <a:solidFill>
                  <a:srgbClr val="2D5FE5"/>
                </a:solidFill>
                <a:latin typeface="Malgun Gothic"/>
                <a:ea typeface="Malgun Gothic"/>
                <a:cs typeface="Malgun Gothic"/>
              </a:rPr>
              <a:t>개 배치하여 </a:t>
            </a:r>
            <a:r>
              <a:rPr sz="1800" b="0" dirty="0" err="1">
                <a:solidFill>
                  <a:srgbClr val="2D5FE5"/>
                </a:solidFill>
                <a:latin typeface="Malgun Gothic"/>
                <a:ea typeface="Malgun Gothic"/>
                <a:cs typeface="Malgun Gothic"/>
              </a:rPr>
              <a:t>안정</a:t>
            </a:r>
            <a:r>
              <a:rPr sz="1800" b="0" dirty="0">
                <a:solidFill>
                  <a:srgbClr val="2D5FE5"/>
                </a:solidFill>
                <a:latin typeface="Malgun Gothic"/>
                <a:ea typeface="Malgun Gothic"/>
                <a:cs typeface="Malgun Gothic"/>
              </a:rPr>
              <a:t> </a:t>
            </a:r>
            <a:r>
              <a:rPr sz="1800" b="0" dirty="0" err="1">
                <a:solidFill>
                  <a:srgbClr val="2D5FE5"/>
                </a:solidFill>
                <a:latin typeface="Malgun Gothic"/>
                <a:ea typeface="Malgun Gothic"/>
                <a:cs typeface="Malgun Gothic"/>
              </a:rPr>
              <a:t>시간</a:t>
            </a:r>
            <a:r>
              <a:rPr lang="ko-KR" altLang="en-US" sz="1800" b="0" dirty="0">
                <a:solidFill>
                  <a:srgbClr val="2D5FE5"/>
                </a:solidFill>
                <a:latin typeface="Malgun Gothic"/>
                <a:ea typeface="Malgun Gothic"/>
                <a:cs typeface="Malgun Gothic"/>
              </a:rPr>
              <a:t>을 확보</a:t>
            </a:r>
            <a:endParaRPr sz="1800" b="0" dirty="0">
              <a:solidFill>
                <a:srgbClr val="2D5FE5"/>
              </a:solidFill>
              <a:latin typeface="Malgun Gothic"/>
              <a:ea typeface="Malgun Gothic"/>
              <a:cs typeface="Malgun Gothic"/>
            </a:endParaRPr>
          </a:p>
        </p:txBody>
      </p:sp>
      <p:sp>
        <p:nvSpPr>
          <p:cNvPr id="14" name="직사각형 13">
            <a:extLst>
              <a:ext uri="{FF2B5EF4-FFF2-40B4-BE49-F238E27FC236}">
                <a16:creationId xmlns:a16="http://schemas.microsoft.com/office/drawing/2014/main" id="{42D9C4EB-474D-4993-81B6-6F76AF633063}"/>
              </a:ext>
            </a:extLst>
          </p:cNvPr>
          <p:cNvSpPr>
            <a:spLocks noGrp="1"/>
          </p:cNvSpPr>
          <p:nvPr/>
        </p:nvSpPr>
        <p:spPr>
          <a:xfrm>
            <a:off x="6440207" y="5039940"/>
            <a:ext cx="1333500" cy="28575"/>
          </a:xfrm>
          <a:prstGeom prst="rect">
            <a:avLst/>
          </a:prstGeom>
          <a:solidFill>
            <a:srgbClr val="2D5FE5"/>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150F2347-99FB-453C-9F44-7A24473C21B7}"/>
              </a:ext>
            </a:extLst>
          </p:cNvPr>
          <p:cNvSpPr>
            <a:spLocks noGrp="1"/>
          </p:cNvSpPr>
          <p:nvPr/>
        </p:nvSpPr>
        <p:spPr>
          <a:xfrm>
            <a:off x="6440207" y="5173290"/>
            <a:ext cx="5048250" cy="1190625"/>
          </a:xfrm>
          <a:prstGeom prst="rect">
            <a:avLst/>
          </a:prstGeom>
          <a:noFill/>
          <a:ln w="0">
            <a:noFill/>
            <a:prstDash val="solid"/>
          </a:ln>
        </p:spPr>
        <p:txBody>
          <a:bodyPr wrap="square" lIns="19050" tIns="19050" rIns="19050" bIns="19050" anchor="t">
            <a:normAutofit/>
          </a:bodyPr>
          <a:lstStyle/>
          <a:p>
            <a:pPr algn="l">
              <a:defRPr sz="1350" b="0">
                <a:solidFill>
                  <a:srgbClr val="151A22"/>
                </a:solidFill>
                <a:latin typeface="Malgun Gothic"/>
                <a:ea typeface="Malgun Gothic"/>
                <a:cs typeface="Malgun Gothic"/>
              </a:defRPr>
            </a:pPr>
            <a:r>
              <a:rPr sz="1350" b="0">
                <a:solidFill>
                  <a:srgbClr val="151A22"/>
                </a:solidFill>
                <a:latin typeface="Malgun Gothic"/>
                <a:ea typeface="Malgun Gothic"/>
                <a:cs typeface="Malgun Gothic"/>
              </a:rPr>
              <a:t>FF1은 metastable해질 수 있지만 FF2는 한 clock 뒤에 FF1을 다시 읽는다. FF1에는 거의 한 주기 동안 0 또는 1로 수렴할 시간이 생기고, 이후 중재기는 FF2의 안정된 출력만 사용한다. 2FF는 위험 확률을 크게 낮추지만 수학적으로 0으로 만들지는 않는다.</a:t>
            </a:r>
          </a:p>
        </p:txBody>
      </p:sp>
      <p:pic>
        <p:nvPicPr>
          <p:cNvPr id="9" name="그림 8">
            <a:extLst>
              <a:ext uri="{FF2B5EF4-FFF2-40B4-BE49-F238E27FC236}">
                <a16:creationId xmlns:a16="http://schemas.microsoft.com/office/drawing/2014/main" id="{DF83D4B3-B11A-93B8-0FD3-F7CC75714103}"/>
              </a:ext>
            </a:extLst>
          </p:cNvPr>
          <p:cNvPicPr>
            <a:picLocks noChangeAspect="1"/>
          </p:cNvPicPr>
          <p:nvPr/>
        </p:nvPicPr>
        <p:blipFill>
          <a:blip r:embed="rId3"/>
          <a:stretch/>
        </p:blipFill>
        <p:spPr>
          <a:xfrm>
            <a:off x="11285208" y="133349"/>
            <a:ext cx="900000" cy="900000"/>
          </a:xfrm>
          <a:prstGeom prst="rect">
            <a:avLst/>
          </a:prstGeom>
        </p:spPr>
      </p:pic>
      <p:pic>
        <p:nvPicPr>
          <p:cNvPr id="6" name="그래픽 5">
            <a:extLst>
              <a:ext uri="{FF2B5EF4-FFF2-40B4-BE49-F238E27FC236}">
                <a16:creationId xmlns:a16="http://schemas.microsoft.com/office/drawing/2014/main" id="{E740D703-8B7D-F47A-5B45-8A2D6B5CF3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9517" y="1051466"/>
            <a:ext cx="7752966" cy="3488836"/>
          </a:xfrm>
          <a:prstGeom prst="rect">
            <a:avLst/>
          </a:prstGeom>
        </p:spPr>
      </p:pic>
      <p:sp>
        <p:nvSpPr>
          <p:cNvPr id="7" name="직사각형 6">
            <a:extLst>
              <a:ext uri="{FF2B5EF4-FFF2-40B4-BE49-F238E27FC236}">
                <a16:creationId xmlns:a16="http://schemas.microsoft.com/office/drawing/2014/main" id="{786E6B9D-3A79-AF15-5402-5119CC2E891C}"/>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1624916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6A615BA8-319E-4D1E-96A5-288FED4F23C6}"/>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6">
            <a:extLst>
              <a:ext uri="{FF2B5EF4-FFF2-40B4-BE49-F238E27FC236}">
                <a16:creationId xmlns:a16="http://schemas.microsoft.com/office/drawing/2014/main" id="{14948DFB-D4D2-4929-B421-787ABFEF8412}"/>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lang="ko-KR" altLang="en-US" sz="2625" b="0" dirty="0">
                <a:solidFill>
                  <a:srgbClr val="151A22"/>
                </a:solidFill>
                <a:latin typeface="Malgun Gothic"/>
                <a:ea typeface="Malgun Gothic"/>
                <a:cs typeface="Malgun Gothic"/>
              </a:rPr>
              <a:t>개선 방안 </a:t>
            </a:r>
            <a:r>
              <a:rPr lang="en-US" altLang="ko-K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이벤트</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저장과</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연속</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출력</a:t>
            </a:r>
            <a:endParaRPr sz="2625" b="0" dirty="0">
              <a:solidFill>
                <a:srgbClr val="151A22"/>
              </a:solidFill>
              <a:latin typeface="Malgun Gothic"/>
              <a:ea typeface="Malgun Gothic"/>
              <a:cs typeface="Malgun Gothic"/>
            </a:endParaRPr>
          </a:p>
        </p:txBody>
      </p:sp>
      <p:sp>
        <p:nvSpPr>
          <p:cNvPr id="3" name="section-6">
            <a:extLst>
              <a:ext uri="{FF2B5EF4-FFF2-40B4-BE49-F238E27FC236}">
                <a16:creationId xmlns:a16="http://schemas.microsoft.com/office/drawing/2014/main" id="{8620CF87-E9FC-4D60-9E69-F7E67FEACEC0}"/>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PENDING · EARLY ACK · VALID/READY</a:t>
            </a:r>
          </a:p>
        </p:txBody>
      </p:sp>
      <p:sp>
        <p:nvSpPr>
          <p:cNvPr id="4" name="직사각형 3">
            <a:extLst>
              <a:ext uri="{FF2B5EF4-FFF2-40B4-BE49-F238E27FC236}">
                <a16:creationId xmlns:a16="http://schemas.microsoft.com/office/drawing/2014/main" id="{824E7C71-0DD2-4775-BDCE-2AFBEEBFE8A5}"/>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73B6E072-449D-4CA2-A6DB-671B6B3ABBF1}"/>
              </a:ext>
            </a:extLst>
          </p:cNvPr>
          <p:cNvSpPr>
            <a:spLocks noGrp="1"/>
          </p:cNvSpPr>
          <p:nvPr/>
        </p:nvSpPr>
        <p:spPr>
          <a:xfrm>
            <a:off x="628650" y="4857750"/>
            <a:ext cx="5143500" cy="323850"/>
          </a:xfrm>
          <a:prstGeom prst="rect">
            <a:avLst/>
          </a:prstGeom>
          <a:noFill/>
          <a:ln w="0">
            <a:noFill/>
            <a:prstDash val="solid"/>
          </a:ln>
        </p:spPr>
        <p:txBody>
          <a:bodyPr wrap="square" lIns="19050" tIns="19050" rIns="19050" bIns="19050" anchor="t">
            <a:normAutofit/>
          </a:bodyPr>
          <a:lstStyle/>
          <a:p>
            <a:pPr algn="l">
              <a:defRPr sz="1800" b="0">
                <a:solidFill>
                  <a:srgbClr val="0E9F78"/>
                </a:solidFill>
                <a:latin typeface="Malgun Gothic"/>
                <a:ea typeface="Malgun Gothic"/>
                <a:cs typeface="Malgun Gothic"/>
              </a:defRPr>
            </a:pPr>
            <a:r>
              <a:rPr sz="1800" b="0">
                <a:solidFill>
                  <a:srgbClr val="0E9F78"/>
                </a:solidFill>
                <a:latin typeface="Malgun Gothic"/>
                <a:ea typeface="Malgun Gothic"/>
                <a:cs typeface="Malgun Gothic"/>
              </a:rPr>
              <a:t>Pending과 Early ACK</a:t>
            </a:r>
          </a:p>
        </p:txBody>
      </p:sp>
      <p:sp>
        <p:nvSpPr>
          <p:cNvPr id="11" name="직사각형 10">
            <a:extLst>
              <a:ext uri="{FF2B5EF4-FFF2-40B4-BE49-F238E27FC236}">
                <a16:creationId xmlns:a16="http://schemas.microsoft.com/office/drawing/2014/main" id="{D6628421-F20A-4A08-8EC4-BDDA6A3D9C69}"/>
              </a:ext>
            </a:extLst>
          </p:cNvPr>
          <p:cNvSpPr>
            <a:spLocks noGrp="1"/>
          </p:cNvSpPr>
          <p:nvPr/>
        </p:nvSpPr>
        <p:spPr>
          <a:xfrm>
            <a:off x="628650" y="5219700"/>
            <a:ext cx="1333500" cy="28575"/>
          </a:xfrm>
          <a:prstGeom prst="rect">
            <a:avLst/>
          </a:prstGeom>
          <a:solidFill>
            <a:srgbClr val="0E9F78"/>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393AD8D4-618E-4C66-AE2E-66662AED5862}"/>
              </a:ext>
            </a:extLst>
          </p:cNvPr>
          <p:cNvSpPr>
            <a:spLocks noGrp="1"/>
          </p:cNvSpPr>
          <p:nvPr/>
        </p:nvSpPr>
        <p:spPr>
          <a:xfrm>
            <a:off x="628650" y="5295899"/>
            <a:ext cx="5232102" cy="1064051"/>
          </a:xfrm>
          <a:prstGeom prst="rect">
            <a:avLst/>
          </a:prstGeom>
          <a:noFill/>
          <a:ln w="0">
            <a:noFill/>
            <a:prstDash val="solid"/>
          </a:ln>
        </p:spPr>
        <p:txBody>
          <a:bodyPr wrap="square" lIns="19050" tIns="19050" rIns="19050" bIns="19050" anchor="t">
            <a:normAutofit/>
          </a:bodyPr>
          <a:lstStyle/>
          <a:p>
            <a:pPr algn="l">
              <a:defRPr sz="1238" b="0">
                <a:solidFill>
                  <a:srgbClr val="151A22"/>
                </a:solidFill>
                <a:latin typeface="Malgun Gothic"/>
                <a:ea typeface="Malgun Gothic"/>
                <a:cs typeface="Malgun Gothic"/>
              </a:defRPr>
            </a:pPr>
            <a:r>
              <a:rPr lang="en-US" altLang="ko-KR" sz="1300" b="0" dirty="0">
                <a:solidFill>
                  <a:srgbClr val="151A22"/>
                </a:solidFill>
                <a:latin typeface="Malgun Gothic"/>
                <a:ea typeface="Malgun Gothic"/>
                <a:cs typeface="Malgun Gothic"/>
              </a:rPr>
              <a:t>Pending</a:t>
            </a:r>
            <a:r>
              <a:rPr lang="ko-KR" altLang="en-US" sz="1300" b="0" dirty="0">
                <a:solidFill>
                  <a:srgbClr val="151A22"/>
                </a:solidFill>
                <a:latin typeface="Malgun Gothic"/>
                <a:ea typeface="Malgun Gothic"/>
                <a:cs typeface="Malgun Gothic"/>
              </a:rPr>
              <a:t>은 아직 출력되지 않은 이벤트를 </a:t>
            </a:r>
            <a:r>
              <a:rPr lang="en-US" altLang="ko-KR" sz="1300" b="0" dirty="0">
                <a:solidFill>
                  <a:srgbClr val="151A22"/>
                </a:solidFill>
                <a:latin typeface="Malgun Gothic"/>
                <a:ea typeface="Malgun Gothic"/>
                <a:cs typeface="Malgun Gothic"/>
              </a:rPr>
              <a:t>Source</a:t>
            </a:r>
            <a:r>
              <a:rPr lang="ko-KR" altLang="en-US" sz="1300" b="0" dirty="0">
                <a:solidFill>
                  <a:srgbClr val="151A22"/>
                </a:solidFill>
                <a:latin typeface="Malgun Gothic"/>
                <a:ea typeface="Malgun Gothic"/>
                <a:cs typeface="Malgun Gothic"/>
              </a:rPr>
              <a:t>별로 한 개 보관하는 대기 공간이다</a:t>
            </a:r>
            <a:r>
              <a:rPr lang="en-US" altLang="ko-KR" sz="1300" b="0" dirty="0">
                <a:solidFill>
                  <a:srgbClr val="151A22"/>
                </a:solidFill>
                <a:latin typeface="Malgun Gothic"/>
                <a:ea typeface="Malgun Gothic"/>
                <a:cs typeface="Malgun Gothic"/>
              </a:rPr>
              <a:t>. </a:t>
            </a:r>
            <a:r>
              <a:rPr lang="ko-KR" altLang="en-US" sz="1300" b="0" dirty="0">
                <a:solidFill>
                  <a:srgbClr val="151A22"/>
                </a:solidFill>
                <a:latin typeface="Malgun Gothic"/>
                <a:ea typeface="Malgun Gothic"/>
                <a:cs typeface="Malgun Gothic"/>
              </a:rPr>
              <a:t>이벤트가 </a:t>
            </a:r>
            <a:r>
              <a:rPr lang="en-US" altLang="ko-KR" sz="1300" b="0" dirty="0">
                <a:solidFill>
                  <a:srgbClr val="151A22"/>
                </a:solidFill>
                <a:latin typeface="Malgun Gothic"/>
                <a:ea typeface="Malgun Gothic"/>
                <a:cs typeface="Malgun Gothic"/>
              </a:rPr>
              <a:t>Pending </a:t>
            </a:r>
            <a:r>
              <a:rPr lang="ko-KR" altLang="en-US" sz="1300" b="0" dirty="0">
                <a:solidFill>
                  <a:srgbClr val="151A22"/>
                </a:solidFill>
                <a:latin typeface="Malgun Gothic"/>
                <a:ea typeface="Malgun Gothic"/>
                <a:cs typeface="Malgun Gothic"/>
              </a:rPr>
              <a:t>또는 빈 </a:t>
            </a:r>
            <a:r>
              <a:rPr lang="en-US" altLang="ko-KR" sz="1300" b="0" dirty="0">
                <a:solidFill>
                  <a:srgbClr val="151A22"/>
                </a:solidFill>
                <a:latin typeface="Malgun Gothic"/>
                <a:ea typeface="Malgun Gothic"/>
                <a:cs typeface="Malgun Gothic"/>
              </a:rPr>
              <a:t>Output Register</a:t>
            </a:r>
            <a:r>
              <a:rPr lang="ko-KR" altLang="en-US" sz="1300" b="0" dirty="0">
                <a:solidFill>
                  <a:srgbClr val="151A22"/>
                </a:solidFill>
                <a:latin typeface="Malgun Gothic"/>
                <a:ea typeface="Malgun Gothic"/>
                <a:cs typeface="Malgun Gothic"/>
              </a:rPr>
              <a:t>에 기록되면 </a:t>
            </a:r>
            <a:r>
              <a:rPr lang="en-US" altLang="ko-KR" sz="1300" b="0" dirty="0">
                <a:solidFill>
                  <a:srgbClr val="151A22"/>
                </a:solidFill>
                <a:latin typeface="Malgun Gothic"/>
                <a:ea typeface="Malgun Gothic"/>
                <a:cs typeface="Malgun Gothic"/>
              </a:rPr>
              <a:t>Controller</a:t>
            </a:r>
            <a:r>
              <a:rPr lang="ko-KR" altLang="en-US" sz="1300" b="0" dirty="0">
                <a:solidFill>
                  <a:srgbClr val="151A22"/>
                </a:solidFill>
                <a:latin typeface="Malgun Gothic"/>
                <a:ea typeface="Malgun Gothic"/>
                <a:cs typeface="Malgun Gothic"/>
              </a:rPr>
              <a:t>가 소유권을 넘겨받았다는 </a:t>
            </a:r>
            <a:r>
              <a:rPr lang="en-US" altLang="ko-KR" sz="1300" b="0" dirty="0">
                <a:solidFill>
                  <a:srgbClr val="151A22"/>
                </a:solidFill>
                <a:latin typeface="Malgun Gothic"/>
                <a:ea typeface="Malgun Gothic"/>
                <a:cs typeface="Malgun Gothic"/>
              </a:rPr>
              <a:t>Early ACK</a:t>
            </a:r>
            <a:r>
              <a:rPr lang="ko-KR" altLang="en-US" sz="1300" b="0" dirty="0">
                <a:solidFill>
                  <a:srgbClr val="151A22"/>
                </a:solidFill>
                <a:latin typeface="Malgun Gothic"/>
                <a:ea typeface="Malgun Gothic"/>
                <a:cs typeface="Malgun Gothic"/>
              </a:rPr>
              <a:t>를 보낸다</a:t>
            </a:r>
            <a:r>
              <a:rPr lang="en-US" altLang="ko-KR" sz="1300" b="0" dirty="0">
                <a:solidFill>
                  <a:srgbClr val="151A22"/>
                </a:solidFill>
                <a:latin typeface="Malgun Gothic"/>
                <a:ea typeface="Malgun Gothic"/>
                <a:cs typeface="Malgun Gothic"/>
              </a:rPr>
              <a:t>. Pending</a:t>
            </a:r>
            <a:r>
              <a:rPr lang="ko-KR" altLang="en-US" sz="1300" b="0" dirty="0">
                <a:solidFill>
                  <a:srgbClr val="151A22"/>
                </a:solidFill>
                <a:latin typeface="Malgun Gothic"/>
                <a:ea typeface="Malgun Gothic"/>
                <a:cs typeface="Malgun Gothic"/>
              </a:rPr>
              <a:t>을 두게 되면 </a:t>
            </a:r>
            <a:r>
              <a:rPr lang="en-US" altLang="ko-KR" sz="1300" b="0" dirty="0">
                <a:solidFill>
                  <a:srgbClr val="151A22"/>
                </a:solidFill>
                <a:latin typeface="Malgun Gothic"/>
                <a:ea typeface="Malgun Gothic"/>
                <a:cs typeface="Malgun Gothic"/>
              </a:rPr>
              <a:t>AER</a:t>
            </a:r>
            <a:r>
              <a:rPr lang="ko-KR" altLang="en-US" sz="1300" b="0" dirty="0">
                <a:solidFill>
                  <a:srgbClr val="151A22"/>
                </a:solidFill>
                <a:latin typeface="Malgun Gothic"/>
                <a:ea typeface="Malgun Gothic"/>
                <a:cs typeface="Malgun Gothic"/>
              </a:rPr>
              <a:t>은 </a:t>
            </a:r>
            <a:r>
              <a:rPr lang="en-US" altLang="ko-KR" sz="1300" dirty="0">
                <a:solidFill>
                  <a:srgbClr val="151A22"/>
                </a:solidFill>
                <a:latin typeface="Malgun Gothic"/>
                <a:ea typeface="Malgun Gothic"/>
                <a:cs typeface="Malgun Gothic"/>
              </a:rPr>
              <a:t>Output Register</a:t>
            </a:r>
            <a:r>
              <a:rPr lang="ko-KR" altLang="en-US" sz="1300" dirty="0">
                <a:solidFill>
                  <a:srgbClr val="151A22"/>
                </a:solidFill>
                <a:latin typeface="Malgun Gothic"/>
                <a:ea typeface="Malgun Gothic"/>
                <a:cs typeface="Malgun Gothic"/>
              </a:rPr>
              <a:t>가 </a:t>
            </a:r>
            <a:r>
              <a:rPr lang="ko-KR" altLang="en-US" sz="1300" dirty="0" err="1">
                <a:solidFill>
                  <a:srgbClr val="151A22"/>
                </a:solidFill>
                <a:latin typeface="Malgun Gothic"/>
                <a:ea typeface="Malgun Gothic"/>
                <a:cs typeface="Malgun Gothic"/>
              </a:rPr>
              <a:t>비어있지</a:t>
            </a:r>
            <a:r>
              <a:rPr lang="ko-KR" altLang="en-US" sz="1300" dirty="0">
                <a:solidFill>
                  <a:srgbClr val="151A22"/>
                </a:solidFill>
                <a:latin typeface="Malgun Gothic"/>
                <a:ea typeface="Malgun Gothic"/>
                <a:cs typeface="Malgun Gothic"/>
              </a:rPr>
              <a:t> 않아도 </a:t>
            </a:r>
            <a:r>
              <a:rPr lang="en-US" altLang="ko-KR" sz="1300" b="0" dirty="0" err="1">
                <a:solidFill>
                  <a:srgbClr val="151A22"/>
                </a:solidFill>
                <a:latin typeface="Malgun Gothic"/>
                <a:ea typeface="Malgun Gothic"/>
                <a:cs typeface="Malgun Gothic"/>
              </a:rPr>
              <a:t>src_req</a:t>
            </a:r>
            <a:r>
              <a:rPr lang="ko-KR" altLang="en-US" sz="1300" b="0" dirty="0">
                <a:solidFill>
                  <a:srgbClr val="151A22"/>
                </a:solidFill>
                <a:latin typeface="Malgun Gothic"/>
                <a:ea typeface="Malgun Gothic"/>
                <a:cs typeface="Malgun Gothic"/>
              </a:rPr>
              <a:t>를 길게 잡고 있을 필요가 없어진다</a:t>
            </a:r>
            <a:r>
              <a:rPr lang="en-US" altLang="ko-KR" sz="1300" b="0" dirty="0">
                <a:solidFill>
                  <a:srgbClr val="151A22"/>
                </a:solidFill>
                <a:latin typeface="Malgun Gothic"/>
                <a:ea typeface="Malgun Gothic"/>
                <a:cs typeface="Malgun Gothic"/>
              </a:rPr>
              <a:t>.</a:t>
            </a:r>
            <a:endParaRPr sz="1300" b="0" dirty="0">
              <a:solidFill>
                <a:srgbClr val="151A22"/>
              </a:solidFill>
              <a:latin typeface="Malgun Gothic"/>
              <a:ea typeface="Malgun Gothic"/>
              <a:cs typeface="Malgun Gothic"/>
            </a:endParaRPr>
          </a:p>
        </p:txBody>
      </p:sp>
      <p:sp>
        <p:nvSpPr>
          <p:cNvPr id="13" name="직사각형 12">
            <a:extLst>
              <a:ext uri="{FF2B5EF4-FFF2-40B4-BE49-F238E27FC236}">
                <a16:creationId xmlns:a16="http://schemas.microsoft.com/office/drawing/2014/main" id="{B58E4C8C-05AA-4C21-822A-E781319194BD}"/>
              </a:ext>
            </a:extLst>
          </p:cNvPr>
          <p:cNvSpPr>
            <a:spLocks noGrp="1"/>
          </p:cNvSpPr>
          <p:nvPr/>
        </p:nvSpPr>
        <p:spPr>
          <a:xfrm>
            <a:off x="6286500" y="4857750"/>
            <a:ext cx="5286375" cy="323850"/>
          </a:xfrm>
          <a:prstGeom prst="rect">
            <a:avLst/>
          </a:prstGeom>
          <a:noFill/>
          <a:ln w="0">
            <a:noFill/>
            <a:prstDash val="solid"/>
          </a:ln>
        </p:spPr>
        <p:txBody>
          <a:bodyPr wrap="square" lIns="19050" tIns="19050" rIns="19050" bIns="19050" anchor="t">
            <a:normAutofit/>
          </a:bodyPr>
          <a:lstStyle/>
          <a:p>
            <a:pPr algn="l">
              <a:defRPr sz="1800" b="0">
                <a:solidFill>
                  <a:srgbClr val="2D5FE5"/>
                </a:solidFill>
                <a:latin typeface="Malgun Gothic"/>
                <a:ea typeface="Malgun Gothic"/>
                <a:cs typeface="Malgun Gothic"/>
              </a:defRPr>
            </a:pPr>
            <a:r>
              <a:rPr sz="1800" b="0">
                <a:solidFill>
                  <a:srgbClr val="2D5FE5"/>
                </a:solidFill>
                <a:latin typeface="Malgun Gothic"/>
                <a:ea typeface="Malgun Gothic"/>
                <a:cs typeface="Malgun Gothic"/>
              </a:rPr>
              <a:t>Valid/Ready와 Backpressure 격리</a:t>
            </a:r>
          </a:p>
        </p:txBody>
      </p:sp>
      <p:sp>
        <p:nvSpPr>
          <p:cNvPr id="14" name="직사각형 13">
            <a:extLst>
              <a:ext uri="{FF2B5EF4-FFF2-40B4-BE49-F238E27FC236}">
                <a16:creationId xmlns:a16="http://schemas.microsoft.com/office/drawing/2014/main" id="{F7A8A10F-56AE-453D-AF8A-351E55756319}"/>
              </a:ext>
            </a:extLst>
          </p:cNvPr>
          <p:cNvSpPr>
            <a:spLocks noGrp="1"/>
          </p:cNvSpPr>
          <p:nvPr/>
        </p:nvSpPr>
        <p:spPr>
          <a:xfrm>
            <a:off x="6286500" y="5219700"/>
            <a:ext cx="1333500" cy="28575"/>
          </a:xfrm>
          <a:prstGeom prst="rect">
            <a:avLst/>
          </a:prstGeom>
          <a:solidFill>
            <a:srgbClr val="2D5FE5"/>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B293082C-5514-4B58-9777-5C7124F0BE83}"/>
              </a:ext>
            </a:extLst>
          </p:cNvPr>
          <p:cNvSpPr>
            <a:spLocks noGrp="1"/>
          </p:cNvSpPr>
          <p:nvPr/>
        </p:nvSpPr>
        <p:spPr>
          <a:xfrm>
            <a:off x="6286500" y="5295900"/>
            <a:ext cx="5435003" cy="1276350"/>
          </a:xfrm>
          <a:prstGeom prst="rect">
            <a:avLst/>
          </a:prstGeom>
          <a:noFill/>
          <a:ln w="0">
            <a:noFill/>
            <a:prstDash val="solid"/>
          </a:ln>
        </p:spPr>
        <p:txBody>
          <a:bodyPr wrap="square" lIns="19050" tIns="19050" rIns="19050" bIns="19050" anchor="t">
            <a:normAutofit fontScale="99429"/>
          </a:bodyPr>
          <a:lstStyle/>
          <a:p>
            <a:pPr algn="l">
              <a:defRPr sz="1238" b="0">
                <a:solidFill>
                  <a:srgbClr val="151A22"/>
                </a:solidFill>
                <a:latin typeface="Malgun Gothic"/>
                <a:ea typeface="Malgun Gothic"/>
                <a:cs typeface="Malgun Gothic"/>
              </a:defRPr>
            </a:pPr>
            <a:r>
              <a:rPr sz="1300" b="0" dirty="0">
                <a:solidFill>
                  <a:srgbClr val="151A22"/>
                </a:solidFill>
                <a:latin typeface="Malgun Gothic"/>
                <a:ea typeface="Malgun Gothic"/>
                <a:cs typeface="Malgun Gothic"/>
              </a:rPr>
              <a:t>valid=1은 </a:t>
            </a:r>
            <a:r>
              <a:rPr lang="en-US" sz="1300" dirty="0">
                <a:solidFill>
                  <a:srgbClr val="151A22"/>
                </a:solidFill>
                <a:latin typeface="Malgun Gothic"/>
                <a:ea typeface="Malgun Gothic"/>
                <a:cs typeface="Malgun Gothic"/>
              </a:rPr>
              <a:t>Receiver</a:t>
            </a:r>
            <a:r>
              <a:rPr lang="ko-KR" altLang="en-US" sz="1300" dirty="0">
                <a:solidFill>
                  <a:srgbClr val="151A22"/>
                </a:solidFill>
                <a:latin typeface="Malgun Gothic"/>
                <a:ea typeface="Malgun Gothic"/>
                <a:cs typeface="Malgun Gothic"/>
              </a:rPr>
              <a:t>에게 전달할</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이벤트가</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있다는</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뜻이고</a:t>
            </a:r>
            <a:r>
              <a:rPr sz="1300" b="0" dirty="0">
                <a:solidFill>
                  <a:srgbClr val="151A22"/>
                </a:solidFill>
                <a:latin typeface="Malgun Gothic"/>
                <a:ea typeface="Malgun Gothic"/>
                <a:cs typeface="Malgun Gothic"/>
              </a:rPr>
              <a:t> ready=1은 </a:t>
            </a:r>
            <a:r>
              <a:rPr sz="1300" b="0" dirty="0" err="1">
                <a:solidFill>
                  <a:srgbClr val="151A22"/>
                </a:solidFill>
                <a:latin typeface="Malgun Gothic"/>
                <a:ea typeface="Malgun Gothic"/>
                <a:cs typeface="Malgun Gothic"/>
              </a:rPr>
              <a:t>Receiver가</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받을</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준비가</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됐다는</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뜻이다</a:t>
            </a:r>
            <a:r>
              <a:rPr sz="1300" b="0" dirty="0">
                <a:solidFill>
                  <a:srgbClr val="151A22"/>
                </a:solidFill>
                <a:latin typeface="Malgun Gothic"/>
                <a:ea typeface="Malgun Gothic"/>
                <a:cs typeface="Malgun Gothic"/>
              </a:rPr>
              <a:t>. ready=0이면 </a:t>
            </a:r>
            <a:r>
              <a:rPr sz="1300" b="0" dirty="0" err="1">
                <a:solidFill>
                  <a:srgbClr val="151A22"/>
                </a:solidFill>
                <a:latin typeface="Malgun Gothic"/>
                <a:ea typeface="Malgun Gothic"/>
                <a:cs typeface="Malgun Gothic"/>
              </a:rPr>
              <a:t>주소와</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valid를</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유지하면서</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다른</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이벤트는</a:t>
            </a:r>
            <a:r>
              <a:rPr sz="1300" b="0" dirty="0">
                <a:solidFill>
                  <a:srgbClr val="151A22"/>
                </a:solidFill>
                <a:latin typeface="Malgun Gothic"/>
                <a:ea typeface="Malgun Gothic"/>
                <a:cs typeface="Malgun Gothic"/>
              </a:rPr>
              <a:t> 빈 </a:t>
            </a:r>
            <a:r>
              <a:rPr sz="1300" b="0" dirty="0" err="1">
                <a:solidFill>
                  <a:srgbClr val="151A22"/>
                </a:solidFill>
                <a:latin typeface="Malgun Gothic"/>
                <a:ea typeface="Malgun Gothic"/>
                <a:cs typeface="Malgun Gothic"/>
              </a:rPr>
              <a:t>Pending에</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저장한다</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backlog가</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충분하면</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최대</a:t>
            </a:r>
            <a:r>
              <a:rPr sz="1300" b="0" dirty="0">
                <a:solidFill>
                  <a:srgbClr val="151A22"/>
                </a:solidFill>
                <a:latin typeface="Malgun Gothic"/>
                <a:ea typeface="Malgun Gothic"/>
                <a:cs typeface="Malgun Gothic"/>
              </a:rPr>
              <a:t> 1 event/</a:t>
            </a:r>
            <a:r>
              <a:rPr sz="1300" b="0" dirty="0" err="1">
                <a:solidFill>
                  <a:srgbClr val="151A22"/>
                </a:solidFill>
                <a:latin typeface="Malgun Gothic"/>
                <a:ea typeface="Malgun Gothic"/>
                <a:cs typeface="Malgun Gothic"/>
              </a:rPr>
              <a:t>clock으로</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연속</a:t>
            </a:r>
            <a:r>
              <a:rPr sz="1300" b="0" dirty="0">
                <a:solidFill>
                  <a:srgbClr val="151A22"/>
                </a:solidFill>
                <a:latin typeface="Malgun Gothic"/>
                <a:ea typeface="Malgun Gothic"/>
                <a:cs typeface="Malgun Gothic"/>
              </a:rPr>
              <a:t> </a:t>
            </a:r>
            <a:r>
              <a:rPr sz="1300" b="0" dirty="0" err="1">
                <a:solidFill>
                  <a:srgbClr val="151A22"/>
                </a:solidFill>
                <a:latin typeface="Malgun Gothic"/>
                <a:ea typeface="Malgun Gothic"/>
                <a:cs typeface="Malgun Gothic"/>
              </a:rPr>
              <a:t>전송한다</a:t>
            </a:r>
            <a:r>
              <a:rPr sz="1300" b="0" dirty="0">
                <a:solidFill>
                  <a:srgbClr val="151A22"/>
                </a:solidFill>
                <a:latin typeface="Malgun Gothic"/>
                <a:ea typeface="Malgun Gothic"/>
                <a:cs typeface="Malgun Gothic"/>
              </a:rPr>
              <a:t>. Pending 16개와 Output Register 1개로 </a:t>
            </a:r>
            <a:r>
              <a:rPr sz="1300" b="0" dirty="0" err="1">
                <a:solidFill>
                  <a:srgbClr val="151A22"/>
                </a:solidFill>
                <a:latin typeface="Malgun Gothic"/>
                <a:ea typeface="Malgun Gothic"/>
                <a:cs typeface="Malgun Gothic"/>
              </a:rPr>
              <a:t>최대</a:t>
            </a:r>
            <a:r>
              <a:rPr sz="1300" b="0" dirty="0">
                <a:solidFill>
                  <a:srgbClr val="151A22"/>
                </a:solidFill>
                <a:latin typeface="Malgun Gothic"/>
                <a:ea typeface="Malgun Gothic"/>
                <a:cs typeface="Malgun Gothic"/>
              </a:rPr>
              <a:t> 17개를 </a:t>
            </a:r>
            <a:r>
              <a:rPr sz="1300" b="0" dirty="0" err="1">
                <a:solidFill>
                  <a:srgbClr val="151A22"/>
                </a:solidFill>
                <a:latin typeface="Malgun Gothic"/>
                <a:ea typeface="Malgun Gothic"/>
                <a:cs typeface="Malgun Gothic"/>
              </a:rPr>
              <a:t>보관한다</a:t>
            </a:r>
            <a:r>
              <a:rPr sz="1300" b="0" dirty="0">
                <a:solidFill>
                  <a:srgbClr val="151A22"/>
                </a:solidFill>
                <a:latin typeface="Malgun Gothic"/>
                <a:ea typeface="Malgun Gothic"/>
                <a:cs typeface="Malgun Gothic"/>
              </a:rPr>
              <a:t>.</a:t>
            </a:r>
          </a:p>
        </p:txBody>
      </p:sp>
      <p:pic>
        <p:nvPicPr>
          <p:cNvPr id="9" name="그림 8">
            <a:extLst>
              <a:ext uri="{FF2B5EF4-FFF2-40B4-BE49-F238E27FC236}">
                <a16:creationId xmlns:a16="http://schemas.microsoft.com/office/drawing/2014/main" id="{583C3B9E-CB79-4039-D3D1-FE09FF32881E}"/>
              </a:ext>
            </a:extLst>
          </p:cNvPr>
          <p:cNvPicPr>
            <a:picLocks noChangeAspect="1"/>
          </p:cNvPicPr>
          <p:nvPr/>
        </p:nvPicPr>
        <p:blipFill>
          <a:blip r:embed="rId3"/>
          <a:stretch/>
        </p:blipFill>
        <p:spPr>
          <a:xfrm>
            <a:off x="11285208" y="133349"/>
            <a:ext cx="900000" cy="900000"/>
          </a:xfrm>
          <a:prstGeom prst="rect">
            <a:avLst/>
          </a:prstGeom>
        </p:spPr>
      </p:pic>
      <p:pic>
        <p:nvPicPr>
          <p:cNvPr id="6" name="그래픽 5">
            <a:extLst>
              <a:ext uri="{FF2B5EF4-FFF2-40B4-BE49-F238E27FC236}">
                <a16:creationId xmlns:a16="http://schemas.microsoft.com/office/drawing/2014/main" id="{B9FC66E7-DE62-0B0A-679B-9C65CE74F2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1174" y="1110964"/>
            <a:ext cx="7937202" cy="3571740"/>
          </a:xfrm>
          <a:prstGeom prst="rect">
            <a:avLst/>
          </a:prstGeom>
        </p:spPr>
      </p:pic>
      <p:sp>
        <p:nvSpPr>
          <p:cNvPr id="7" name="직사각형 6">
            <a:extLst>
              <a:ext uri="{FF2B5EF4-FFF2-40B4-BE49-F238E27FC236}">
                <a16:creationId xmlns:a16="http://schemas.microsoft.com/office/drawing/2014/main" id="{6FADE2B3-4F57-89A5-FB8B-1E41B537B299}"/>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715235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BA4C3332-5EE8-4CA7-ACE3-34EA7A2549C5}"/>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7">
            <a:extLst>
              <a:ext uri="{FF2B5EF4-FFF2-40B4-BE49-F238E27FC236}">
                <a16:creationId xmlns:a16="http://schemas.microsoft.com/office/drawing/2014/main" id="{E35AB33B-8D04-4F2E-8061-C667E1B38BA6}"/>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lang="ko-KR" altLang="en-US" sz="2625" b="0" dirty="0">
                <a:solidFill>
                  <a:srgbClr val="151A22"/>
                </a:solidFill>
                <a:latin typeface="Malgun Gothic"/>
                <a:ea typeface="Malgun Gothic"/>
                <a:cs typeface="Malgun Gothic"/>
              </a:rPr>
              <a:t>개선 방안 </a:t>
            </a:r>
            <a:r>
              <a:rPr lang="en-US" altLang="ko-KR" sz="2625" b="0" dirty="0">
                <a:solidFill>
                  <a:srgbClr val="151A22"/>
                </a:solidFill>
                <a:latin typeface="Malgun Gothic"/>
                <a:ea typeface="Malgun Gothic"/>
                <a:cs typeface="Malgun Gothic"/>
              </a:rPr>
              <a:t>- </a:t>
            </a:r>
            <a:r>
              <a:rPr sz="2625" b="0" dirty="0">
                <a:solidFill>
                  <a:srgbClr val="151A22"/>
                </a:solidFill>
                <a:latin typeface="Malgun Gothic"/>
                <a:ea typeface="Malgun Gothic"/>
                <a:cs typeface="Malgun Gothic"/>
              </a:rPr>
              <a:t>Gray </a:t>
            </a:r>
            <a:r>
              <a:rPr sz="2625" b="0" dirty="0" err="1">
                <a:solidFill>
                  <a:srgbClr val="151A22"/>
                </a:solidFill>
                <a:latin typeface="Malgun Gothic"/>
                <a:ea typeface="Malgun Gothic"/>
                <a:cs typeface="Malgun Gothic"/>
              </a:rPr>
              <a:t>기반</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공정</a:t>
            </a:r>
            <a:r>
              <a:rPr sz="2625" b="0" dirty="0">
                <a:solidFill>
                  <a:srgbClr val="151A22"/>
                </a:solidFill>
                <a:latin typeface="Malgun Gothic"/>
                <a:ea typeface="Malgun Gothic"/>
                <a:cs typeface="Malgun Gothic"/>
              </a:rPr>
              <a:t> </a:t>
            </a:r>
            <a:r>
              <a:rPr sz="2625" b="0" dirty="0" err="1">
                <a:solidFill>
                  <a:srgbClr val="151A22"/>
                </a:solidFill>
                <a:latin typeface="Malgun Gothic"/>
                <a:ea typeface="Malgun Gothic"/>
                <a:cs typeface="Malgun Gothic"/>
              </a:rPr>
              <a:t>중재</a:t>
            </a:r>
            <a:endParaRPr sz="2625" b="0" dirty="0">
              <a:solidFill>
                <a:srgbClr val="151A22"/>
              </a:solidFill>
              <a:latin typeface="Malgun Gothic"/>
              <a:ea typeface="Malgun Gothic"/>
              <a:cs typeface="Malgun Gothic"/>
            </a:endParaRPr>
          </a:p>
        </p:txBody>
      </p:sp>
      <p:sp>
        <p:nvSpPr>
          <p:cNvPr id="3" name="section-7">
            <a:extLst>
              <a:ext uri="{FF2B5EF4-FFF2-40B4-BE49-F238E27FC236}">
                <a16:creationId xmlns:a16="http://schemas.microsoft.com/office/drawing/2014/main" id="{0046CB43-336E-4D27-8FC6-FAE3451CF7EE}"/>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FAIR ARBITRATION</a:t>
            </a:r>
          </a:p>
        </p:txBody>
      </p:sp>
      <p:sp>
        <p:nvSpPr>
          <p:cNvPr id="4" name="직사각형 3">
            <a:extLst>
              <a:ext uri="{FF2B5EF4-FFF2-40B4-BE49-F238E27FC236}">
                <a16:creationId xmlns:a16="http://schemas.microsoft.com/office/drawing/2014/main" id="{3F5192D8-19CB-4F8E-BCBE-ED6415D50F98}"/>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D6A55A6A-C27D-45BA-9F8B-6DA35B126E98}"/>
              </a:ext>
            </a:extLst>
          </p:cNvPr>
          <p:cNvSpPr>
            <a:spLocks noGrp="1"/>
          </p:cNvSpPr>
          <p:nvPr/>
        </p:nvSpPr>
        <p:spPr>
          <a:xfrm>
            <a:off x="628650" y="1333500"/>
            <a:ext cx="7239000" cy="323850"/>
          </a:xfrm>
          <a:prstGeom prst="rect">
            <a:avLst/>
          </a:prstGeom>
          <a:noFill/>
          <a:ln w="0">
            <a:noFill/>
            <a:prstDash val="solid"/>
          </a:ln>
        </p:spPr>
        <p:txBody>
          <a:bodyPr wrap="square" lIns="19050" tIns="19050" rIns="19050" bIns="19050" anchor="t">
            <a:normAutofit/>
          </a:bodyPr>
          <a:lstStyle/>
          <a:p>
            <a:pPr algn="l">
              <a:defRPr sz="1800" b="0">
                <a:solidFill>
                  <a:srgbClr val="088B94"/>
                </a:solidFill>
                <a:latin typeface="Malgun Gothic"/>
                <a:ea typeface="Malgun Gothic"/>
                <a:cs typeface="Malgun Gothic"/>
              </a:defRPr>
            </a:pPr>
            <a:r>
              <a:rPr sz="1800" b="0" dirty="0">
                <a:solidFill>
                  <a:srgbClr val="088B94"/>
                </a:solidFill>
                <a:latin typeface="Malgun Gothic"/>
                <a:ea typeface="Malgun Gothic"/>
                <a:cs typeface="Malgun Gothic"/>
              </a:rPr>
              <a:t>한 </a:t>
            </a:r>
            <a:r>
              <a:rPr sz="1800" b="0" dirty="0" err="1">
                <a:solidFill>
                  <a:srgbClr val="088B94"/>
                </a:solidFill>
                <a:latin typeface="Malgun Gothic"/>
                <a:ea typeface="Malgun Gothic"/>
                <a:cs typeface="Malgun Gothic"/>
              </a:rPr>
              <a:t>bit씩</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바뀌는</a:t>
            </a:r>
            <a:r>
              <a:rPr sz="1800" b="0" dirty="0">
                <a:solidFill>
                  <a:srgbClr val="088B94"/>
                </a:solidFill>
                <a:latin typeface="Malgun Gothic"/>
                <a:ea typeface="Malgun Gothic"/>
                <a:cs typeface="Malgun Gothic"/>
              </a:rPr>
              <a:t> 16단계 </a:t>
            </a:r>
            <a:r>
              <a:rPr sz="1800" b="0" dirty="0" err="1">
                <a:solidFill>
                  <a:srgbClr val="088B94"/>
                </a:solidFill>
                <a:latin typeface="Malgun Gothic"/>
                <a:ea typeface="Malgun Gothic"/>
                <a:cs typeface="Malgun Gothic"/>
              </a:rPr>
              <a:t>순환</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순서</a:t>
            </a:r>
            <a:r>
              <a:rPr lang="en-US" sz="1800" b="0" dirty="0">
                <a:solidFill>
                  <a:srgbClr val="088B94"/>
                </a:solidFill>
                <a:latin typeface="Malgun Gothic"/>
                <a:ea typeface="Malgun Gothic"/>
                <a:cs typeface="Malgun Gothic"/>
              </a:rPr>
              <a:t> Gray code</a:t>
            </a:r>
            <a:endParaRPr sz="1800" b="0" dirty="0">
              <a:solidFill>
                <a:srgbClr val="088B94"/>
              </a:solidFill>
              <a:latin typeface="Malgun Gothic"/>
              <a:ea typeface="Malgun Gothic"/>
              <a:cs typeface="Malgun Gothic"/>
            </a:endParaRPr>
          </a:p>
        </p:txBody>
      </p:sp>
      <p:sp>
        <p:nvSpPr>
          <p:cNvPr id="10" name="직사각형 9">
            <a:extLst>
              <a:ext uri="{FF2B5EF4-FFF2-40B4-BE49-F238E27FC236}">
                <a16:creationId xmlns:a16="http://schemas.microsoft.com/office/drawing/2014/main" id="{ED09813E-5C3C-4B3F-A9BE-622FDC8C86D2}"/>
              </a:ext>
            </a:extLst>
          </p:cNvPr>
          <p:cNvSpPr>
            <a:spLocks noGrp="1"/>
          </p:cNvSpPr>
          <p:nvPr/>
        </p:nvSpPr>
        <p:spPr>
          <a:xfrm>
            <a:off x="628650" y="1695450"/>
            <a:ext cx="1333500" cy="28575"/>
          </a:xfrm>
          <a:prstGeom prst="rect">
            <a:avLst/>
          </a:prstGeom>
          <a:solidFill>
            <a:srgbClr val="088B94"/>
          </a:solidFill>
          <a:ln w="0">
            <a:noFill/>
            <a:prstDash val="solid"/>
          </a:ln>
        </p:spPr>
        <p:txBody>
          <a:bodyPr/>
          <a:lstStyle/>
          <a:p>
            <a:endParaRPr lang="ko-KR" altLang="en-US"/>
          </a:p>
        </p:txBody>
      </p:sp>
      <p:sp>
        <p:nvSpPr>
          <p:cNvPr id="11" name="사각형: 둥근 모서리 10">
            <a:extLst>
              <a:ext uri="{FF2B5EF4-FFF2-40B4-BE49-F238E27FC236}">
                <a16:creationId xmlns:a16="http://schemas.microsoft.com/office/drawing/2014/main" id="{F17B7D63-3037-4D3E-A9A9-92B0F8DBB251}"/>
              </a:ext>
            </a:extLst>
          </p:cNvPr>
          <p:cNvSpPr>
            <a:spLocks noGrp="1"/>
          </p:cNvSpPr>
          <p:nvPr/>
        </p:nvSpPr>
        <p:spPr>
          <a:xfrm>
            <a:off x="906792" y="1963428"/>
            <a:ext cx="10378416" cy="819150"/>
          </a:xfrm>
          <a:prstGeom prst="roundRect">
            <a:avLst>
              <a:gd name="adj" fmla="val 7937"/>
            </a:avLst>
          </a:prstGeom>
          <a:solidFill>
            <a:srgbClr val="1E2C4F"/>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153EDEEA-32C8-40E5-8AC8-BCB474C4D0D4}"/>
              </a:ext>
            </a:extLst>
          </p:cNvPr>
          <p:cNvSpPr>
            <a:spLocks noGrp="1"/>
          </p:cNvSpPr>
          <p:nvPr/>
        </p:nvSpPr>
        <p:spPr>
          <a:xfrm>
            <a:off x="838200" y="2039628"/>
            <a:ext cx="10515600" cy="74295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Consolas"/>
                <a:ea typeface="Consolas"/>
                <a:cs typeface="Consolas"/>
              </a:defRPr>
            </a:pPr>
            <a:r>
              <a:rPr sz="1350" b="0">
                <a:solidFill>
                  <a:srgbClr val="FFFFFF"/>
                </a:solidFill>
                <a:latin typeface="Consolas"/>
                <a:ea typeface="Consolas"/>
                <a:cs typeface="Consolas"/>
              </a:rPr>
              <a:t>0(0000) → 1(0001) → 3(0011) → 2(0010) → 6(0110) → 7(0111) → 5(0101) → 4(0100)</a:t>
            </a:r>
          </a:p>
          <a:p>
            <a:pPr algn="ctr">
              <a:defRPr sz="1350" b="0">
                <a:solidFill>
                  <a:srgbClr val="FFFFFF"/>
                </a:solidFill>
                <a:latin typeface="Consolas"/>
                <a:ea typeface="Consolas"/>
                <a:cs typeface="Consolas"/>
              </a:defRPr>
            </a:pPr>
            <a:r>
              <a:rPr sz="1350" b="0">
                <a:solidFill>
                  <a:srgbClr val="FFFFFF"/>
                </a:solidFill>
                <a:latin typeface="Consolas"/>
                <a:ea typeface="Consolas"/>
                <a:cs typeface="Consolas"/>
              </a:rPr>
              <a:t>12(1100) → 13(1101) → 15(1111) → 14(1110) → 10(1010) → 11(1011) → 9(1001) → 8(1000) → 0</a:t>
            </a:r>
          </a:p>
        </p:txBody>
      </p:sp>
      <p:sp>
        <p:nvSpPr>
          <p:cNvPr id="13" name="직사각형 12">
            <a:extLst>
              <a:ext uri="{FF2B5EF4-FFF2-40B4-BE49-F238E27FC236}">
                <a16:creationId xmlns:a16="http://schemas.microsoft.com/office/drawing/2014/main" id="{8F1023FC-068C-4799-96F0-E8420A79F630}"/>
              </a:ext>
            </a:extLst>
          </p:cNvPr>
          <p:cNvSpPr>
            <a:spLocks noGrp="1"/>
          </p:cNvSpPr>
          <p:nvPr/>
        </p:nvSpPr>
        <p:spPr>
          <a:xfrm>
            <a:off x="628650" y="3120233"/>
            <a:ext cx="6858000" cy="323850"/>
          </a:xfrm>
          <a:prstGeom prst="rect">
            <a:avLst/>
          </a:prstGeom>
          <a:noFill/>
          <a:ln w="0">
            <a:noFill/>
            <a:prstDash val="solid"/>
          </a:ln>
        </p:spPr>
        <p:txBody>
          <a:bodyPr wrap="square" lIns="19050" tIns="19050" rIns="19050" bIns="19050" anchor="t">
            <a:normAutofit/>
          </a:bodyPr>
          <a:lstStyle/>
          <a:p>
            <a:pPr algn="l">
              <a:defRPr sz="1800" b="0">
                <a:solidFill>
                  <a:srgbClr val="E87A24"/>
                </a:solidFill>
                <a:latin typeface="Malgun Gothic"/>
                <a:ea typeface="Malgun Gothic"/>
                <a:cs typeface="Malgun Gothic"/>
              </a:defRPr>
            </a:pPr>
            <a:r>
              <a:rPr sz="1800" b="0">
                <a:solidFill>
                  <a:srgbClr val="E87A24"/>
                </a:solidFill>
                <a:latin typeface="Malgun Gothic"/>
                <a:ea typeface="Malgun Gothic"/>
                <a:cs typeface="Malgun Gothic"/>
              </a:rPr>
              <a:t>Fixed Priority의 starvation을 어떻게 줄이는가?</a:t>
            </a:r>
          </a:p>
        </p:txBody>
      </p:sp>
      <p:sp>
        <p:nvSpPr>
          <p:cNvPr id="14" name="직사각형 13">
            <a:extLst>
              <a:ext uri="{FF2B5EF4-FFF2-40B4-BE49-F238E27FC236}">
                <a16:creationId xmlns:a16="http://schemas.microsoft.com/office/drawing/2014/main" id="{0A68A3B7-B35C-4A81-99DD-C6B6528B7414}"/>
              </a:ext>
            </a:extLst>
          </p:cNvPr>
          <p:cNvSpPr>
            <a:spLocks noGrp="1"/>
          </p:cNvSpPr>
          <p:nvPr/>
        </p:nvSpPr>
        <p:spPr>
          <a:xfrm>
            <a:off x="628650" y="3482183"/>
            <a:ext cx="1333500" cy="28575"/>
          </a:xfrm>
          <a:prstGeom prst="rect">
            <a:avLst/>
          </a:prstGeom>
          <a:solidFill>
            <a:srgbClr val="E87A24"/>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68AFC9BE-BD3C-42ED-81D5-48899CE1E4F5}"/>
              </a:ext>
            </a:extLst>
          </p:cNvPr>
          <p:cNvSpPr>
            <a:spLocks noGrp="1"/>
          </p:cNvSpPr>
          <p:nvPr/>
        </p:nvSpPr>
        <p:spPr>
          <a:xfrm>
            <a:off x="628650" y="3596482"/>
            <a:ext cx="10934700" cy="1133476"/>
          </a:xfrm>
          <a:prstGeom prst="rect">
            <a:avLst/>
          </a:prstGeom>
          <a:noFill/>
          <a:ln w="0">
            <a:noFill/>
            <a:prstDash val="solid"/>
          </a:ln>
        </p:spPr>
        <p:txBody>
          <a:bodyPr wrap="square" lIns="19050" tIns="19050" rIns="19050" bIns="19050" anchor="t">
            <a:normAutofit/>
          </a:bodyPr>
          <a:lstStyle/>
          <a:p>
            <a:pPr>
              <a:defRPr sz="1350" b="0">
                <a:solidFill>
                  <a:srgbClr val="151A22"/>
                </a:solidFill>
                <a:latin typeface="Malgun Gothic"/>
                <a:ea typeface="Malgun Gothic"/>
                <a:cs typeface="Malgun Gothic"/>
              </a:defRPr>
            </a:pPr>
            <a:r>
              <a:rPr sz="1400" b="0" dirty="0" err="1">
                <a:solidFill>
                  <a:srgbClr val="151A22"/>
                </a:solidFill>
                <a:latin typeface="Malgun Gothic"/>
                <a:ea typeface="Malgun Gothic"/>
                <a:cs typeface="Malgun Gothic"/>
              </a:rPr>
              <a:t>고정</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우선순위는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낮은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번호의</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반복</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요청이</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높은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번호를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무기한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밀어낼</a:t>
            </a:r>
            <a:r>
              <a:rPr sz="1400" b="0" dirty="0">
                <a:solidFill>
                  <a:srgbClr val="151A22"/>
                </a:solidFill>
                <a:latin typeface="Malgun Gothic"/>
                <a:ea typeface="Malgun Gothic"/>
                <a:cs typeface="Malgun Gothic"/>
              </a:rPr>
              <a:t> 수 </a:t>
            </a:r>
            <a:r>
              <a:rPr sz="1400" b="0" dirty="0" err="1">
                <a:solidFill>
                  <a:srgbClr val="151A22"/>
                </a:solidFill>
                <a:latin typeface="Malgun Gothic"/>
                <a:ea typeface="Malgun Gothic"/>
                <a:cs typeface="Malgun Gothic"/>
              </a:rPr>
              <a:t>있다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개선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중재기는</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이벤트를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성공적으로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처리할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때마다</a:t>
            </a:r>
            <a:r>
              <a:rPr sz="1400" b="0" dirty="0">
                <a:solidFill>
                  <a:srgbClr val="151A22"/>
                </a:solidFill>
                <a:latin typeface="Malgun Gothic"/>
                <a:ea typeface="Malgun Gothic"/>
                <a:cs typeface="Malgun Gothic"/>
              </a:rPr>
              <a:t> Gray </a:t>
            </a:r>
            <a:r>
              <a:rPr sz="1400" b="0" dirty="0" err="1">
                <a:solidFill>
                  <a:srgbClr val="151A22"/>
                </a:solidFill>
                <a:latin typeface="Malgun Gothic"/>
                <a:ea typeface="Malgun Gothic"/>
                <a:cs typeface="Malgun Gothic"/>
              </a:rPr>
              <a:t>순서상의</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우선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위치를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이동시킨다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지속적으로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대기</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중인</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Source는</a:t>
            </a:r>
            <a:r>
              <a:rPr sz="1400" b="0" dirty="0">
                <a:solidFill>
                  <a:srgbClr val="151A22"/>
                </a:solidFill>
                <a:latin typeface="Malgun Gothic"/>
                <a:ea typeface="Malgun Gothic"/>
                <a:cs typeface="Malgun Gothic"/>
              </a:rPr>
              <a:t> Receiver </a:t>
            </a:r>
            <a:r>
              <a:rPr sz="1400" b="0" dirty="0" err="1">
                <a:solidFill>
                  <a:srgbClr val="151A22"/>
                </a:solidFill>
                <a:latin typeface="Malgun Gothic"/>
                <a:ea typeface="Malgun Gothic"/>
                <a:cs typeface="Malgun Gothic"/>
              </a:rPr>
              <a:t>stall을</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제외한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최대</a:t>
            </a:r>
            <a:r>
              <a:rPr sz="1400" b="0" dirty="0">
                <a:solidFill>
                  <a:srgbClr val="151A22"/>
                </a:solidFill>
                <a:latin typeface="Malgun Gothic"/>
                <a:ea typeface="Malgun Gothic"/>
                <a:cs typeface="Malgun Gothic"/>
              </a:rPr>
              <a:t> 16회의 </a:t>
            </a:r>
            <a:r>
              <a:rPr sz="1400" b="0" dirty="0" err="1">
                <a:solidFill>
                  <a:srgbClr val="151A22"/>
                </a:solidFill>
                <a:latin typeface="Malgun Gothic"/>
                <a:ea typeface="Malgun Gothic"/>
                <a:cs typeface="Malgun Gothic"/>
              </a:rPr>
              <a:t>정상적인</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처리</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결정</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안에</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기회를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얻는다</a:t>
            </a:r>
            <a:r>
              <a:rPr sz="1400" b="0" dirty="0">
                <a:solidFill>
                  <a:srgbClr val="151A22"/>
                </a:solidFill>
                <a:latin typeface="Malgun Gothic"/>
                <a:ea typeface="Malgun Gothic"/>
                <a:cs typeface="Malgun Gothic"/>
              </a:rPr>
              <a:t>.</a:t>
            </a:r>
            <a:br>
              <a:rPr lang="en-US" sz="1400" b="0" dirty="0">
                <a:solidFill>
                  <a:srgbClr val="151A22"/>
                </a:solidFill>
                <a:latin typeface="Malgun Gothic"/>
                <a:ea typeface="Malgun Gothic"/>
                <a:cs typeface="Malgun Gothic"/>
              </a:rPr>
            </a:br>
            <a:endParaRPr sz="1400" b="0" dirty="0">
              <a:solidFill>
                <a:srgbClr val="151A22"/>
              </a:solidFill>
              <a:latin typeface="Malgun Gothic"/>
              <a:ea typeface="Malgun Gothic"/>
              <a:cs typeface="Malgun Gothic"/>
            </a:endParaRPr>
          </a:p>
        </p:txBody>
      </p:sp>
      <p:pic>
        <p:nvPicPr>
          <p:cNvPr id="21" name="그림 20">
            <a:extLst>
              <a:ext uri="{FF2B5EF4-FFF2-40B4-BE49-F238E27FC236}">
                <a16:creationId xmlns:a16="http://schemas.microsoft.com/office/drawing/2014/main" id="{21256A73-2279-4342-0D9B-032161EF92B3}"/>
              </a:ext>
            </a:extLst>
          </p:cNvPr>
          <p:cNvPicPr>
            <a:picLocks noChangeAspect="1"/>
          </p:cNvPicPr>
          <p:nvPr/>
        </p:nvPicPr>
        <p:blipFill>
          <a:blip r:embed="rId3"/>
          <a:stretch/>
        </p:blipFill>
        <p:spPr>
          <a:xfrm>
            <a:off x="11285208" y="133349"/>
            <a:ext cx="900000" cy="900000"/>
          </a:xfrm>
          <a:prstGeom prst="rect">
            <a:avLst/>
          </a:prstGeom>
        </p:spPr>
      </p:pic>
      <p:sp>
        <p:nvSpPr>
          <p:cNvPr id="8" name="직사각형 7">
            <a:extLst>
              <a:ext uri="{FF2B5EF4-FFF2-40B4-BE49-F238E27FC236}">
                <a16:creationId xmlns:a16="http://schemas.microsoft.com/office/drawing/2014/main" id="{1098D87C-8F3D-A8C8-3CBB-4ACF63E18E7A}"/>
              </a:ext>
            </a:extLst>
          </p:cNvPr>
          <p:cNvSpPr>
            <a:spLocks noGrp="1"/>
          </p:cNvSpPr>
          <p:nvPr/>
        </p:nvSpPr>
        <p:spPr>
          <a:xfrm>
            <a:off x="628650" y="4453733"/>
            <a:ext cx="6858000" cy="323850"/>
          </a:xfrm>
          <a:prstGeom prst="rect">
            <a:avLst/>
          </a:prstGeom>
          <a:noFill/>
          <a:ln w="0">
            <a:noFill/>
            <a:prstDash val="solid"/>
          </a:ln>
        </p:spPr>
        <p:txBody>
          <a:bodyPr wrap="square" lIns="19050" tIns="19050" rIns="19050" bIns="19050" anchor="t">
            <a:normAutofit/>
          </a:bodyPr>
          <a:lstStyle/>
          <a:p>
            <a:pPr algn="l">
              <a:defRPr sz="1800" b="0">
                <a:solidFill>
                  <a:srgbClr val="E87A24"/>
                </a:solidFill>
                <a:latin typeface="Malgun Gothic"/>
                <a:ea typeface="Malgun Gothic"/>
                <a:cs typeface="Malgun Gothic"/>
              </a:defRPr>
            </a:pPr>
            <a:r>
              <a:rPr lang="en-US" sz="1800" b="0" dirty="0">
                <a:solidFill>
                  <a:srgbClr val="0070C0"/>
                </a:solidFill>
                <a:latin typeface="Malgun Gothic"/>
                <a:ea typeface="Malgun Gothic"/>
                <a:cs typeface="Malgun Gothic"/>
              </a:rPr>
              <a:t>Gray code</a:t>
            </a:r>
            <a:r>
              <a:rPr lang="ko-KR" altLang="en-US" sz="1800" b="0" dirty="0">
                <a:solidFill>
                  <a:srgbClr val="0070C0"/>
                </a:solidFill>
                <a:latin typeface="Malgun Gothic"/>
                <a:ea typeface="Malgun Gothic"/>
                <a:cs typeface="Malgun Gothic"/>
              </a:rPr>
              <a:t>가 전력적인 이점을 어떻게 만들어내는가</a:t>
            </a:r>
            <a:r>
              <a:rPr lang="en-US" altLang="ko-KR" sz="1800" b="0" dirty="0">
                <a:solidFill>
                  <a:srgbClr val="0070C0"/>
                </a:solidFill>
                <a:latin typeface="Malgun Gothic"/>
                <a:ea typeface="Malgun Gothic"/>
                <a:cs typeface="Malgun Gothic"/>
              </a:rPr>
              <a:t>?</a:t>
            </a:r>
            <a:endParaRPr sz="1800" b="0" dirty="0">
              <a:solidFill>
                <a:srgbClr val="0070C0"/>
              </a:solidFill>
              <a:latin typeface="Malgun Gothic"/>
              <a:ea typeface="Malgun Gothic"/>
              <a:cs typeface="Malgun Gothic"/>
            </a:endParaRPr>
          </a:p>
        </p:txBody>
      </p:sp>
      <p:sp>
        <p:nvSpPr>
          <p:cNvPr id="24" name="직사각형 23">
            <a:extLst>
              <a:ext uri="{FF2B5EF4-FFF2-40B4-BE49-F238E27FC236}">
                <a16:creationId xmlns:a16="http://schemas.microsoft.com/office/drawing/2014/main" id="{2D59E4B7-5780-8CC3-E5E5-FDA1B6FF41D4}"/>
              </a:ext>
            </a:extLst>
          </p:cNvPr>
          <p:cNvSpPr>
            <a:spLocks noGrp="1"/>
          </p:cNvSpPr>
          <p:nvPr/>
        </p:nvSpPr>
        <p:spPr>
          <a:xfrm>
            <a:off x="628650" y="4815683"/>
            <a:ext cx="1333500" cy="28575"/>
          </a:xfrm>
          <a:prstGeom prst="rect">
            <a:avLst/>
          </a:prstGeom>
          <a:solidFill>
            <a:srgbClr val="0070C0"/>
          </a:solidFill>
          <a:ln w="0">
            <a:solidFill>
              <a:srgbClr val="0070C0"/>
            </a:solidFill>
            <a:prstDash val="solid"/>
          </a:ln>
        </p:spPr>
        <p:txBody>
          <a:bodyPr/>
          <a:lstStyle/>
          <a:p>
            <a:endParaRPr lang="ko-KR" altLang="en-US">
              <a:solidFill>
                <a:srgbClr val="0070C0"/>
              </a:solidFill>
            </a:endParaRPr>
          </a:p>
        </p:txBody>
      </p:sp>
      <p:sp>
        <p:nvSpPr>
          <p:cNvPr id="26" name="직사각형 25">
            <a:extLst>
              <a:ext uri="{FF2B5EF4-FFF2-40B4-BE49-F238E27FC236}">
                <a16:creationId xmlns:a16="http://schemas.microsoft.com/office/drawing/2014/main" id="{253D3D91-D5FB-37B3-5520-D375D2CCB1FF}"/>
              </a:ext>
            </a:extLst>
          </p:cNvPr>
          <p:cNvSpPr>
            <a:spLocks noGrp="1"/>
          </p:cNvSpPr>
          <p:nvPr/>
        </p:nvSpPr>
        <p:spPr>
          <a:xfrm>
            <a:off x="628650" y="4929982"/>
            <a:ext cx="10934700" cy="1438276"/>
          </a:xfrm>
          <a:prstGeom prst="rect">
            <a:avLst/>
          </a:prstGeom>
          <a:noFill/>
          <a:ln w="0">
            <a:noFill/>
            <a:prstDash val="solid"/>
          </a:ln>
        </p:spPr>
        <p:txBody>
          <a:bodyPr wrap="square" lIns="19050" tIns="19050" rIns="19050" bIns="19050" anchor="t">
            <a:normAutofit/>
          </a:bodyPr>
          <a:lstStyle/>
          <a:p>
            <a:r>
              <a:rPr lang="ko-KR" altLang="ko-KR" sz="1400" dirty="0"/>
              <a:t>인접한 </a:t>
            </a:r>
            <a:r>
              <a:rPr lang="ko-KR" altLang="ko-KR" sz="1400" dirty="0" err="1"/>
              <a:t>Gray</a:t>
            </a:r>
            <a:r>
              <a:rPr lang="ko-KR" altLang="ko-KR" sz="1400" dirty="0"/>
              <a:t> 순번의 </a:t>
            </a:r>
            <a:r>
              <a:rPr lang="ko-KR" altLang="ko-KR" sz="1400" dirty="0" err="1"/>
              <a:t>Source를</a:t>
            </a:r>
            <a:r>
              <a:rPr lang="ko-KR" altLang="ko-KR" sz="1400" dirty="0"/>
              <a:t> 연속으로 처리하면 출력 주소에서 1bit만 바뀌므로, 여러 </a:t>
            </a:r>
            <a:r>
              <a:rPr lang="ko-KR" altLang="ko-KR" sz="1400" dirty="0" err="1"/>
              <a:t>bit가</a:t>
            </a:r>
            <a:r>
              <a:rPr lang="ko-KR" altLang="ko-KR" sz="1400" dirty="0"/>
              <a:t> 동시에 전환될 수 있는 </a:t>
            </a:r>
            <a:r>
              <a:rPr lang="ko-KR" altLang="ko-KR" sz="1400" dirty="0" err="1"/>
              <a:t>Binary</a:t>
            </a:r>
            <a:r>
              <a:rPr lang="ko-KR" altLang="ko-KR" sz="1400" dirty="0"/>
              <a:t> 순서보다</a:t>
            </a:r>
            <a:r>
              <a:rPr lang="en-US" altLang="ko-KR" sz="1400" dirty="0"/>
              <a:t> </a:t>
            </a:r>
            <a:r>
              <a:rPr lang="ko-KR" altLang="ko-KR" sz="1400" dirty="0"/>
              <a:t>버스의 동적 전력을 줄일 수 있다. 다만 요청이 드문 경우에는</a:t>
            </a:r>
            <a:r>
              <a:rPr lang="en-US" altLang="ko-KR" sz="1400" dirty="0"/>
              <a:t> </a:t>
            </a:r>
            <a:r>
              <a:rPr lang="ko-KR" altLang="en-US" sz="1400" dirty="0"/>
              <a:t>빈 </a:t>
            </a:r>
            <a:r>
              <a:rPr lang="ko-KR" altLang="ko-KR" sz="1400" dirty="0"/>
              <a:t>순번을 건너뛰어 다음 </a:t>
            </a:r>
            <a:r>
              <a:rPr lang="ko-KR" altLang="ko-KR" sz="1400" dirty="0" err="1"/>
              <a:t>Source를</a:t>
            </a:r>
            <a:r>
              <a:rPr lang="ko-KR" altLang="ko-KR" sz="1400" dirty="0"/>
              <a:t> 선택하므로,</a:t>
            </a:r>
            <a:r>
              <a:rPr lang="en-US" altLang="ko-KR" sz="1400" dirty="0"/>
              <a:t> </a:t>
            </a:r>
            <a:r>
              <a:rPr lang="ko-KR" altLang="ko-KR" sz="1400" dirty="0"/>
              <a:t>1bit 전환이 항상 보장되지는 않는다.</a:t>
            </a:r>
            <a:endParaRPr lang="en-US" altLang="ko-KR" sz="1400" dirty="0"/>
          </a:p>
          <a:p>
            <a:endParaRPr lang="ko-KR" altLang="ko-KR" sz="1400" dirty="0"/>
          </a:p>
          <a:p>
            <a:r>
              <a:rPr lang="ko-KR" altLang="ko-KR" sz="1400" dirty="0"/>
              <a:t>이러한 </a:t>
            </a:r>
            <a:r>
              <a:rPr lang="ko-KR" altLang="ko-KR" sz="1400" dirty="0" err="1"/>
              <a:t>Gray</a:t>
            </a:r>
            <a:r>
              <a:rPr lang="ko-KR" altLang="ko-KR" sz="1400" dirty="0"/>
              <a:t> </a:t>
            </a:r>
            <a:r>
              <a:rPr lang="ko-KR" altLang="ko-KR" sz="1400" dirty="0" err="1"/>
              <a:t>code의</a:t>
            </a:r>
            <a:r>
              <a:rPr lang="ko-KR" altLang="ko-KR" sz="1400" dirty="0"/>
              <a:t> 전력적 이점을 내부 중재 과정까지 확장하기 위해 병렬 One-</a:t>
            </a:r>
            <a:r>
              <a:rPr lang="ko-KR" altLang="ko-KR" sz="1400" dirty="0" err="1"/>
              <a:t>Hot</a:t>
            </a:r>
            <a:r>
              <a:rPr lang="ko-KR" altLang="ko-KR" sz="1400" dirty="0"/>
              <a:t> Tree(OHT) 구조를 제안하였다. 또한 출력 주소 상태와 다음 중재 기준을 하나의 </a:t>
            </a:r>
            <a:r>
              <a:rPr lang="ko-KR" altLang="ko-KR" sz="1400" dirty="0" err="1"/>
              <a:t>Register로</a:t>
            </a:r>
            <a:r>
              <a:rPr lang="ko-KR" altLang="ko-KR" sz="1400" dirty="0"/>
              <a:t> 재사용하여 회로 상태와 면적을 줄이는 </a:t>
            </a:r>
            <a:r>
              <a:rPr lang="ko-KR" altLang="ko-KR" sz="1400" dirty="0" err="1"/>
              <a:t>Gray-Rank</a:t>
            </a:r>
            <a:r>
              <a:rPr lang="ko-KR" altLang="ko-KR" sz="1400" dirty="0"/>
              <a:t> </a:t>
            </a:r>
            <a:r>
              <a:rPr lang="ko-KR" altLang="ko-KR" sz="1400" dirty="0" err="1"/>
              <a:t>Register</a:t>
            </a:r>
            <a:r>
              <a:rPr lang="ko-KR" altLang="ko-KR" sz="1400" dirty="0"/>
              <a:t> </a:t>
            </a:r>
            <a:r>
              <a:rPr lang="ko-KR" altLang="ko-KR" sz="1400" dirty="0" err="1"/>
              <a:t>Reuse</a:t>
            </a:r>
            <a:r>
              <a:rPr lang="ko-KR" altLang="ko-KR" sz="1400" dirty="0"/>
              <a:t>(GRR) 구조를 함께 제안하였다. 두 구조의 구체적인 동작 방식과 PPA 결과는 뒤에서 설명한다.</a:t>
            </a:r>
          </a:p>
        </p:txBody>
      </p:sp>
      <p:sp>
        <p:nvSpPr>
          <p:cNvPr id="6" name="직사각형 5">
            <a:extLst>
              <a:ext uri="{FF2B5EF4-FFF2-40B4-BE49-F238E27FC236}">
                <a16:creationId xmlns:a16="http://schemas.microsoft.com/office/drawing/2014/main" id="{55EB7DB9-0828-7F6C-B5F3-47BED736620C}"/>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238219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65AF86C0-478B-4587-A243-31DBB44AE3E6}"/>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8">
            <a:extLst>
              <a:ext uri="{FF2B5EF4-FFF2-40B4-BE49-F238E27FC236}">
                <a16:creationId xmlns:a16="http://schemas.microsoft.com/office/drawing/2014/main" id="{40FF7413-6D7E-4426-B9CC-95C4E25E17A7}"/>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sz="2625" b="0">
                <a:solidFill>
                  <a:srgbClr val="151A22"/>
                </a:solidFill>
                <a:latin typeface="Malgun Gothic"/>
                <a:ea typeface="Malgun Gothic"/>
                <a:cs typeface="Malgun Gothic"/>
              </a:rPr>
              <a:t>GRR AER: 출력 Register 재사용</a:t>
            </a:r>
          </a:p>
        </p:txBody>
      </p:sp>
      <p:sp>
        <p:nvSpPr>
          <p:cNvPr id="3" name="section-8">
            <a:extLst>
              <a:ext uri="{FF2B5EF4-FFF2-40B4-BE49-F238E27FC236}">
                <a16:creationId xmlns:a16="http://schemas.microsoft.com/office/drawing/2014/main" id="{627EE719-0CF8-4AD3-B587-B93207430688}"/>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GRAY-RANK REGISTER REUSE</a:t>
            </a:r>
          </a:p>
        </p:txBody>
      </p:sp>
      <p:sp>
        <p:nvSpPr>
          <p:cNvPr id="4" name="직사각형 3">
            <a:extLst>
              <a:ext uri="{FF2B5EF4-FFF2-40B4-BE49-F238E27FC236}">
                <a16:creationId xmlns:a16="http://schemas.microsoft.com/office/drawing/2014/main" id="{7AB248C8-2C18-4236-8FC1-5F352974FCB7}"/>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D19EA4CB-F04C-43E2-AA5E-FF82C045B165}"/>
              </a:ext>
            </a:extLst>
          </p:cNvPr>
          <p:cNvSpPr>
            <a:spLocks noGrp="1"/>
          </p:cNvSpPr>
          <p:nvPr/>
        </p:nvSpPr>
        <p:spPr>
          <a:xfrm>
            <a:off x="933450" y="3870320"/>
            <a:ext cx="4000500" cy="323850"/>
          </a:xfrm>
          <a:prstGeom prst="rect">
            <a:avLst/>
          </a:prstGeom>
          <a:noFill/>
          <a:ln w="0">
            <a:noFill/>
            <a:prstDash val="solid"/>
          </a:ln>
        </p:spPr>
        <p:txBody>
          <a:bodyPr wrap="square" lIns="19050" tIns="19050" rIns="19050" bIns="19050" anchor="t">
            <a:normAutofit/>
          </a:bodyPr>
          <a:lstStyle/>
          <a:p>
            <a:pPr algn="l">
              <a:defRPr sz="1800" b="0">
                <a:solidFill>
                  <a:srgbClr val="0E9F78"/>
                </a:solidFill>
                <a:latin typeface="Malgun Gothic"/>
                <a:ea typeface="Malgun Gothic"/>
                <a:cs typeface="Malgun Gothic"/>
              </a:defRPr>
            </a:pPr>
            <a:r>
              <a:rPr sz="1800" b="0">
                <a:solidFill>
                  <a:srgbClr val="0E9F78"/>
                </a:solidFill>
                <a:latin typeface="Malgun Gothic"/>
                <a:ea typeface="Malgun Gothic"/>
                <a:cs typeface="Malgun Gothic"/>
              </a:rPr>
              <a:t>공통 개선 기술에 더한 핵심</a:t>
            </a:r>
          </a:p>
        </p:txBody>
      </p:sp>
      <p:sp>
        <p:nvSpPr>
          <p:cNvPr id="11" name="직사각형 10">
            <a:extLst>
              <a:ext uri="{FF2B5EF4-FFF2-40B4-BE49-F238E27FC236}">
                <a16:creationId xmlns:a16="http://schemas.microsoft.com/office/drawing/2014/main" id="{DE57D17E-D551-4FDA-8E46-D2C8B83715DE}"/>
              </a:ext>
            </a:extLst>
          </p:cNvPr>
          <p:cNvSpPr>
            <a:spLocks noGrp="1"/>
          </p:cNvSpPr>
          <p:nvPr/>
        </p:nvSpPr>
        <p:spPr>
          <a:xfrm>
            <a:off x="933450" y="4232270"/>
            <a:ext cx="1333500" cy="28575"/>
          </a:xfrm>
          <a:prstGeom prst="rect">
            <a:avLst/>
          </a:prstGeom>
          <a:solidFill>
            <a:srgbClr val="0E9F78"/>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93BC12CB-E4FB-417F-BA11-E5A2F90B7D47}"/>
              </a:ext>
            </a:extLst>
          </p:cNvPr>
          <p:cNvSpPr>
            <a:spLocks noGrp="1"/>
          </p:cNvSpPr>
          <p:nvPr/>
        </p:nvSpPr>
        <p:spPr>
          <a:xfrm>
            <a:off x="933450" y="4365620"/>
            <a:ext cx="4000500" cy="2190750"/>
          </a:xfrm>
          <a:prstGeom prst="rect">
            <a:avLst/>
          </a:prstGeom>
          <a:noFill/>
          <a:ln w="0">
            <a:noFill/>
            <a:prstDash val="solid"/>
          </a:ln>
        </p:spPr>
        <p:txBody>
          <a:bodyPr wrap="square" lIns="19050" tIns="19050" rIns="19050" bIns="19050" anchor="t">
            <a:normAutofit/>
          </a:bodyPr>
          <a:lstStyle/>
          <a:p>
            <a:pPr algn="l">
              <a:defRPr sz="1313" b="0">
                <a:solidFill>
                  <a:srgbClr val="151A22"/>
                </a:solidFill>
                <a:latin typeface="Malgun Gothic"/>
                <a:ea typeface="Malgun Gothic"/>
                <a:cs typeface="Malgun Gothic"/>
              </a:defRPr>
            </a:pPr>
            <a:r>
              <a:rPr sz="1313" b="0">
                <a:solidFill>
                  <a:srgbClr val="151A22"/>
                </a:solidFill>
                <a:latin typeface="Malgun Gothic"/>
                <a:ea typeface="Malgun Gothic"/>
                <a:cs typeface="Malgun Gothic"/>
              </a:rPr>
              <a:t>GRR은 2FF, Pending, Early ACK, Gray 공정성, Valid/Ready를 유지하면서 현재 출력 상태와 다음 중재 시작점을 하나의 out_rank Register로 합친다.</a:t>
            </a:r>
          </a:p>
          <a:p>
            <a:endParaRPr sz="1313" b="0">
              <a:solidFill>
                <a:srgbClr val="151A22"/>
              </a:solidFill>
              <a:latin typeface="Malgun Gothic"/>
              <a:ea typeface="Malgun Gothic"/>
              <a:cs typeface="Malgun Gothic"/>
            </a:endParaRPr>
          </a:p>
          <a:p>
            <a:pPr algn="l">
              <a:defRPr sz="1313" b="0">
                <a:solidFill>
                  <a:srgbClr val="151A22"/>
                </a:solidFill>
                <a:latin typeface="Malgun Gothic"/>
                <a:ea typeface="Malgun Gothic"/>
                <a:cs typeface="Malgun Gothic"/>
              </a:defRPr>
            </a:pPr>
            <a:r>
              <a:rPr sz="1313" b="0">
                <a:solidFill>
                  <a:srgbClr val="151A22"/>
                </a:solidFill>
                <a:latin typeface="Malgun Gothic"/>
                <a:ea typeface="Malgun Gothic"/>
                <a:cs typeface="Malgun Gothic"/>
              </a:rPr>
              <a:t>요청·응답·Pending은 Source 번호가 아니라 Gray 순서상의 Rank 위치로 고정 배선된다. 예를 들어 Source 6은 Rank 4에 대응한다. Rank 4가 선택되면 같은 위치의 Pending을 바로 지우므로 Source 번호로 되돌아가 clear 위치를 다시 찾는 feedback을 줄일 수 있다.</a:t>
            </a:r>
          </a:p>
        </p:txBody>
      </p:sp>
      <p:sp>
        <p:nvSpPr>
          <p:cNvPr id="13" name="직사각형 12">
            <a:extLst>
              <a:ext uri="{FF2B5EF4-FFF2-40B4-BE49-F238E27FC236}">
                <a16:creationId xmlns:a16="http://schemas.microsoft.com/office/drawing/2014/main" id="{197607C7-AF26-41D5-9821-0A7199072F3F}"/>
              </a:ext>
            </a:extLst>
          </p:cNvPr>
          <p:cNvSpPr>
            <a:spLocks noGrp="1"/>
          </p:cNvSpPr>
          <p:nvPr/>
        </p:nvSpPr>
        <p:spPr>
          <a:xfrm>
            <a:off x="7258050" y="3842512"/>
            <a:ext cx="4000500" cy="323850"/>
          </a:xfrm>
          <a:prstGeom prst="rect">
            <a:avLst/>
          </a:prstGeom>
          <a:noFill/>
          <a:ln w="0">
            <a:noFill/>
            <a:prstDash val="solid"/>
          </a:ln>
        </p:spPr>
        <p:txBody>
          <a:bodyPr wrap="square" lIns="19050" tIns="19050" rIns="19050" bIns="19050" anchor="t">
            <a:normAutofit/>
          </a:bodyPr>
          <a:lstStyle/>
          <a:p>
            <a:pPr algn="l">
              <a:defRPr sz="1800" b="0">
                <a:solidFill>
                  <a:srgbClr val="2D5FE5"/>
                </a:solidFill>
                <a:latin typeface="Malgun Gothic"/>
                <a:ea typeface="Malgun Gothic"/>
                <a:cs typeface="Malgun Gothic"/>
              </a:defRPr>
            </a:pPr>
            <a:r>
              <a:rPr sz="1800" b="0">
                <a:solidFill>
                  <a:srgbClr val="2D5FE5"/>
                </a:solidFill>
                <a:latin typeface="Malgun Gothic"/>
                <a:ea typeface="Malgun Gothic"/>
                <a:cs typeface="Malgun Gothic"/>
              </a:rPr>
              <a:t>Register 하나가 맡는 두 역할</a:t>
            </a:r>
          </a:p>
        </p:txBody>
      </p:sp>
      <p:sp>
        <p:nvSpPr>
          <p:cNvPr id="14" name="직사각형 13">
            <a:extLst>
              <a:ext uri="{FF2B5EF4-FFF2-40B4-BE49-F238E27FC236}">
                <a16:creationId xmlns:a16="http://schemas.microsoft.com/office/drawing/2014/main" id="{6CA25B1A-893C-43E6-BAC1-6A814729DAE4}"/>
              </a:ext>
            </a:extLst>
          </p:cNvPr>
          <p:cNvSpPr>
            <a:spLocks noGrp="1"/>
          </p:cNvSpPr>
          <p:nvPr/>
        </p:nvSpPr>
        <p:spPr>
          <a:xfrm>
            <a:off x="7258050" y="4204462"/>
            <a:ext cx="1333500" cy="28575"/>
          </a:xfrm>
          <a:prstGeom prst="rect">
            <a:avLst/>
          </a:prstGeom>
          <a:solidFill>
            <a:srgbClr val="2D5FE5"/>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BABE0E03-AACE-4A12-98BA-1FA1F2845663}"/>
              </a:ext>
            </a:extLst>
          </p:cNvPr>
          <p:cNvSpPr>
            <a:spLocks noGrp="1"/>
          </p:cNvSpPr>
          <p:nvPr/>
        </p:nvSpPr>
        <p:spPr>
          <a:xfrm>
            <a:off x="7258050" y="4318762"/>
            <a:ext cx="4000500" cy="895350"/>
          </a:xfrm>
          <a:prstGeom prst="rect">
            <a:avLst/>
          </a:prstGeom>
          <a:noFill/>
          <a:ln w="0">
            <a:noFill/>
            <a:prstDash val="solid"/>
          </a:ln>
        </p:spPr>
        <p:txBody>
          <a:bodyPr wrap="square" lIns="19050" tIns="19050" rIns="19050" bIns="19050" anchor="t">
            <a:normAutofit/>
          </a:bodyPr>
          <a:lstStyle/>
          <a:p>
            <a:pPr algn="l">
              <a:defRPr sz="1313" b="0">
                <a:solidFill>
                  <a:srgbClr val="151A22"/>
                </a:solidFill>
                <a:latin typeface="Malgun Gothic"/>
                <a:ea typeface="Malgun Gothic"/>
                <a:cs typeface="Malgun Gothic"/>
              </a:defRPr>
            </a:pPr>
            <a:r>
              <a:rPr sz="1313" b="0">
                <a:solidFill>
                  <a:srgbClr val="151A22"/>
                </a:solidFill>
                <a:latin typeface="Malgun Gothic"/>
                <a:ea typeface="Malgun Gothic"/>
                <a:cs typeface="Malgun Gothic"/>
              </a:rPr>
              <a:t>out_rank 4 FF는 현재 Receiver에 출력할 주소와 다음 strict-cyclic 탐색 시작점을 동시에 나타낸다. 공통 상태 67개에 out_rank 4개만 더해 총 71 states로 구현했다.</a:t>
            </a:r>
          </a:p>
        </p:txBody>
      </p:sp>
      <p:sp>
        <p:nvSpPr>
          <p:cNvPr id="16" name="사각형: 둥근 모서리 15">
            <a:extLst>
              <a:ext uri="{FF2B5EF4-FFF2-40B4-BE49-F238E27FC236}">
                <a16:creationId xmlns:a16="http://schemas.microsoft.com/office/drawing/2014/main" id="{AE936DFA-0C95-4C01-9773-8CD9293E3E82}"/>
              </a:ext>
            </a:extLst>
          </p:cNvPr>
          <p:cNvSpPr>
            <a:spLocks noGrp="1"/>
          </p:cNvSpPr>
          <p:nvPr/>
        </p:nvSpPr>
        <p:spPr>
          <a:xfrm>
            <a:off x="7258050" y="5347462"/>
            <a:ext cx="4000500" cy="457200"/>
          </a:xfrm>
          <a:prstGeom prst="roundRect">
            <a:avLst>
              <a:gd name="adj" fmla="val 20833"/>
            </a:avLst>
          </a:prstGeom>
          <a:solidFill>
            <a:srgbClr val="E7F7F2"/>
          </a:solidFill>
          <a:ln w="9525">
            <a:solidFill>
              <a:srgbClr val="0E9F78"/>
            </a:solidFill>
            <a:prstDash val="solid"/>
          </a:ln>
        </p:spPr>
        <p:txBody>
          <a:bodyPr/>
          <a:lstStyle/>
          <a:p>
            <a:endParaRPr lang="ko-KR" altLang="en-US"/>
          </a:p>
        </p:txBody>
      </p:sp>
      <p:sp>
        <p:nvSpPr>
          <p:cNvPr id="17" name="직사각형 16">
            <a:extLst>
              <a:ext uri="{FF2B5EF4-FFF2-40B4-BE49-F238E27FC236}">
                <a16:creationId xmlns:a16="http://schemas.microsoft.com/office/drawing/2014/main" id="{72F83484-1DF8-42E1-9A0D-346D398FFA02}"/>
              </a:ext>
            </a:extLst>
          </p:cNvPr>
          <p:cNvSpPr>
            <a:spLocks noGrp="1"/>
          </p:cNvSpPr>
          <p:nvPr/>
        </p:nvSpPr>
        <p:spPr>
          <a:xfrm>
            <a:off x="7429500" y="5461762"/>
            <a:ext cx="3657600" cy="228600"/>
          </a:xfrm>
          <a:prstGeom prst="rect">
            <a:avLst/>
          </a:prstGeom>
          <a:noFill/>
          <a:ln w="0">
            <a:noFill/>
            <a:prstDash val="solid"/>
          </a:ln>
        </p:spPr>
        <p:txBody>
          <a:bodyPr wrap="square" lIns="19050" tIns="19050" rIns="19050" bIns="19050" anchor="ctr">
            <a:normAutofit fontScale="87721"/>
          </a:bodyPr>
          <a:lstStyle/>
          <a:p>
            <a:pPr algn="l">
              <a:defRPr sz="1275" b="0">
                <a:solidFill>
                  <a:srgbClr val="0E9F78"/>
                </a:solidFill>
                <a:latin typeface="Malgun Gothic"/>
                <a:ea typeface="Malgun Gothic"/>
                <a:cs typeface="Malgun Gothic"/>
              </a:defRPr>
            </a:pPr>
            <a:r>
              <a:rPr sz="1275" b="0" dirty="0">
                <a:solidFill>
                  <a:srgbClr val="0E9F78"/>
                </a:solidFill>
                <a:latin typeface="Malgun Gothic"/>
                <a:ea typeface="Malgun Gothic"/>
                <a:cs typeface="Malgun Gothic"/>
              </a:rPr>
              <a:t>263 instances  ·  669.294 µm²  ·  두 </a:t>
            </a:r>
            <a:r>
              <a:rPr sz="1275" b="0" dirty="0" err="1">
                <a:solidFill>
                  <a:srgbClr val="0E9F78"/>
                </a:solidFill>
                <a:latin typeface="Malgun Gothic"/>
                <a:ea typeface="Malgun Gothic"/>
                <a:cs typeface="Malgun Gothic"/>
              </a:rPr>
              <a:t>개선형</a:t>
            </a:r>
            <a:r>
              <a:rPr sz="1275" b="0" dirty="0">
                <a:solidFill>
                  <a:srgbClr val="0E9F78"/>
                </a:solidFill>
                <a:latin typeface="Malgun Gothic"/>
                <a:ea typeface="Malgun Gothic"/>
                <a:cs typeface="Malgun Gothic"/>
              </a:rPr>
              <a:t> 중 </a:t>
            </a:r>
            <a:r>
              <a:rPr sz="1275" b="0" dirty="0" err="1">
                <a:solidFill>
                  <a:srgbClr val="0E9F78"/>
                </a:solidFill>
                <a:latin typeface="Malgun Gothic"/>
                <a:ea typeface="Malgun Gothic"/>
                <a:cs typeface="Malgun Gothic"/>
              </a:rPr>
              <a:t>최소</a:t>
            </a:r>
            <a:r>
              <a:rPr sz="1275" b="0" dirty="0">
                <a:solidFill>
                  <a:srgbClr val="0E9F78"/>
                </a:solidFill>
                <a:latin typeface="Malgun Gothic"/>
                <a:ea typeface="Malgun Gothic"/>
                <a:cs typeface="Malgun Gothic"/>
              </a:rPr>
              <a:t> </a:t>
            </a:r>
            <a:r>
              <a:rPr sz="1275" b="0" dirty="0" err="1">
                <a:solidFill>
                  <a:srgbClr val="0E9F78"/>
                </a:solidFill>
                <a:latin typeface="Malgun Gothic"/>
                <a:ea typeface="Malgun Gothic"/>
                <a:cs typeface="Malgun Gothic"/>
              </a:rPr>
              <a:t>면적</a:t>
            </a:r>
            <a:endParaRPr sz="1275" b="0" dirty="0">
              <a:solidFill>
                <a:srgbClr val="0E9F78"/>
              </a:solidFill>
              <a:latin typeface="Malgun Gothic"/>
              <a:ea typeface="Malgun Gothic"/>
              <a:cs typeface="Malgun Gothic"/>
            </a:endParaRPr>
          </a:p>
        </p:txBody>
      </p:sp>
      <p:pic>
        <p:nvPicPr>
          <p:cNvPr id="9" name="그림 8">
            <a:extLst>
              <a:ext uri="{FF2B5EF4-FFF2-40B4-BE49-F238E27FC236}">
                <a16:creationId xmlns:a16="http://schemas.microsoft.com/office/drawing/2014/main" id="{76608360-DFDD-F7D6-8529-0E9468CC79C5}"/>
              </a:ext>
            </a:extLst>
          </p:cNvPr>
          <p:cNvPicPr>
            <a:picLocks noChangeAspect="1"/>
          </p:cNvPicPr>
          <p:nvPr/>
        </p:nvPicPr>
        <p:blipFill>
          <a:blip r:embed="rId3"/>
          <a:stretch/>
        </p:blipFill>
        <p:spPr>
          <a:xfrm>
            <a:off x="11285208" y="133349"/>
            <a:ext cx="900000" cy="900000"/>
          </a:xfrm>
          <a:prstGeom prst="rect">
            <a:avLst/>
          </a:prstGeom>
        </p:spPr>
      </p:pic>
      <p:pic>
        <p:nvPicPr>
          <p:cNvPr id="6" name="그래픽 5">
            <a:extLst>
              <a:ext uri="{FF2B5EF4-FFF2-40B4-BE49-F238E27FC236}">
                <a16:creationId xmlns:a16="http://schemas.microsoft.com/office/drawing/2014/main" id="{12898421-C4F6-78A4-D794-ED8802460E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328" y="742950"/>
            <a:ext cx="8935345" cy="3127370"/>
          </a:xfrm>
          <a:prstGeom prst="rect">
            <a:avLst/>
          </a:prstGeom>
        </p:spPr>
      </p:pic>
      <p:sp>
        <p:nvSpPr>
          <p:cNvPr id="7" name="직사각형 6">
            <a:extLst>
              <a:ext uri="{FF2B5EF4-FFF2-40B4-BE49-F238E27FC236}">
                <a16:creationId xmlns:a16="http://schemas.microsoft.com/office/drawing/2014/main" id="{AF4EF2F7-12D3-3BE4-D937-36ACE71C76D7}"/>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1924621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5E6623B9-70D6-499A-84FE-3DB03215A38C}"/>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9">
            <a:extLst>
              <a:ext uri="{FF2B5EF4-FFF2-40B4-BE49-F238E27FC236}">
                <a16:creationId xmlns:a16="http://schemas.microsoft.com/office/drawing/2014/main" id="{7ED1157F-5F1A-47BF-B9FC-9AB194230BC9}"/>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sz="2625" b="0">
                <a:solidFill>
                  <a:srgbClr val="151A22"/>
                </a:solidFill>
                <a:latin typeface="Malgun Gothic"/>
                <a:ea typeface="Malgun Gothic"/>
                <a:cs typeface="Malgun Gothic"/>
              </a:rPr>
              <a:t>OHT AER: 병렬 One-Hot Tree</a:t>
            </a:r>
          </a:p>
        </p:txBody>
      </p:sp>
      <p:sp>
        <p:nvSpPr>
          <p:cNvPr id="3" name="section-9">
            <a:extLst>
              <a:ext uri="{FF2B5EF4-FFF2-40B4-BE49-F238E27FC236}">
                <a16:creationId xmlns:a16="http://schemas.microsoft.com/office/drawing/2014/main" id="{C1CEC3A7-53D0-4393-9468-E083C8A6A99B}"/>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ONE-HOT TOP-DOWN TREE</a:t>
            </a:r>
          </a:p>
        </p:txBody>
      </p:sp>
      <p:sp>
        <p:nvSpPr>
          <p:cNvPr id="4" name="직사각형 3">
            <a:extLst>
              <a:ext uri="{FF2B5EF4-FFF2-40B4-BE49-F238E27FC236}">
                <a16:creationId xmlns:a16="http://schemas.microsoft.com/office/drawing/2014/main" id="{21D564CE-8F5F-45E0-948A-60A8EDBE4685}"/>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332D131E-FD51-4CEE-B321-6D42271C2D2C}"/>
              </a:ext>
            </a:extLst>
          </p:cNvPr>
          <p:cNvSpPr>
            <a:spLocks noGrp="1"/>
          </p:cNvSpPr>
          <p:nvPr/>
        </p:nvSpPr>
        <p:spPr>
          <a:xfrm>
            <a:off x="921368" y="3770685"/>
            <a:ext cx="4000500" cy="323850"/>
          </a:xfrm>
          <a:prstGeom prst="rect">
            <a:avLst/>
          </a:prstGeom>
          <a:noFill/>
          <a:ln w="0">
            <a:noFill/>
            <a:prstDash val="solid"/>
          </a:ln>
        </p:spPr>
        <p:txBody>
          <a:bodyPr wrap="square" lIns="19050" tIns="19050" rIns="19050" bIns="19050" anchor="t">
            <a:normAutofit/>
          </a:bodyPr>
          <a:lstStyle/>
          <a:p>
            <a:pPr algn="l">
              <a:defRPr sz="1800" b="0">
                <a:solidFill>
                  <a:srgbClr val="2D5FE5"/>
                </a:solidFill>
                <a:latin typeface="Malgun Gothic"/>
                <a:ea typeface="Malgun Gothic"/>
                <a:cs typeface="Malgun Gothic"/>
              </a:defRPr>
            </a:pPr>
            <a:r>
              <a:rPr sz="1800" b="0">
                <a:solidFill>
                  <a:srgbClr val="2D5FE5"/>
                </a:solidFill>
                <a:latin typeface="Malgun Gothic"/>
                <a:ea typeface="Malgun Gothic"/>
                <a:cs typeface="Malgun Gothic"/>
              </a:rPr>
              <a:t>공통 개선 기술에 더한 핵심</a:t>
            </a:r>
          </a:p>
        </p:txBody>
      </p:sp>
      <p:sp>
        <p:nvSpPr>
          <p:cNvPr id="11" name="직사각형 10">
            <a:extLst>
              <a:ext uri="{FF2B5EF4-FFF2-40B4-BE49-F238E27FC236}">
                <a16:creationId xmlns:a16="http://schemas.microsoft.com/office/drawing/2014/main" id="{7E05D709-176D-41B0-9A40-9E6CA680CD4B}"/>
              </a:ext>
            </a:extLst>
          </p:cNvPr>
          <p:cNvSpPr>
            <a:spLocks noGrp="1"/>
          </p:cNvSpPr>
          <p:nvPr/>
        </p:nvSpPr>
        <p:spPr>
          <a:xfrm>
            <a:off x="921368" y="4132635"/>
            <a:ext cx="1333500" cy="28575"/>
          </a:xfrm>
          <a:prstGeom prst="rect">
            <a:avLst/>
          </a:prstGeom>
          <a:solidFill>
            <a:srgbClr val="2D5FE5"/>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6BD4A0FD-37F5-4E5E-9759-57512AB50228}"/>
              </a:ext>
            </a:extLst>
          </p:cNvPr>
          <p:cNvSpPr>
            <a:spLocks noGrp="1"/>
          </p:cNvSpPr>
          <p:nvPr/>
        </p:nvSpPr>
        <p:spPr>
          <a:xfrm>
            <a:off x="921368" y="4265984"/>
            <a:ext cx="4095750" cy="2295525"/>
          </a:xfrm>
          <a:prstGeom prst="rect">
            <a:avLst/>
          </a:prstGeom>
          <a:noFill/>
          <a:ln w="0">
            <a:noFill/>
            <a:prstDash val="solid"/>
          </a:ln>
        </p:spPr>
        <p:txBody>
          <a:bodyPr wrap="square" lIns="19050" tIns="19050" rIns="19050" bIns="19050" anchor="t">
            <a:normAutofit lnSpcReduction="10000"/>
          </a:bodyPr>
          <a:lstStyle/>
          <a:p>
            <a:pPr>
              <a:defRPr sz="1313" b="0">
                <a:solidFill>
                  <a:srgbClr val="151A22"/>
                </a:solidFill>
                <a:latin typeface="Malgun Gothic"/>
                <a:ea typeface="Malgun Gothic"/>
                <a:cs typeface="Malgun Gothic"/>
              </a:defRPr>
            </a:pPr>
            <a:r>
              <a:rPr lang="ko-KR" altLang="ko-KR" sz="1400" dirty="0">
                <a:solidFill>
                  <a:srgbClr val="151A22"/>
                </a:solidFill>
                <a:latin typeface="Malgun Gothic"/>
              </a:rPr>
              <a:t>One-</a:t>
            </a:r>
            <a:r>
              <a:rPr lang="ko-KR" altLang="ko-KR" sz="1400" dirty="0" err="1">
                <a:solidFill>
                  <a:srgbClr val="151A22"/>
                </a:solidFill>
                <a:latin typeface="Malgun Gothic"/>
              </a:rPr>
              <a:t>Hot</a:t>
            </a:r>
            <a:r>
              <a:rPr lang="ko-KR" altLang="ko-KR" sz="1400" dirty="0">
                <a:solidFill>
                  <a:srgbClr val="151A22"/>
                </a:solidFill>
                <a:latin typeface="Malgun Gothic"/>
              </a:rPr>
              <a:t> </a:t>
            </a:r>
            <a:r>
              <a:rPr lang="ko-KR" altLang="ko-KR" sz="1400" dirty="0" err="1">
                <a:solidFill>
                  <a:srgbClr val="151A22"/>
                </a:solidFill>
                <a:latin typeface="Malgun Gothic"/>
              </a:rPr>
              <a:t>Tree는</a:t>
            </a:r>
            <a:r>
              <a:rPr lang="ko-KR" altLang="ko-KR" sz="1400" dirty="0">
                <a:solidFill>
                  <a:srgbClr val="151A22"/>
                </a:solidFill>
                <a:latin typeface="Malgun Gothic"/>
              </a:rPr>
              <a:t> 16개 요청을 두 개씩 병렬로 묶고, </a:t>
            </a:r>
            <a:r>
              <a:rPr lang="ko-KR" altLang="ko-KR" sz="1400" dirty="0" err="1">
                <a:solidFill>
                  <a:srgbClr val="151A22"/>
                </a:solidFill>
                <a:latin typeface="Malgun Gothic"/>
              </a:rPr>
              <a:t>Gray</a:t>
            </a:r>
            <a:r>
              <a:rPr lang="ko-KR" altLang="ko-KR" sz="1400" dirty="0">
                <a:solidFill>
                  <a:srgbClr val="151A22"/>
                </a:solidFill>
                <a:latin typeface="Malgun Gothic"/>
              </a:rPr>
              <a:t> </a:t>
            </a:r>
            <a:r>
              <a:rPr lang="ko-KR" altLang="ko-KR" sz="1400" dirty="0" err="1">
                <a:solidFill>
                  <a:srgbClr val="151A22"/>
                </a:solidFill>
                <a:latin typeface="Malgun Gothic"/>
              </a:rPr>
              <a:t>Epoch의</a:t>
            </a:r>
            <a:r>
              <a:rPr lang="ko-KR" altLang="ko-KR" sz="1400" dirty="0">
                <a:solidFill>
                  <a:srgbClr val="151A22"/>
                </a:solidFill>
                <a:latin typeface="Malgun Gothic"/>
              </a:rPr>
              <a:t> 4bit가 </a:t>
            </a:r>
            <a:r>
              <a:rPr lang="ko-KR" altLang="ko-KR" sz="1400" dirty="0" err="1">
                <a:solidFill>
                  <a:srgbClr val="151A22"/>
                </a:solidFill>
                <a:latin typeface="Malgun Gothic"/>
              </a:rPr>
              <a:t>Half</a:t>
            </a:r>
            <a:r>
              <a:rPr lang="ko-KR" altLang="ko-KR" sz="1400" dirty="0">
                <a:solidFill>
                  <a:srgbClr val="151A22"/>
                </a:solidFill>
                <a:latin typeface="Malgun Gothic"/>
              </a:rPr>
              <a:t>, </a:t>
            </a:r>
            <a:r>
              <a:rPr lang="ko-KR" altLang="ko-KR" sz="1400" dirty="0" err="1">
                <a:solidFill>
                  <a:srgbClr val="151A22"/>
                </a:solidFill>
                <a:latin typeface="Malgun Gothic"/>
              </a:rPr>
              <a:t>Quarter</a:t>
            </a:r>
            <a:r>
              <a:rPr lang="ko-KR" altLang="ko-KR" sz="1400" dirty="0">
                <a:solidFill>
                  <a:srgbClr val="151A22"/>
                </a:solidFill>
                <a:latin typeface="Malgun Gothic"/>
              </a:rPr>
              <a:t>, </a:t>
            </a:r>
            <a:r>
              <a:rPr lang="ko-KR" altLang="ko-KR" sz="1400" dirty="0" err="1">
                <a:solidFill>
                  <a:srgbClr val="151A22"/>
                </a:solidFill>
                <a:latin typeface="Malgun Gothic"/>
              </a:rPr>
              <a:t>Pair</a:t>
            </a:r>
            <a:r>
              <a:rPr lang="ko-KR" altLang="ko-KR" sz="1400" dirty="0">
                <a:solidFill>
                  <a:srgbClr val="151A22"/>
                </a:solidFill>
                <a:latin typeface="Malgun Gothic"/>
              </a:rPr>
              <a:t>, </a:t>
            </a:r>
            <a:r>
              <a:rPr lang="ko-KR" altLang="ko-KR" sz="1400" dirty="0" err="1">
                <a:solidFill>
                  <a:srgbClr val="151A22"/>
                </a:solidFill>
                <a:latin typeface="Malgun Gothic"/>
              </a:rPr>
              <a:t>Source</a:t>
            </a:r>
            <a:r>
              <a:rPr lang="ko-KR" altLang="ko-KR" sz="1400" dirty="0">
                <a:solidFill>
                  <a:srgbClr val="151A22"/>
                </a:solidFill>
                <a:latin typeface="Malgun Gothic"/>
              </a:rPr>
              <a:t> 단계의 우선 탐색 방향을 정해 최종 </a:t>
            </a:r>
            <a:r>
              <a:rPr lang="ko-KR" altLang="ko-KR" sz="1400" dirty="0" err="1">
                <a:solidFill>
                  <a:srgbClr val="151A22"/>
                </a:solidFill>
                <a:latin typeface="Malgun Gothic"/>
              </a:rPr>
              <a:t>Source</a:t>
            </a:r>
            <a:r>
              <a:rPr lang="ko-KR" altLang="ko-KR" sz="1400" dirty="0">
                <a:solidFill>
                  <a:srgbClr val="151A22"/>
                </a:solidFill>
                <a:latin typeface="Malgun Gothic"/>
              </a:rPr>
              <a:t> 하나를 선택한다. 선호한 가지가 비어 있으면 이벤트가 있는 반대쪽 가지를 선택한다.</a:t>
            </a:r>
            <a:endParaRPr lang="en-US" altLang="ko-KR" sz="1400" dirty="0">
              <a:solidFill>
                <a:srgbClr val="151A22"/>
              </a:solidFill>
              <a:latin typeface="Malgun Gothic"/>
            </a:endParaRPr>
          </a:p>
          <a:p>
            <a:pPr>
              <a:defRPr sz="1313" b="0">
                <a:solidFill>
                  <a:srgbClr val="151A22"/>
                </a:solidFill>
                <a:latin typeface="Malgun Gothic"/>
                <a:ea typeface="Malgun Gothic"/>
                <a:cs typeface="Malgun Gothic"/>
              </a:defRPr>
            </a:pPr>
            <a:endParaRPr lang="en-US" altLang="ko-KR" sz="1400" dirty="0">
              <a:solidFill>
                <a:srgbClr val="151A22"/>
              </a:solidFill>
              <a:latin typeface="Malgun Gothic"/>
            </a:endParaRPr>
          </a:p>
          <a:p>
            <a:pPr>
              <a:defRPr sz="1313" b="0">
                <a:solidFill>
                  <a:srgbClr val="151A22"/>
                </a:solidFill>
                <a:latin typeface="Malgun Gothic"/>
                <a:ea typeface="Malgun Gothic"/>
                <a:cs typeface="Malgun Gothic"/>
              </a:defRPr>
            </a:pPr>
            <a:r>
              <a:rPr lang="ko-KR" altLang="ko-KR" sz="1400" dirty="0" err="1">
                <a:solidFill>
                  <a:srgbClr val="151A22"/>
                </a:solidFill>
                <a:latin typeface="Malgun Gothic"/>
              </a:rPr>
              <a:t>Epoch는</a:t>
            </a:r>
            <a:r>
              <a:rPr lang="ko-KR" altLang="ko-KR" sz="1400" dirty="0">
                <a:solidFill>
                  <a:srgbClr val="151A22"/>
                </a:solidFill>
                <a:latin typeface="Malgun Gothic"/>
              </a:rPr>
              <a:t> 이벤트를 출력에 적재할 때마다 0000→0001→0011→0010의 </a:t>
            </a:r>
            <a:r>
              <a:rPr lang="ko-KR" altLang="ko-KR" sz="1400" dirty="0" err="1">
                <a:solidFill>
                  <a:srgbClr val="151A22"/>
                </a:solidFill>
                <a:latin typeface="Malgun Gothic"/>
              </a:rPr>
              <a:t>Gray</a:t>
            </a:r>
            <a:r>
              <a:rPr lang="ko-KR" altLang="ko-KR" sz="1400" dirty="0">
                <a:solidFill>
                  <a:srgbClr val="151A22"/>
                </a:solidFill>
                <a:latin typeface="Malgun Gothic"/>
              </a:rPr>
              <a:t> 순서로 이동하므로, 탐색 순서를 순환시키면서도 갱신 시 1bit만 전환된다. 최종 One-</a:t>
            </a:r>
            <a:r>
              <a:rPr lang="ko-KR" altLang="ko-KR" sz="1400" dirty="0" err="1">
                <a:solidFill>
                  <a:srgbClr val="151A22"/>
                </a:solidFill>
                <a:latin typeface="Malgun Gothic"/>
              </a:rPr>
              <a:t>Hot</a:t>
            </a:r>
            <a:r>
              <a:rPr lang="ko-KR" altLang="ko-KR" sz="1400" dirty="0">
                <a:solidFill>
                  <a:srgbClr val="151A22"/>
                </a:solidFill>
                <a:latin typeface="Malgun Gothic"/>
              </a:rPr>
              <a:t> 신호는 출력 주소 생성과 해당 </a:t>
            </a:r>
            <a:r>
              <a:rPr lang="ko-KR" altLang="ko-KR" sz="1400" dirty="0" err="1">
                <a:solidFill>
                  <a:srgbClr val="151A22"/>
                </a:solidFill>
                <a:latin typeface="Malgun Gothic"/>
              </a:rPr>
              <a:t>Pending</a:t>
            </a:r>
            <a:r>
              <a:rPr lang="ko-KR" altLang="ko-KR" sz="1400" dirty="0">
                <a:solidFill>
                  <a:srgbClr val="151A22"/>
                </a:solidFill>
                <a:latin typeface="Malgun Gothic"/>
              </a:rPr>
              <a:t> 제거에 함께 사용된다.</a:t>
            </a:r>
            <a:endParaRPr sz="1400" b="0" dirty="0">
              <a:solidFill>
                <a:srgbClr val="151A22"/>
              </a:solidFill>
              <a:latin typeface="Malgun Gothic"/>
              <a:ea typeface="Malgun Gothic"/>
              <a:cs typeface="Malgun Gothic"/>
            </a:endParaRPr>
          </a:p>
        </p:txBody>
      </p:sp>
      <p:sp>
        <p:nvSpPr>
          <p:cNvPr id="13" name="직사각형 12">
            <a:extLst>
              <a:ext uri="{FF2B5EF4-FFF2-40B4-BE49-F238E27FC236}">
                <a16:creationId xmlns:a16="http://schemas.microsoft.com/office/drawing/2014/main" id="{7797F7A7-FD2B-4841-901E-853F2842D016}"/>
              </a:ext>
            </a:extLst>
          </p:cNvPr>
          <p:cNvSpPr>
            <a:spLocks noGrp="1"/>
          </p:cNvSpPr>
          <p:nvPr/>
        </p:nvSpPr>
        <p:spPr>
          <a:xfrm>
            <a:off x="7270134" y="3752402"/>
            <a:ext cx="4095750" cy="323850"/>
          </a:xfrm>
          <a:prstGeom prst="rect">
            <a:avLst/>
          </a:prstGeom>
          <a:noFill/>
          <a:ln w="0">
            <a:noFill/>
            <a:prstDash val="solid"/>
          </a:ln>
        </p:spPr>
        <p:txBody>
          <a:bodyPr wrap="square" lIns="19050" tIns="19050" rIns="19050" bIns="19050" anchor="t">
            <a:normAutofit fontScale="91427"/>
          </a:bodyPr>
          <a:lstStyle/>
          <a:p>
            <a:pPr algn="l">
              <a:defRPr sz="1800" b="0">
                <a:solidFill>
                  <a:srgbClr val="E87A24"/>
                </a:solidFill>
                <a:latin typeface="Malgun Gothic"/>
                <a:ea typeface="Malgun Gothic"/>
                <a:cs typeface="Malgun Gothic"/>
              </a:defRPr>
            </a:pPr>
            <a:r>
              <a:rPr sz="1800" b="0">
                <a:solidFill>
                  <a:srgbClr val="E87A24"/>
                </a:solidFill>
                <a:latin typeface="Malgun Gothic"/>
                <a:ea typeface="Malgun Gothic"/>
                <a:cs typeface="Malgun Gothic"/>
              </a:rPr>
              <a:t>면적을 더 쓰고 경로와 switching을 줄임</a:t>
            </a:r>
          </a:p>
        </p:txBody>
      </p:sp>
      <p:sp>
        <p:nvSpPr>
          <p:cNvPr id="14" name="직사각형 13">
            <a:extLst>
              <a:ext uri="{FF2B5EF4-FFF2-40B4-BE49-F238E27FC236}">
                <a16:creationId xmlns:a16="http://schemas.microsoft.com/office/drawing/2014/main" id="{98ADE21B-C723-4C25-963B-197A164E5700}"/>
              </a:ext>
            </a:extLst>
          </p:cNvPr>
          <p:cNvSpPr>
            <a:spLocks noGrp="1"/>
          </p:cNvSpPr>
          <p:nvPr/>
        </p:nvSpPr>
        <p:spPr>
          <a:xfrm>
            <a:off x="7270134" y="4114352"/>
            <a:ext cx="1333500" cy="28575"/>
          </a:xfrm>
          <a:prstGeom prst="rect">
            <a:avLst/>
          </a:prstGeom>
          <a:solidFill>
            <a:srgbClr val="E87A24"/>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113DED69-243C-43B1-92B3-A63808C52830}"/>
              </a:ext>
            </a:extLst>
          </p:cNvPr>
          <p:cNvSpPr>
            <a:spLocks noGrp="1"/>
          </p:cNvSpPr>
          <p:nvPr/>
        </p:nvSpPr>
        <p:spPr>
          <a:xfrm>
            <a:off x="7270134" y="4247702"/>
            <a:ext cx="4095750" cy="1066800"/>
          </a:xfrm>
          <a:prstGeom prst="rect">
            <a:avLst/>
          </a:prstGeom>
          <a:noFill/>
          <a:ln w="0">
            <a:noFill/>
            <a:prstDash val="solid"/>
          </a:ln>
        </p:spPr>
        <p:txBody>
          <a:bodyPr wrap="square" lIns="19050" tIns="19050" rIns="19050" bIns="19050" anchor="t">
            <a:normAutofit lnSpcReduction="10000"/>
          </a:bodyPr>
          <a:lstStyle/>
          <a:p>
            <a:pPr algn="l">
              <a:defRPr sz="1313" b="0">
                <a:solidFill>
                  <a:srgbClr val="151A22"/>
                </a:solidFill>
                <a:latin typeface="Malgun Gothic"/>
                <a:ea typeface="Malgun Gothic"/>
                <a:cs typeface="Malgun Gothic"/>
              </a:defRPr>
            </a:pPr>
            <a:r>
              <a:rPr sz="1400" b="0" dirty="0" err="1">
                <a:solidFill>
                  <a:srgbClr val="151A22"/>
                </a:solidFill>
                <a:latin typeface="Malgun Gothic"/>
                <a:ea typeface="Malgun Gothic"/>
                <a:cs typeface="Malgun Gothic"/>
              </a:rPr>
              <a:t>GRR보다</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상태</a:t>
            </a:r>
            <a:r>
              <a:rPr sz="1400" b="0" dirty="0">
                <a:solidFill>
                  <a:srgbClr val="151A22"/>
                </a:solidFill>
                <a:latin typeface="Malgun Gothic"/>
                <a:ea typeface="Malgun Gothic"/>
                <a:cs typeface="Malgun Gothic"/>
              </a:rPr>
              <a:t> 4개가 </a:t>
            </a:r>
            <a:r>
              <a:rPr sz="1400" b="0" dirty="0" err="1">
                <a:solidFill>
                  <a:srgbClr val="151A22"/>
                </a:solidFill>
                <a:latin typeface="Malgun Gothic"/>
                <a:ea typeface="Malgun Gothic"/>
                <a:cs typeface="Malgun Gothic"/>
              </a:rPr>
              <a:t>많지만</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후보</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선택을</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작은</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지역</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논리로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나눠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조합</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경로를</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줄인다</a:t>
            </a:r>
            <a:r>
              <a:rPr sz="1400" b="0" dirty="0">
                <a:solidFill>
                  <a:srgbClr val="151A22"/>
                </a:solidFill>
                <a:latin typeface="Malgun Gothic"/>
                <a:ea typeface="Malgun Gothic"/>
                <a:cs typeface="Malgun Gothic"/>
              </a:rPr>
              <a:t>. Post-</a:t>
            </a:r>
            <a:r>
              <a:rPr sz="1400" b="0" dirty="0" err="1">
                <a:solidFill>
                  <a:srgbClr val="151A22"/>
                </a:solidFill>
                <a:latin typeface="Malgun Gothic"/>
                <a:ea typeface="Malgun Gothic"/>
                <a:cs typeface="Malgun Gothic"/>
              </a:rPr>
              <a:t>route에서</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조합논리</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전력은</a:t>
            </a:r>
            <a:r>
              <a:rPr sz="1400" b="0" dirty="0">
                <a:solidFill>
                  <a:srgbClr val="151A22"/>
                </a:solidFill>
                <a:latin typeface="Malgun Gothic"/>
                <a:ea typeface="Malgun Gothic"/>
                <a:cs typeface="Malgun Gothic"/>
              </a:rPr>
              <a:t> 약 45.3%, switching </a:t>
            </a:r>
            <a:r>
              <a:rPr sz="1400" b="0" dirty="0" err="1">
                <a:solidFill>
                  <a:srgbClr val="151A22"/>
                </a:solidFill>
                <a:latin typeface="Malgun Gothic"/>
                <a:ea typeface="Malgun Gothic"/>
                <a:cs typeface="Malgun Gothic"/>
              </a:rPr>
              <a:t>성분은</a:t>
            </a:r>
            <a:r>
              <a:rPr sz="1400" b="0" dirty="0">
                <a:solidFill>
                  <a:srgbClr val="151A22"/>
                </a:solidFill>
                <a:latin typeface="Malgun Gothic"/>
                <a:ea typeface="Malgun Gothic"/>
                <a:cs typeface="Malgun Gothic"/>
              </a:rPr>
              <a:t> 약 37.2% </a:t>
            </a:r>
            <a:r>
              <a:rPr sz="1400" b="0" dirty="0" err="1">
                <a:solidFill>
                  <a:srgbClr val="151A22"/>
                </a:solidFill>
                <a:latin typeface="Malgun Gothic"/>
                <a:ea typeface="Malgun Gothic"/>
                <a:cs typeface="Malgun Gothic"/>
              </a:rPr>
              <a:t>감소했고</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주소</a:t>
            </a:r>
            <a:r>
              <a:rPr sz="1400" b="0" dirty="0">
                <a:solidFill>
                  <a:srgbClr val="151A22"/>
                </a:solidFill>
                <a:latin typeface="Malgun Gothic"/>
                <a:ea typeface="Malgun Gothic"/>
                <a:cs typeface="Malgun Gothic"/>
              </a:rPr>
              <a:t> bit </a:t>
            </a:r>
            <a:r>
              <a:rPr sz="1400" b="0" dirty="0" err="1">
                <a:solidFill>
                  <a:srgbClr val="151A22"/>
                </a:solidFill>
                <a:latin typeface="Malgun Gothic"/>
                <a:ea typeface="Malgun Gothic"/>
                <a:cs typeface="Malgun Gothic"/>
              </a:rPr>
              <a:t>전환</a:t>
            </a:r>
            <a:r>
              <a:rPr sz="1400" b="0" dirty="0">
                <a:solidFill>
                  <a:srgbClr val="151A22"/>
                </a:solidFill>
                <a:latin typeface="Malgun Gothic"/>
                <a:ea typeface="Malgun Gothic"/>
                <a:cs typeface="Malgun Gothic"/>
              </a:rPr>
              <a:t> </a:t>
            </a:r>
            <a:r>
              <a:rPr sz="1400" b="0" dirty="0" err="1">
                <a:solidFill>
                  <a:srgbClr val="151A22"/>
                </a:solidFill>
                <a:latin typeface="Malgun Gothic"/>
                <a:ea typeface="Malgun Gothic"/>
                <a:cs typeface="Malgun Gothic"/>
              </a:rPr>
              <a:t>합은</a:t>
            </a:r>
            <a:r>
              <a:rPr sz="1400" b="0" dirty="0">
                <a:solidFill>
                  <a:srgbClr val="151A22"/>
                </a:solidFill>
                <a:latin typeface="Malgun Gothic"/>
                <a:ea typeface="Malgun Gothic"/>
                <a:cs typeface="Malgun Gothic"/>
              </a:rPr>
              <a:t> 114회에서 106회로 </a:t>
            </a:r>
            <a:r>
              <a:rPr sz="1400" b="0" dirty="0" err="1">
                <a:solidFill>
                  <a:srgbClr val="151A22"/>
                </a:solidFill>
                <a:latin typeface="Malgun Gothic"/>
                <a:ea typeface="Malgun Gothic"/>
                <a:cs typeface="Malgun Gothic"/>
              </a:rPr>
              <a:t>줄었다</a:t>
            </a:r>
            <a:r>
              <a:rPr sz="1400" b="0" dirty="0">
                <a:solidFill>
                  <a:srgbClr val="151A22"/>
                </a:solidFill>
                <a:latin typeface="Malgun Gothic"/>
                <a:ea typeface="Malgun Gothic"/>
                <a:cs typeface="Malgun Gothic"/>
              </a:rPr>
              <a:t>.</a:t>
            </a:r>
          </a:p>
        </p:txBody>
      </p:sp>
      <p:sp>
        <p:nvSpPr>
          <p:cNvPr id="16" name="사각형: 둥근 모서리 15">
            <a:extLst>
              <a:ext uri="{FF2B5EF4-FFF2-40B4-BE49-F238E27FC236}">
                <a16:creationId xmlns:a16="http://schemas.microsoft.com/office/drawing/2014/main" id="{E22E3CD4-A4AA-4285-B0A5-65E0DB38CF5C}"/>
              </a:ext>
            </a:extLst>
          </p:cNvPr>
          <p:cNvSpPr>
            <a:spLocks noGrp="1"/>
          </p:cNvSpPr>
          <p:nvPr/>
        </p:nvSpPr>
        <p:spPr>
          <a:xfrm>
            <a:off x="7270134" y="5352602"/>
            <a:ext cx="4000500" cy="419100"/>
          </a:xfrm>
          <a:prstGeom prst="roundRect">
            <a:avLst>
              <a:gd name="adj" fmla="val 22727"/>
            </a:avLst>
          </a:prstGeom>
          <a:solidFill>
            <a:srgbClr val="EAF0FF"/>
          </a:solidFill>
          <a:ln w="9525">
            <a:solidFill>
              <a:srgbClr val="2D5FE5"/>
            </a:solidFill>
            <a:prstDash val="solid"/>
          </a:ln>
        </p:spPr>
        <p:txBody>
          <a:bodyPr/>
          <a:lstStyle/>
          <a:p>
            <a:endParaRPr lang="ko-KR" altLang="en-US"/>
          </a:p>
        </p:txBody>
      </p:sp>
      <p:sp>
        <p:nvSpPr>
          <p:cNvPr id="17" name="직사각형 16">
            <a:extLst>
              <a:ext uri="{FF2B5EF4-FFF2-40B4-BE49-F238E27FC236}">
                <a16:creationId xmlns:a16="http://schemas.microsoft.com/office/drawing/2014/main" id="{65306E66-FDD5-428A-8F98-5E014D4255CC}"/>
              </a:ext>
            </a:extLst>
          </p:cNvPr>
          <p:cNvSpPr>
            <a:spLocks noGrp="1"/>
          </p:cNvSpPr>
          <p:nvPr/>
        </p:nvSpPr>
        <p:spPr>
          <a:xfrm>
            <a:off x="7441584" y="5466902"/>
            <a:ext cx="3657600" cy="190500"/>
          </a:xfrm>
          <a:prstGeom prst="rect">
            <a:avLst/>
          </a:prstGeom>
          <a:noFill/>
          <a:ln w="0">
            <a:noFill/>
            <a:prstDash val="solid"/>
          </a:ln>
        </p:spPr>
        <p:txBody>
          <a:bodyPr wrap="square" lIns="19050" tIns="19050" rIns="19050" bIns="19050" anchor="ctr">
            <a:normAutofit fontScale="78431" lnSpcReduction="10000"/>
          </a:bodyPr>
          <a:lstStyle/>
          <a:p>
            <a:pPr algn="l">
              <a:defRPr sz="1275" b="0">
                <a:solidFill>
                  <a:srgbClr val="2D5FE5"/>
                </a:solidFill>
                <a:latin typeface="Malgun Gothic"/>
                <a:ea typeface="Malgun Gothic"/>
                <a:cs typeface="Malgun Gothic"/>
              </a:defRPr>
            </a:pPr>
            <a:r>
              <a:rPr sz="1275" b="0">
                <a:solidFill>
                  <a:srgbClr val="2D5FE5"/>
                </a:solidFill>
                <a:latin typeface="Malgun Gothic"/>
                <a:ea typeface="Malgun Gothic"/>
                <a:cs typeface="Malgun Gothic"/>
              </a:rPr>
              <a:t>278 instances  ·  709.308 µm²  ·  전력과 Timing 중심 구조</a:t>
            </a:r>
          </a:p>
        </p:txBody>
      </p:sp>
      <p:pic>
        <p:nvPicPr>
          <p:cNvPr id="9" name="그림 8">
            <a:extLst>
              <a:ext uri="{FF2B5EF4-FFF2-40B4-BE49-F238E27FC236}">
                <a16:creationId xmlns:a16="http://schemas.microsoft.com/office/drawing/2014/main" id="{3FF9916B-6E48-995F-87A5-50AC8C7FCBAF}"/>
              </a:ext>
            </a:extLst>
          </p:cNvPr>
          <p:cNvPicPr>
            <a:picLocks noChangeAspect="1"/>
          </p:cNvPicPr>
          <p:nvPr/>
        </p:nvPicPr>
        <p:blipFill>
          <a:blip r:embed="rId3"/>
          <a:stretch/>
        </p:blipFill>
        <p:spPr>
          <a:xfrm>
            <a:off x="11285208" y="133349"/>
            <a:ext cx="900000" cy="900000"/>
          </a:xfrm>
          <a:prstGeom prst="rect">
            <a:avLst/>
          </a:prstGeom>
        </p:spPr>
      </p:pic>
      <p:pic>
        <p:nvPicPr>
          <p:cNvPr id="21" name="그래픽 20">
            <a:extLst>
              <a:ext uri="{FF2B5EF4-FFF2-40B4-BE49-F238E27FC236}">
                <a16:creationId xmlns:a16="http://schemas.microsoft.com/office/drawing/2014/main" id="{80FE30F7-3FEF-7B81-3167-1C27349871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6652" y="797709"/>
            <a:ext cx="8278696" cy="2897543"/>
          </a:xfrm>
          <a:prstGeom prst="rect">
            <a:avLst/>
          </a:prstGeom>
        </p:spPr>
      </p:pic>
      <p:sp>
        <p:nvSpPr>
          <p:cNvPr id="6" name="직사각형 5">
            <a:extLst>
              <a:ext uri="{FF2B5EF4-FFF2-40B4-BE49-F238E27FC236}">
                <a16:creationId xmlns:a16="http://schemas.microsoft.com/office/drawing/2014/main" id="{188B219A-F536-A517-61C6-A491218B2BCA}"/>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1913067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직사각형 64">
            <a:extLst>
              <a:ext uri="{FF2B5EF4-FFF2-40B4-BE49-F238E27FC236}">
                <a16:creationId xmlns:a16="http://schemas.microsoft.com/office/drawing/2014/main" id="{7BCE96AA-6C3C-4A2F-A168-7EFE0B569978}"/>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a:p>
        </p:txBody>
      </p:sp>
      <p:sp>
        <p:nvSpPr>
          <p:cNvPr id="2" name="title-10">
            <a:extLst>
              <a:ext uri="{FF2B5EF4-FFF2-40B4-BE49-F238E27FC236}">
                <a16:creationId xmlns:a16="http://schemas.microsoft.com/office/drawing/2014/main" id="{A90580FB-6D20-4B99-96A8-62BAF02E1142}"/>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buNone/>
              <a:defRPr sz="2625" b="0">
                <a:solidFill>
                  <a:srgbClr val="151A22"/>
                </a:solidFill>
                <a:latin typeface="Malgun Gothic"/>
                <a:ea typeface="Malgun Gothic"/>
                <a:cs typeface="Malgun Gothic"/>
              </a:defRPr>
            </a:pPr>
            <a:r>
              <a:rPr sz="2625" b="0">
                <a:solidFill>
                  <a:srgbClr val="151A22"/>
                </a:solidFill>
                <a:latin typeface="Malgun Gothic"/>
                <a:ea typeface="Malgun Gothic"/>
                <a:cs typeface="Malgun Gothic"/>
              </a:rPr>
              <a:t>검증 방법과 45nm 측정 조건</a:t>
            </a:r>
          </a:p>
        </p:txBody>
      </p:sp>
      <p:sp>
        <p:nvSpPr>
          <p:cNvPr id="3" name="section-10">
            <a:extLst>
              <a:ext uri="{FF2B5EF4-FFF2-40B4-BE49-F238E27FC236}">
                <a16:creationId xmlns:a16="http://schemas.microsoft.com/office/drawing/2014/main" id="{54EA57D7-5777-45AD-8DCF-80C29B121889}"/>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buNone/>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SIMULATION · SYNTHESIS · LEC · PHYSICAL DESIGN</a:t>
            </a:r>
          </a:p>
        </p:txBody>
      </p:sp>
      <p:sp>
        <p:nvSpPr>
          <p:cNvPr id="4" name="직사각형 3">
            <a:extLst>
              <a:ext uri="{FF2B5EF4-FFF2-40B4-BE49-F238E27FC236}">
                <a16:creationId xmlns:a16="http://schemas.microsoft.com/office/drawing/2014/main" id="{888E8232-AD31-42CA-8B6C-6DE5AF9EA56D}"/>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a:p>
        </p:txBody>
      </p:sp>
      <p:sp>
        <p:nvSpPr>
          <p:cNvPr id="9" name="사각형: 둥근 모서리 8">
            <a:extLst>
              <a:ext uri="{FF2B5EF4-FFF2-40B4-BE49-F238E27FC236}">
                <a16:creationId xmlns:a16="http://schemas.microsoft.com/office/drawing/2014/main" id="{22F917BA-FFF5-4EB4-B9EC-AE9A83246923}"/>
              </a:ext>
            </a:extLst>
          </p:cNvPr>
          <p:cNvSpPr>
            <a:spLocks noGrp="1"/>
          </p:cNvSpPr>
          <p:nvPr/>
        </p:nvSpPr>
        <p:spPr>
          <a:xfrm>
            <a:off x="571500" y="1276350"/>
            <a:ext cx="11049000" cy="552450"/>
          </a:xfrm>
          <a:prstGeom prst="roundRect">
            <a:avLst>
              <a:gd name="adj" fmla="val 17241"/>
            </a:avLst>
          </a:prstGeom>
          <a:solidFill>
            <a:srgbClr val="1E2C4F"/>
          </a:solidFill>
          <a:ln w="9525">
            <a:solidFill>
              <a:srgbClr val="1E2C4F"/>
            </a:solidFill>
            <a:prstDash val="solid"/>
          </a:ln>
        </p:spPr>
        <p:txBody>
          <a:bodyPr/>
          <a:lstStyle/>
          <a:p>
            <a:endParaRPr/>
          </a:p>
        </p:txBody>
      </p:sp>
      <p:sp>
        <p:nvSpPr>
          <p:cNvPr id="10" name="직사각형 9">
            <a:extLst>
              <a:ext uri="{FF2B5EF4-FFF2-40B4-BE49-F238E27FC236}">
                <a16:creationId xmlns:a16="http://schemas.microsoft.com/office/drawing/2014/main" id="{44B7D2FD-CE0A-4C98-97C3-04F2D6AB297D}"/>
              </a:ext>
            </a:extLst>
          </p:cNvPr>
          <p:cNvSpPr>
            <a:spLocks noGrp="1"/>
          </p:cNvSpPr>
          <p:nvPr/>
        </p:nvSpPr>
        <p:spPr>
          <a:xfrm>
            <a:off x="742950" y="1390650"/>
            <a:ext cx="10706100" cy="323850"/>
          </a:xfrm>
          <a:prstGeom prst="rect">
            <a:avLst/>
          </a:prstGeom>
          <a:noFill/>
          <a:ln w="0">
            <a:noFill/>
            <a:prstDash val="solid"/>
          </a:ln>
        </p:spPr>
        <p:txBody>
          <a:bodyPr wrap="square" lIns="19050" tIns="19050" rIns="19050" bIns="19050" anchor="ctr">
            <a:normAutofit/>
          </a:bodyPr>
          <a:lstStyle/>
          <a:p>
            <a:pPr algn="l">
              <a:buNone/>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RTL Simulation  →  Genus 합성  →  VCD/SAIF 활동 매핑  →  Conformal LEC  →  Innovus 배치·배선</a:t>
            </a:r>
          </a:p>
        </p:txBody>
      </p:sp>
      <p:sp>
        <p:nvSpPr>
          <p:cNvPr id="11" name="직사각형 10">
            <a:extLst>
              <a:ext uri="{FF2B5EF4-FFF2-40B4-BE49-F238E27FC236}">
                <a16:creationId xmlns:a16="http://schemas.microsoft.com/office/drawing/2014/main" id="{BF934E58-883B-4563-AF97-707C168EF69C}"/>
              </a:ext>
            </a:extLst>
          </p:cNvPr>
          <p:cNvSpPr>
            <a:spLocks noGrp="1"/>
          </p:cNvSpPr>
          <p:nvPr/>
        </p:nvSpPr>
        <p:spPr>
          <a:xfrm>
            <a:off x="571500" y="2038350"/>
            <a:ext cx="5619750" cy="323850"/>
          </a:xfrm>
          <a:prstGeom prst="rect">
            <a:avLst/>
          </a:prstGeom>
          <a:noFill/>
          <a:ln w="0">
            <a:noFill/>
            <a:prstDash val="solid"/>
          </a:ln>
        </p:spPr>
        <p:txBody>
          <a:bodyPr wrap="square" lIns="19050" tIns="19050" rIns="19050" bIns="19050" anchor="t">
            <a:noAutofit/>
          </a:bodyPr>
          <a:lstStyle/>
          <a:p>
            <a:pPr algn="l">
              <a:buNone/>
              <a:defRPr sz="1800" b="0">
                <a:solidFill>
                  <a:srgbClr val="088B94"/>
                </a:solidFill>
                <a:latin typeface="Malgun Gothic"/>
                <a:ea typeface="Malgun Gothic"/>
                <a:cs typeface="Malgun Gothic"/>
              </a:defRPr>
            </a:pPr>
            <a:r>
              <a:rPr sz="1800" b="0" dirty="0">
                <a:solidFill>
                  <a:srgbClr val="088B94"/>
                </a:solidFill>
                <a:latin typeface="Malgun Gothic"/>
                <a:ea typeface="Malgun Gothic"/>
                <a:cs typeface="Malgun Gothic"/>
              </a:rPr>
              <a:t>Testbench </a:t>
            </a:r>
            <a:r>
              <a:rPr sz="1800" b="0" dirty="0" err="1">
                <a:solidFill>
                  <a:srgbClr val="088B94"/>
                </a:solidFill>
                <a:latin typeface="Malgun Gothic"/>
                <a:ea typeface="Malgun Gothic"/>
                <a:cs typeface="Malgun Gothic"/>
              </a:rPr>
              <a:t>검증</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시나리오와</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확인</a:t>
            </a:r>
            <a:r>
              <a:rPr sz="1800" b="0" dirty="0">
                <a:solidFill>
                  <a:srgbClr val="088B94"/>
                </a:solidFill>
                <a:latin typeface="Malgun Gothic"/>
                <a:ea typeface="Malgun Gothic"/>
                <a:cs typeface="Malgun Gothic"/>
              </a:rPr>
              <a:t> </a:t>
            </a:r>
            <a:r>
              <a:rPr sz="1800" b="0" dirty="0" err="1">
                <a:solidFill>
                  <a:srgbClr val="088B94"/>
                </a:solidFill>
                <a:latin typeface="Malgun Gothic"/>
                <a:ea typeface="Malgun Gothic"/>
                <a:cs typeface="Malgun Gothic"/>
              </a:rPr>
              <a:t>항목</a:t>
            </a:r>
            <a:endParaRPr sz="1800" b="0" dirty="0">
              <a:solidFill>
                <a:srgbClr val="088B94"/>
              </a:solidFill>
              <a:latin typeface="Malgun Gothic"/>
              <a:ea typeface="Malgun Gothic"/>
              <a:cs typeface="Malgun Gothic"/>
            </a:endParaRPr>
          </a:p>
        </p:txBody>
      </p:sp>
      <p:sp>
        <p:nvSpPr>
          <p:cNvPr id="12" name="직사각형 11">
            <a:extLst>
              <a:ext uri="{FF2B5EF4-FFF2-40B4-BE49-F238E27FC236}">
                <a16:creationId xmlns:a16="http://schemas.microsoft.com/office/drawing/2014/main" id="{4E53AF55-F82A-4CCD-9E7E-728C105F1A9D}"/>
              </a:ext>
            </a:extLst>
          </p:cNvPr>
          <p:cNvSpPr>
            <a:spLocks noGrp="1"/>
          </p:cNvSpPr>
          <p:nvPr/>
        </p:nvSpPr>
        <p:spPr>
          <a:xfrm>
            <a:off x="571500" y="2400300"/>
            <a:ext cx="1333500" cy="28575"/>
          </a:xfrm>
          <a:prstGeom prst="rect">
            <a:avLst/>
          </a:prstGeom>
          <a:solidFill>
            <a:srgbClr val="088B94"/>
          </a:solidFill>
          <a:ln w="0">
            <a:noFill/>
            <a:prstDash val="solid"/>
          </a:ln>
        </p:spPr>
        <p:txBody>
          <a:bodyPr/>
          <a:lstStyle/>
          <a:p>
            <a:endParaRPr/>
          </a:p>
        </p:txBody>
      </p:sp>
      <p:sp>
        <p:nvSpPr>
          <p:cNvPr id="13" name="직사각형 12">
            <a:extLst>
              <a:ext uri="{FF2B5EF4-FFF2-40B4-BE49-F238E27FC236}">
                <a16:creationId xmlns:a16="http://schemas.microsoft.com/office/drawing/2014/main" id="{FA16627B-EF7B-4288-A59B-B0814E9BECDB}"/>
              </a:ext>
            </a:extLst>
          </p:cNvPr>
          <p:cNvSpPr>
            <a:spLocks noGrp="1"/>
          </p:cNvSpPr>
          <p:nvPr/>
        </p:nvSpPr>
        <p:spPr>
          <a:xfrm>
            <a:off x="571500" y="2457450"/>
            <a:ext cx="2095500" cy="419100"/>
          </a:xfrm>
          <a:prstGeom prst="rect">
            <a:avLst/>
          </a:prstGeom>
          <a:solidFill>
            <a:srgbClr val="1E2C4F"/>
          </a:solidFill>
          <a:ln w="9525">
            <a:solidFill>
              <a:srgbClr val="D3DBE5"/>
            </a:solidFill>
            <a:prstDash val="solid"/>
          </a:ln>
        </p:spPr>
        <p:txBody>
          <a:bodyPr/>
          <a:lstStyle/>
          <a:p>
            <a:endParaRPr/>
          </a:p>
        </p:txBody>
      </p:sp>
      <p:sp>
        <p:nvSpPr>
          <p:cNvPr id="14" name="직사각형 13">
            <a:extLst>
              <a:ext uri="{FF2B5EF4-FFF2-40B4-BE49-F238E27FC236}">
                <a16:creationId xmlns:a16="http://schemas.microsoft.com/office/drawing/2014/main" id="{FC858A49-51F4-40A0-8D9E-2D7AFB0B6C79}"/>
              </a:ext>
            </a:extLst>
          </p:cNvPr>
          <p:cNvSpPr>
            <a:spLocks noGrp="1"/>
          </p:cNvSpPr>
          <p:nvPr/>
        </p:nvSpPr>
        <p:spPr>
          <a:xfrm>
            <a:off x="666750" y="2524125"/>
            <a:ext cx="1905000" cy="285750"/>
          </a:xfrm>
          <a:prstGeom prst="rect">
            <a:avLst/>
          </a:prstGeom>
          <a:noFill/>
          <a:ln w="0">
            <a:noFill/>
            <a:prstDash val="solid"/>
          </a:ln>
        </p:spPr>
        <p:txBody>
          <a:bodyPr wrap="square" lIns="19050" tIns="19050" rIns="19050" bIns="19050" anchor="ctr">
            <a:noAutofit/>
          </a:bodyPr>
          <a:lstStyle/>
          <a:p>
            <a:pPr algn="ctr">
              <a:buNone/>
              <a:defRPr sz="1350" b="0">
                <a:solidFill>
                  <a:srgbClr val="FFFFFF"/>
                </a:solidFill>
                <a:latin typeface="Malgun Gothic"/>
                <a:ea typeface="Malgun Gothic"/>
                <a:cs typeface="Malgun Gothic"/>
              </a:defRPr>
            </a:pPr>
            <a:r>
              <a:rPr sz="1400" b="0" dirty="0" err="1">
                <a:solidFill>
                  <a:srgbClr val="FFFFFF"/>
                </a:solidFill>
                <a:latin typeface="Malgun Gothic"/>
                <a:ea typeface="Malgun Gothic"/>
                <a:cs typeface="Malgun Gothic"/>
              </a:rPr>
              <a:t>시험</a:t>
            </a:r>
            <a:r>
              <a:rPr sz="1400" b="0" dirty="0">
                <a:solidFill>
                  <a:srgbClr val="FFFFFF"/>
                </a:solidFill>
                <a:latin typeface="Malgun Gothic"/>
                <a:ea typeface="Malgun Gothic"/>
                <a:cs typeface="Malgun Gothic"/>
              </a:rPr>
              <a:t> </a:t>
            </a:r>
            <a:r>
              <a:rPr sz="1400" b="0" dirty="0" err="1">
                <a:solidFill>
                  <a:srgbClr val="FFFFFF"/>
                </a:solidFill>
                <a:latin typeface="Malgun Gothic"/>
                <a:ea typeface="Malgun Gothic"/>
                <a:cs typeface="Malgun Gothic"/>
              </a:rPr>
              <a:t>시나리오</a:t>
            </a:r>
            <a:endParaRPr sz="1400" b="0" dirty="0">
              <a:solidFill>
                <a:srgbClr val="FFFFFF"/>
              </a:solidFill>
              <a:latin typeface="Malgun Gothic"/>
              <a:ea typeface="Malgun Gothic"/>
              <a:cs typeface="Malgun Gothic"/>
            </a:endParaRPr>
          </a:p>
        </p:txBody>
      </p:sp>
      <p:sp>
        <p:nvSpPr>
          <p:cNvPr id="15" name="직사각형 14">
            <a:extLst>
              <a:ext uri="{FF2B5EF4-FFF2-40B4-BE49-F238E27FC236}">
                <a16:creationId xmlns:a16="http://schemas.microsoft.com/office/drawing/2014/main" id="{AD2E0941-2B36-4FB8-90C0-3BBE10DD4E96}"/>
              </a:ext>
            </a:extLst>
          </p:cNvPr>
          <p:cNvSpPr>
            <a:spLocks noGrp="1"/>
          </p:cNvSpPr>
          <p:nvPr/>
        </p:nvSpPr>
        <p:spPr>
          <a:xfrm>
            <a:off x="2667000" y="2457450"/>
            <a:ext cx="5143500" cy="419100"/>
          </a:xfrm>
          <a:prstGeom prst="rect">
            <a:avLst/>
          </a:prstGeom>
          <a:solidFill>
            <a:srgbClr val="1E2C4F"/>
          </a:solidFill>
          <a:ln w="9525">
            <a:solidFill>
              <a:srgbClr val="D3DBE5"/>
            </a:solidFill>
            <a:prstDash val="solid"/>
          </a:ln>
        </p:spPr>
        <p:txBody>
          <a:bodyPr/>
          <a:lstStyle/>
          <a:p>
            <a:endParaRPr/>
          </a:p>
        </p:txBody>
      </p:sp>
      <p:sp>
        <p:nvSpPr>
          <p:cNvPr id="16" name="직사각형 15">
            <a:extLst>
              <a:ext uri="{FF2B5EF4-FFF2-40B4-BE49-F238E27FC236}">
                <a16:creationId xmlns:a16="http://schemas.microsoft.com/office/drawing/2014/main" id="{2657B4F1-7A8B-4F61-B744-519B05FE2418}"/>
              </a:ext>
            </a:extLst>
          </p:cNvPr>
          <p:cNvSpPr>
            <a:spLocks noGrp="1"/>
          </p:cNvSpPr>
          <p:nvPr/>
        </p:nvSpPr>
        <p:spPr>
          <a:xfrm>
            <a:off x="2762250" y="2524125"/>
            <a:ext cx="4953000" cy="285750"/>
          </a:xfrm>
          <a:prstGeom prst="rect">
            <a:avLst/>
          </a:prstGeom>
          <a:noFill/>
          <a:ln w="0">
            <a:noFill/>
            <a:prstDash val="solid"/>
          </a:ln>
        </p:spPr>
        <p:txBody>
          <a:bodyPr wrap="square" lIns="19050" tIns="19050" rIns="19050" bIns="19050" anchor="ctr">
            <a:noAutofit/>
          </a:bodyPr>
          <a:lstStyle/>
          <a:p>
            <a:pPr algn="ctr">
              <a:buNone/>
              <a:defRPr sz="1350" b="0">
                <a:solidFill>
                  <a:srgbClr val="FFFFFF"/>
                </a:solidFill>
                <a:latin typeface="Malgun Gothic"/>
                <a:ea typeface="Malgun Gothic"/>
                <a:cs typeface="Malgun Gothic"/>
              </a:defRPr>
            </a:pPr>
            <a:r>
              <a:rPr sz="1400" b="0" dirty="0" err="1">
                <a:solidFill>
                  <a:srgbClr val="FFFFFF"/>
                </a:solidFill>
                <a:latin typeface="Malgun Gothic"/>
                <a:ea typeface="Malgun Gothic"/>
                <a:cs typeface="Malgun Gothic"/>
              </a:rPr>
              <a:t>입력</a:t>
            </a:r>
            <a:r>
              <a:rPr sz="1400" b="0" dirty="0">
                <a:solidFill>
                  <a:srgbClr val="FFFFFF"/>
                </a:solidFill>
                <a:latin typeface="Malgun Gothic"/>
                <a:ea typeface="Malgun Gothic"/>
                <a:cs typeface="Malgun Gothic"/>
              </a:rPr>
              <a:t> </a:t>
            </a:r>
            <a:r>
              <a:rPr sz="1400" b="0" dirty="0" err="1">
                <a:solidFill>
                  <a:srgbClr val="FFFFFF"/>
                </a:solidFill>
                <a:latin typeface="Malgun Gothic"/>
                <a:ea typeface="Malgun Gothic"/>
                <a:cs typeface="Malgun Gothic"/>
              </a:rPr>
              <a:t>조건과</a:t>
            </a:r>
            <a:r>
              <a:rPr sz="1400" b="0" dirty="0">
                <a:solidFill>
                  <a:srgbClr val="FFFFFF"/>
                </a:solidFill>
                <a:latin typeface="Malgun Gothic"/>
                <a:ea typeface="Malgun Gothic"/>
                <a:cs typeface="Malgun Gothic"/>
              </a:rPr>
              <a:t> </a:t>
            </a:r>
            <a:r>
              <a:rPr sz="1400" b="0" dirty="0" err="1">
                <a:solidFill>
                  <a:srgbClr val="FFFFFF"/>
                </a:solidFill>
                <a:latin typeface="Malgun Gothic"/>
                <a:ea typeface="Malgun Gothic"/>
                <a:cs typeface="Malgun Gothic"/>
              </a:rPr>
              <a:t>확인</a:t>
            </a:r>
            <a:r>
              <a:rPr sz="1400" b="0" dirty="0">
                <a:solidFill>
                  <a:srgbClr val="FFFFFF"/>
                </a:solidFill>
                <a:latin typeface="Malgun Gothic"/>
                <a:ea typeface="Malgun Gothic"/>
                <a:cs typeface="Malgun Gothic"/>
              </a:rPr>
              <a:t> </a:t>
            </a:r>
            <a:r>
              <a:rPr sz="1400" b="0" dirty="0" err="1">
                <a:solidFill>
                  <a:srgbClr val="FFFFFF"/>
                </a:solidFill>
                <a:latin typeface="Malgun Gothic"/>
                <a:ea typeface="Malgun Gothic"/>
                <a:cs typeface="Malgun Gothic"/>
              </a:rPr>
              <a:t>항목</a:t>
            </a:r>
            <a:endParaRPr sz="1400" b="0" dirty="0">
              <a:solidFill>
                <a:srgbClr val="FFFFFF"/>
              </a:solidFill>
              <a:latin typeface="Malgun Gothic"/>
              <a:ea typeface="Malgun Gothic"/>
              <a:cs typeface="Malgun Gothic"/>
            </a:endParaRPr>
          </a:p>
        </p:txBody>
      </p:sp>
      <p:sp>
        <p:nvSpPr>
          <p:cNvPr id="17" name="직사각형 16">
            <a:extLst>
              <a:ext uri="{FF2B5EF4-FFF2-40B4-BE49-F238E27FC236}">
                <a16:creationId xmlns:a16="http://schemas.microsoft.com/office/drawing/2014/main" id="{A85FAB19-3342-4D82-8F25-38CBA84CB798}"/>
              </a:ext>
            </a:extLst>
          </p:cNvPr>
          <p:cNvSpPr>
            <a:spLocks noGrp="1"/>
          </p:cNvSpPr>
          <p:nvPr/>
        </p:nvSpPr>
        <p:spPr>
          <a:xfrm>
            <a:off x="7810500" y="2457450"/>
            <a:ext cx="2381250" cy="419100"/>
          </a:xfrm>
          <a:prstGeom prst="rect">
            <a:avLst/>
          </a:prstGeom>
          <a:solidFill>
            <a:srgbClr val="1E2C4F"/>
          </a:solidFill>
          <a:ln w="9525">
            <a:solidFill>
              <a:srgbClr val="D3DBE5"/>
            </a:solidFill>
            <a:prstDash val="solid"/>
          </a:ln>
        </p:spPr>
        <p:txBody>
          <a:bodyPr/>
          <a:lstStyle/>
          <a:p>
            <a:endParaRPr/>
          </a:p>
        </p:txBody>
      </p:sp>
      <p:sp>
        <p:nvSpPr>
          <p:cNvPr id="18" name="직사각형 17">
            <a:extLst>
              <a:ext uri="{FF2B5EF4-FFF2-40B4-BE49-F238E27FC236}">
                <a16:creationId xmlns:a16="http://schemas.microsoft.com/office/drawing/2014/main" id="{97FE101B-D930-4D39-904A-216F5AF6A5D2}"/>
              </a:ext>
            </a:extLst>
          </p:cNvPr>
          <p:cNvSpPr>
            <a:spLocks noGrp="1"/>
          </p:cNvSpPr>
          <p:nvPr/>
        </p:nvSpPr>
        <p:spPr>
          <a:xfrm>
            <a:off x="7905750" y="2524125"/>
            <a:ext cx="2190750" cy="285750"/>
          </a:xfrm>
          <a:prstGeom prst="rect">
            <a:avLst/>
          </a:prstGeom>
          <a:noFill/>
          <a:ln w="0">
            <a:noFill/>
            <a:prstDash val="solid"/>
          </a:ln>
        </p:spPr>
        <p:txBody>
          <a:bodyPr wrap="square" lIns="19050" tIns="19050" rIns="19050" bIns="19050" anchor="ctr">
            <a:noAutofit/>
          </a:bodyPr>
          <a:lstStyle/>
          <a:p>
            <a:pPr algn="ctr">
              <a:buNone/>
              <a:defRPr sz="1350" b="0">
                <a:solidFill>
                  <a:srgbClr val="FFFFFF"/>
                </a:solidFill>
                <a:latin typeface="Malgun Gothic"/>
                <a:ea typeface="Malgun Gothic"/>
                <a:cs typeface="Malgun Gothic"/>
              </a:defRPr>
            </a:pPr>
            <a:r>
              <a:rPr sz="1400" b="0" dirty="0" err="1">
                <a:solidFill>
                  <a:srgbClr val="FFFFFF"/>
                </a:solidFill>
                <a:latin typeface="Malgun Gothic"/>
                <a:ea typeface="Malgun Gothic"/>
                <a:cs typeface="Malgun Gothic"/>
              </a:rPr>
              <a:t>결과</a:t>
            </a:r>
            <a:endParaRPr sz="1400" b="0" dirty="0">
              <a:solidFill>
                <a:srgbClr val="FFFFFF"/>
              </a:solidFill>
              <a:latin typeface="Malgun Gothic"/>
              <a:ea typeface="Malgun Gothic"/>
              <a:cs typeface="Malgun Gothic"/>
            </a:endParaRPr>
          </a:p>
        </p:txBody>
      </p:sp>
      <p:sp>
        <p:nvSpPr>
          <p:cNvPr id="19" name="직사각형 18">
            <a:extLst>
              <a:ext uri="{FF2B5EF4-FFF2-40B4-BE49-F238E27FC236}">
                <a16:creationId xmlns:a16="http://schemas.microsoft.com/office/drawing/2014/main" id="{F22BBFAD-FFDE-4EA5-B4D1-9173D9DC2021}"/>
              </a:ext>
            </a:extLst>
          </p:cNvPr>
          <p:cNvSpPr>
            <a:spLocks noGrp="1"/>
          </p:cNvSpPr>
          <p:nvPr/>
        </p:nvSpPr>
        <p:spPr>
          <a:xfrm>
            <a:off x="571500" y="2876550"/>
            <a:ext cx="2095500" cy="533400"/>
          </a:xfrm>
          <a:prstGeom prst="rect">
            <a:avLst/>
          </a:prstGeom>
          <a:solidFill>
            <a:srgbClr val="EEF1F4"/>
          </a:solidFill>
          <a:ln w="9525">
            <a:solidFill>
              <a:srgbClr val="D3DBE5"/>
            </a:solidFill>
            <a:prstDash val="solid"/>
          </a:ln>
        </p:spPr>
        <p:txBody>
          <a:bodyPr/>
          <a:lstStyle/>
          <a:p>
            <a:endParaRPr/>
          </a:p>
        </p:txBody>
      </p:sp>
      <p:sp>
        <p:nvSpPr>
          <p:cNvPr id="20" name="직사각형 19">
            <a:extLst>
              <a:ext uri="{FF2B5EF4-FFF2-40B4-BE49-F238E27FC236}">
                <a16:creationId xmlns:a16="http://schemas.microsoft.com/office/drawing/2014/main" id="{95321B87-48FC-41BD-826A-15463E419E5F}"/>
              </a:ext>
            </a:extLst>
          </p:cNvPr>
          <p:cNvSpPr>
            <a:spLocks noGrp="1"/>
          </p:cNvSpPr>
          <p:nvPr/>
        </p:nvSpPr>
        <p:spPr>
          <a:xfrm>
            <a:off x="666750" y="2943225"/>
            <a:ext cx="1905000" cy="400050"/>
          </a:xfrm>
          <a:prstGeom prst="rect">
            <a:avLst/>
          </a:prstGeom>
          <a:noFill/>
          <a:ln w="0">
            <a:noFill/>
            <a:prstDash val="solid"/>
          </a:ln>
        </p:spPr>
        <p:txBody>
          <a:bodyPr wrap="square" lIns="19050" tIns="19050" rIns="19050" bIns="19050" anchor="ctr">
            <a:noAutofit/>
          </a:bodyPr>
          <a:lstStyle/>
          <a:p>
            <a:pPr algn="ctr">
              <a:buNone/>
              <a:defRPr sz="1125" b="0">
                <a:solidFill>
                  <a:srgbClr val="7B8798"/>
                </a:solidFill>
                <a:latin typeface="Malgun Gothic"/>
                <a:ea typeface="Malgun Gothic"/>
                <a:cs typeface="Malgun Gothic"/>
              </a:defRPr>
            </a:pPr>
            <a:r>
              <a:rPr lang="ko-KR" altLang="ko-KR" sz="1200" dirty="0">
                <a:solidFill>
                  <a:srgbClr val="7B8798"/>
                </a:solidFill>
                <a:latin typeface="Malgun Gothic"/>
              </a:rPr>
              <a:t>개별 입력 (</a:t>
            </a:r>
            <a:r>
              <a:rPr lang="ko-KR" altLang="ko-KR" sz="1200" dirty="0" err="1">
                <a:solidFill>
                  <a:srgbClr val="7B8798"/>
                </a:solidFill>
                <a:latin typeface="Malgun Gothic"/>
              </a:rPr>
              <a:t>Sparse</a:t>
            </a:r>
            <a:r>
              <a:rPr lang="ko-KR" altLang="ko-KR" sz="1200" dirty="0">
                <a:solidFill>
                  <a:srgbClr val="7B8798"/>
                </a:solidFill>
                <a:latin typeface="Malgun Gothic"/>
              </a:rPr>
              <a:t>)</a:t>
            </a:r>
            <a:endParaRPr sz="1200" b="0" dirty="0">
              <a:solidFill>
                <a:srgbClr val="5E6B7D"/>
              </a:solidFill>
              <a:latin typeface="Malgun Gothic"/>
              <a:ea typeface="Malgun Gothic"/>
              <a:cs typeface="Malgun Gothic"/>
            </a:endParaRPr>
          </a:p>
        </p:txBody>
      </p:sp>
      <p:sp>
        <p:nvSpPr>
          <p:cNvPr id="21" name="직사각형 20">
            <a:extLst>
              <a:ext uri="{FF2B5EF4-FFF2-40B4-BE49-F238E27FC236}">
                <a16:creationId xmlns:a16="http://schemas.microsoft.com/office/drawing/2014/main" id="{195A07C5-DFFE-44A9-ACA9-73A2D295E3F9}"/>
              </a:ext>
            </a:extLst>
          </p:cNvPr>
          <p:cNvSpPr>
            <a:spLocks noGrp="1"/>
          </p:cNvSpPr>
          <p:nvPr/>
        </p:nvSpPr>
        <p:spPr>
          <a:xfrm>
            <a:off x="2667000" y="2876550"/>
            <a:ext cx="5143500" cy="533400"/>
          </a:xfrm>
          <a:prstGeom prst="rect">
            <a:avLst/>
          </a:prstGeom>
          <a:solidFill>
            <a:srgbClr val="F7F9FB"/>
          </a:solidFill>
          <a:ln w="9525">
            <a:solidFill>
              <a:srgbClr val="D3DBE5"/>
            </a:solidFill>
            <a:prstDash val="solid"/>
          </a:ln>
        </p:spPr>
        <p:txBody>
          <a:bodyPr/>
          <a:lstStyle/>
          <a:p>
            <a:endParaRPr/>
          </a:p>
        </p:txBody>
      </p:sp>
      <p:sp>
        <p:nvSpPr>
          <p:cNvPr id="22" name="직사각형 21">
            <a:extLst>
              <a:ext uri="{FF2B5EF4-FFF2-40B4-BE49-F238E27FC236}">
                <a16:creationId xmlns:a16="http://schemas.microsoft.com/office/drawing/2014/main" id="{F87F6830-5D70-4E21-98DD-92D6DE50B603}"/>
              </a:ext>
            </a:extLst>
          </p:cNvPr>
          <p:cNvSpPr>
            <a:spLocks noGrp="1"/>
          </p:cNvSpPr>
          <p:nvPr/>
        </p:nvSpPr>
        <p:spPr>
          <a:xfrm>
            <a:off x="2762250" y="2943225"/>
            <a:ext cx="4953000" cy="400050"/>
          </a:xfrm>
          <a:prstGeom prst="rect">
            <a:avLst/>
          </a:prstGeom>
          <a:noFill/>
          <a:ln w="0">
            <a:noFill/>
            <a:prstDash val="solid"/>
          </a:ln>
        </p:spPr>
        <p:txBody>
          <a:bodyPr wrap="square" lIns="19050" tIns="19050" rIns="19050" bIns="19050" anchor="ctr">
            <a:noAutofit/>
          </a:bodyPr>
          <a:lstStyle/>
          <a:p>
            <a:pPr>
              <a:defRPr sz="1125" b="0">
                <a:solidFill>
                  <a:srgbClr val="151A22"/>
                </a:solidFill>
                <a:latin typeface="Malgun Gothic"/>
                <a:ea typeface="Malgun Gothic"/>
                <a:cs typeface="Malgun Gothic"/>
              </a:defRPr>
            </a:pPr>
            <a:r>
              <a:rPr lang="ko-KR" altLang="ko-KR" sz="1125" dirty="0">
                <a:solidFill>
                  <a:srgbClr val="151A22"/>
                </a:solidFill>
                <a:latin typeface="Malgun Gothic"/>
              </a:rPr>
              <a:t>16개 </a:t>
            </a:r>
            <a:r>
              <a:rPr lang="ko-KR" altLang="ko-KR" sz="1125" dirty="0" err="1">
                <a:solidFill>
                  <a:srgbClr val="151A22"/>
                </a:solidFill>
                <a:latin typeface="Malgun Gothic"/>
              </a:rPr>
              <a:t>Source에</a:t>
            </a:r>
            <a:r>
              <a:rPr lang="ko-KR" altLang="ko-KR" sz="1125" dirty="0">
                <a:solidFill>
                  <a:srgbClr val="151A22"/>
                </a:solidFill>
                <a:latin typeface="Malgun Gothic"/>
              </a:rPr>
              <a:t> 이벤트를 하나씩 입력하여 주소 오류와 이벤트 </a:t>
            </a:r>
            <a:r>
              <a:rPr lang="ko-KR" altLang="ko-KR" sz="1125" dirty="0" err="1">
                <a:solidFill>
                  <a:srgbClr val="151A22"/>
                </a:solidFill>
                <a:latin typeface="Malgun Gothic"/>
              </a:rPr>
              <a:t>유실·중복</a:t>
            </a:r>
            <a:r>
              <a:rPr lang="ko-KR" altLang="ko-KR" sz="1125" dirty="0">
                <a:solidFill>
                  <a:srgbClr val="151A22"/>
                </a:solidFill>
                <a:latin typeface="Malgun Gothic"/>
              </a:rPr>
              <a:t> 여부를 확인</a:t>
            </a:r>
            <a:endParaRPr sz="1200" b="0" dirty="0">
              <a:solidFill>
                <a:srgbClr val="151A22"/>
              </a:solidFill>
              <a:latin typeface="Malgun Gothic"/>
              <a:ea typeface="Malgun Gothic"/>
              <a:cs typeface="Malgun Gothic"/>
            </a:endParaRPr>
          </a:p>
        </p:txBody>
      </p:sp>
      <p:sp>
        <p:nvSpPr>
          <p:cNvPr id="23" name="직사각형 22">
            <a:extLst>
              <a:ext uri="{FF2B5EF4-FFF2-40B4-BE49-F238E27FC236}">
                <a16:creationId xmlns:a16="http://schemas.microsoft.com/office/drawing/2014/main" id="{652E49F8-145A-444D-A79E-4A4A11BF452B}"/>
              </a:ext>
            </a:extLst>
          </p:cNvPr>
          <p:cNvSpPr>
            <a:spLocks noGrp="1"/>
          </p:cNvSpPr>
          <p:nvPr/>
        </p:nvSpPr>
        <p:spPr>
          <a:xfrm>
            <a:off x="7810500" y="2876550"/>
            <a:ext cx="2381250" cy="533400"/>
          </a:xfrm>
          <a:prstGeom prst="rect">
            <a:avLst/>
          </a:prstGeom>
          <a:solidFill>
            <a:srgbClr val="F7F9FB"/>
          </a:solidFill>
          <a:ln w="9525">
            <a:solidFill>
              <a:srgbClr val="D3DBE5"/>
            </a:solidFill>
            <a:prstDash val="solid"/>
          </a:ln>
        </p:spPr>
        <p:txBody>
          <a:bodyPr/>
          <a:lstStyle/>
          <a:p>
            <a:endParaRPr/>
          </a:p>
        </p:txBody>
      </p:sp>
      <p:sp>
        <p:nvSpPr>
          <p:cNvPr id="24" name="직사각형 23">
            <a:extLst>
              <a:ext uri="{FF2B5EF4-FFF2-40B4-BE49-F238E27FC236}">
                <a16:creationId xmlns:a16="http://schemas.microsoft.com/office/drawing/2014/main" id="{4651BED2-B49E-4566-A115-4BAD07D25BAA}"/>
              </a:ext>
            </a:extLst>
          </p:cNvPr>
          <p:cNvSpPr>
            <a:spLocks noGrp="1"/>
          </p:cNvSpPr>
          <p:nvPr/>
        </p:nvSpPr>
        <p:spPr>
          <a:xfrm>
            <a:off x="7905750" y="2943225"/>
            <a:ext cx="2190750" cy="400050"/>
          </a:xfrm>
          <a:prstGeom prst="rect">
            <a:avLst/>
          </a:prstGeom>
          <a:noFill/>
          <a:ln w="0">
            <a:noFill/>
            <a:prstDash val="solid"/>
          </a:ln>
        </p:spPr>
        <p:txBody>
          <a:bodyPr wrap="square" lIns="19050" tIns="19050" rIns="19050" bIns="19050" anchor="ctr">
            <a:noAutofit/>
          </a:bodyPr>
          <a:lstStyle/>
          <a:p>
            <a:pPr algn="ctr">
              <a:buNone/>
              <a:defRPr sz="1125" b="0">
                <a:solidFill>
                  <a:srgbClr val="151A22"/>
                </a:solidFill>
                <a:latin typeface="Malgun Gothic"/>
                <a:ea typeface="Malgun Gothic"/>
                <a:cs typeface="Malgun Gothic"/>
              </a:defRPr>
            </a:pPr>
            <a:r>
              <a:rPr lang="ko-KR" altLang="ko-KR" sz="1200" dirty="0">
                <a:solidFill>
                  <a:srgbClr val="151A22"/>
                </a:solidFill>
                <a:latin typeface="Malgun Gothic"/>
              </a:rPr>
              <a:t>16개 모두 정확한 주소로 전달</a:t>
            </a:r>
            <a:endParaRPr sz="1400" b="0" dirty="0">
              <a:solidFill>
                <a:srgbClr val="151A22"/>
              </a:solidFill>
              <a:latin typeface="Malgun Gothic"/>
              <a:ea typeface="Malgun Gothic"/>
              <a:cs typeface="Malgun Gothic"/>
            </a:endParaRPr>
          </a:p>
        </p:txBody>
      </p:sp>
      <p:sp>
        <p:nvSpPr>
          <p:cNvPr id="25" name="직사각형 24">
            <a:extLst>
              <a:ext uri="{FF2B5EF4-FFF2-40B4-BE49-F238E27FC236}">
                <a16:creationId xmlns:a16="http://schemas.microsoft.com/office/drawing/2014/main" id="{D810DF24-EF5B-4EBB-971D-338AE3467ED7}"/>
              </a:ext>
            </a:extLst>
          </p:cNvPr>
          <p:cNvSpPr>
            <a:spLocks noGrp="1"/>
          </p:cNvSpPr>
          <p:nvPr/>
        </p:nvSpPr>
        <p:spPr>
          <a:xfrm>
            <a:off x="571500" y="3409950"/>
            <a:ext cx="2095500" cy="571500"/>
          </a:xfrm>
          <a:prstGeom prst="rect">
            <a:avLst/>
          </a:prstGeom>
          <a:solidFill>
            <a:srgbClr val="E7F7F2"/>
          </a:solidFill>
          <a:ln w="9525">
            <a:solidFill>
              <a:srgbClr val="D3DBE5"/>
            </a:solidFill>
            <a:prstDash val="solid"/>
          </a:ln>
        </p:spPr>
        <p:txBody>
          <a:bodyPr/>
          <a:lstStyle/>
          <a:p>
            <a:endParaRPr/>
          </a:p>
        </p:txBody>
      </p:sp>
      <p:sp>
        <p:nvSpPr>
          <p:cNvPr id="26" name="직사각형 25">
            <a:extLst>
              <a:ext uri="{FF2B5EF4-FFF2-40B4-BE49-F238E27FC236}">
                <a16:creationId xmlns:a16="http://schemas.microsoft.com/office/drawing/2014/main" id="{A7670F26-599E-485D-B9A7-44B55274A1EA}"/>
              </a:ext>
            </a:extLst>
          </p:cNvPr>
          <p:cNvSpPr>
            <a:spLocks noGrp="1"/>
          </p:cNvSpPr>
          <p:nvPr/>
        </p:nvSpPr>
        <p:spPr>
          <a:xfrm>
            <a:off x="666750" y="3476625"/>
            <a:ext cx="1905000" cy="438150"/>
          </a:xfrm>
          <a:prstGeom prst="rect">
            <a:avLst/>
          </a:prstGeom>
          <a:noFill/>
          <a:ln w="0">
            <a:noFill/>
            <a:prstDash val="solid"/>
          </a:ln>
        </p:spPr>
        <p:txBody>
          <a:bodyPr wrap="square" lIns="19050" tIns="19050" rIns="19050" bIns="19050" anchor="ctr">
            <a:noAutofit/>
          </a:bodyPr>
          <a:lstStyle/>
          <a:p>
            <a:pPr algn="ctr">
              <a:buNone/>
              <a:defRPr sz="1125" b="0">
                <a:solidFill>
                  <a:srgbClr val="0E9F78"/>
                </a:solidFill>
                <a:latin typeface="Malgun Gothic"/>
                <a:ea typeface="Malgun Gothic"/>
                <a:cs typeface="Malgun Gothic"/>
              </a:defRPr>
            </a:pPr>
            <a:r>
              <a:rPr lang="ko-KR" altLang="ko-KR" sz="1200" dirty="0" err="1">
                <a:solidFill>
                  <a:srgbClr val="0E9F78"/>
                </a:solidFill>
                <a:latin typeface="Malgun Gothic"/>
              </a:rPr>
              <a:t>Receiver</a:t>
            </a:r>
            <a:r>
              <a:rPr lang="ko-KR" altLang="ko-KR" sz="1200" dirty="0">
                <a:solidFill>
                  <a:srgbClr val="0E9F78"/>
                </a:solidFill>
                <a:latin typeface="Malgun Gothic"/>
              </a:rPr>
              <a:t> 정지 (</a:t>
            </a:r>
            <a:r>
              <a:rPr lang="ko-KR" altLang="ko-KR" sz="1200" dirty="0" err="1">
                <a:solidFill>
                  <a:srgbClr val="0E9F78"/>
                </a:solidFill>
                <a:latin typeface="Malgun Gothic"/>
              </a:rPr>
              <a:t>Stall</a:t>
            </a:r>
            <a:r>
              <a:rPr lang="ko-KR" altLang="ko-KR" sz="1200" dirty="0">
                <a:solidFill>
                  <a:srgbClr val="0E9F78"/>
                </a:solidFill>
                <a:latin typeface="Malgun Gothic"/>
              </a:rPr>
              <a:t>)</a:t>
            </a:r>
            <a:endParaRPr sz="1200" b="0" dirty="0">
              <a:solidFill>
                <a:srgbClr val="00A57E"/>
              </a:solidFill>
              <a:latin typeface="Malgun Gothic"/>
              <a:ea typeface="Malgun Gothic"/>
              <a:cs typeface="Malgun Gothic"/>
            </a:endParaRPr>
          </a:p>
        </p:txBody>
      </p:sp>
      <p:sp>
        <p:nvSpPr>
          <p:cNvPr id="27" name="직사각형 26">
            <a:extLst>
              <a:ext uri="{FF2B5EF4-FFF2-40B4-BE49-F238E27FC236}">
                <a16:creationId xmlns:a16="http://schemas.microsoft.com/office/drawing/2014/main" id="{61664E04-8B06-4B90-8C31-E70079537030}"/>
              </a:ext>
            </a:extLst>
          </p:cNvPr>
          <p:cNvSpPr>
            <a:spLocks noGrp="1"/>
          </p:cNvSpPr>
          <p:nvPr/>
        </p:nvSpPr>
        <p:spPr>
          <a:xfrm>
            <a:off x="2667000" y="3409950"/>
            <a:ext cx="5143500" cy="571500"/>
          </a:xfrm>
          <a:prstGeom prst="rect">
            <a:avLst/>
          </a:prstGeom>
          <a:solidFill>
            <a:srgbClr val="FFFFFF"/>
          </a:solidFill>
          <a:ln w="9525">
            <a:solidFill>
              <a:srgbClr val="D3DBE5"/>
            </a:solidFill>
            <a:prstDash val="solid"/>
          </a:ln>
        </p:spPr>
        <p:txBody>
          <a:bodyPr/>
          <a:lstStyle/>
          <a:p>
            <a:endParaRPr/>
          </a:p>
        </p:txBody>
      </p:sp>
      <p:sp>
        <p:nvSpPr>
          <p:cNvPr id="28" name="직사각형 27">
            <a:extLst>
              <a:ext uri="{FF2B5EF4-FFF2-40B4-BE49-F238E27FC236}">
                <a16:creationId xmlns:a16="http://schemas.microsoft.com/office/drawing/2014/main" id="{7E013AC4-71DF-42D0-A40F-A16873CDADA7}"/>
              </a:ext>
            </a:extLst>
          </p:cNvPr>
          <p:cNvSpPr>
            <a:spLocks noGrp="1"/>
          </p:cNvSpPr>
          <p:nvPr/>
        </p:nvSpPr>
        <p:spPr>
          <a:xfrm>
            <a:off x="2762250" y="3476625"/>
            <a:ext cx="4953000" cy="438150"/>
          </a:xfrm>
          <a:prstGeom prst="rect">
            <a:avLst/>
          </a:prstGeom>
          <a:noFill/>
          <a:ln w="0">
            <a:noFill/>
            <a:prstDash val="solid"/>
          </a:ln>
        </p:spPr>
        <p:txBody>
          <a:bodyPr wrap="square" lIns="19050" tIns="19050" rIns="19050" bIns="19050" anchor="ctr">
            <a:noAutofit/>
          </a:bodyPr>
          <a:lstStyle/>
          <a:p>
            <a:pPr>
              <a:defRPr sz="1125" b="0">
                <a:solidFill>
                  <a:srgbClr val="151A22"/>
                </a:solidFill>
                <a:latin typeface="Malgun Gothic"/>
                <a:ea typeface="Malgun Gothic"/>
                <a:cs typeface="Malgun Gothic"/>
              </a:defRPr>
            </a:pPr>
            <a:r>
              <a:rPr lang="ko-KR" altLang="ko-KR" sz="1200" dirty="0" err="1">
                <a:solidFill>
                  <a:srgbClr val="151A22"/>
                </a:solidFill>
                <a:latin typeface="Malgun Gothic"/>
              </a:rPr>
              <a:t>Receiver를</a:t>
            </a:r>
            <a:r>
              <a:rPr lang="ko-KR" altLang="ko-KR" sz="1200" dirty="0">
                <a:solidFill>
                  <a:srgbClr val="151A22"/>
                </a:solidFill>
                <a:latin typeface="Malgun Gothic"/>
              </a:rPr>
              <a:t> 멈추고 4개 </a:t>
            </a:r>
            <a:r>
              <a:rPr lang="ko-KR" altLang="ko-KR" sz="1200" dirty="0" err="1">
                <a:solidFill>
                  <a:srgbClr val="151A22"/>
                </a:solidFill>
                <a:latin typeface="Malgun Gothic"/>
              </a:rPr>
              <a:t>Source에서</a:t>
            </a:r>
            <a:r>
              <a:rPr lang="ko-KR" altLang="ko-KR" sz="1200" dirty="0">
                <a:solidFill>
                  <a:srgbClr val="151A22"/>
                </a:solidFill>
                <a:latin typeface="Malgun Gothic"/>
              </a:rPr>
              <a:t> 2개씩 입력하여 출력 유지와 내부 이벤트 저장을 확인</a:t>
            </a:r>
            <a:endParaRPr sz="1400" b="0" dirty="0">
              <a:solidFill>
                <a:srgbClr val="151A22"/>
              </a:solidFill>
              <a:latin typeface="Malgun Gothic"/>
              <a:ea typeface="Malgun Gothic"/>
              <a:cs typeface="Malgun Gothic"/>
            </a:endParaRPr>
          </a:p>
        </p:txBody>
      </p:sp>
      <p:sp>
        <p:nvSpPr>
          <p:cNvPr id="29" name="직사각형 28">
            <a:extLst>
              <a:ext uri="{FF2B5EF4-FFF2-40B4-BE49-F238E27FC236}">
                <a16:creationId xmlns:a16="http://schemas.microsoft.com/office/drawing/2014/main" id="{CD2CB6B3-92FB-4D79-8CBB-410863146C74}"/>
              </a:ext>
            </a:extLst>
          </p:cNvPr>
          <p:cNvSpPr>
            <a:spLocks noGrp="1"/>
          </p:cNvSpPr>
          <p:nvPr/>
        </p:nvSpPr>
        <p:spPr>
          <a:xfrm>
            <a:off x="7810500" y="3409950"/>
            <a:ext cx="2381250" cy="571500"/>
          </a:xfrm>
          <a:prstGeom prst="rect">
            <a:avLst/>
          </a:prstGeom>
          <a:solidFill>
            <a:srgbClr val="FFFFFF"/>
          </a:solidFill>
          <a:ln w="9525">
            <a:solidFill>
              <a:srgbClr val="D3DBE5"/>
            </a:solidFill>
            <a:prstDash val="solid"/>
          </a:ln>
        </p:spPr>
        <p:txBody>
          <a:bodyPr/>
          <a:lstStyle/>
          <a:p>
            <a:endParaRPr/>
          </a:p>
        </p:txBody>
      </p:sp>
      <p:sp>
        <p:nvSpPr>
          <p:cNvPr id="30" name="직사각형 29">
            <a:extLst>
              <a:ext uri="{FF2B5EF4-FFF2-40B4-BE49-F238E27FC236}">
                <a16:creationId xmlns:a16="http://schemas.microsoft.com/office/drawing/2014/main" id="{49F33587-DF8B-4784-97EA-2688B7DA65FB}"/>
              </a:ext>
            </a:extLst>
          </p:cNvPr>
          <p:cNvSpPr>
            <a:spLocks noGrp="1"/>
          </p:cNvSpPr>
          <p:nvPr/>
        </p:nvSpPr>
        <p:spPr>
          <a:xfrm>
            <a:off x="7905750" y="3476625"/>
            <a:ext cx="2190750" cy="438150"/>
          </a:xfrm>
          <a:prstGeom prst="rect">
            <a:avLst/>
          </a:prstGeom>
          <a:noFill/>
          <a:ln w="0">
            <a:noFill/>
            <a:prstDash val="solid"/>
          </a:ln>
        </p:spPr>
        <p:txBody>
          <a:bodyPr wrap="square" lIns="19050" tIns="19050" rIns="19050" bIns="19050" anchor="ctr">
            <a:noAutofit/>
          </a:bodyPr>
          <a:lstStyle/>
          <a:p>
            <a:pPr>
              <a:buNone/>
              <a:defRPr sz="1125" b="0">
                <a:solidFill>
                  <a:srgbClr val="151A22"/>
                </a:solidFill>
                <a:latin typeface="Malgun Gothic"/>
                <a:ea typeface="Malgun Gothic"/>
                <a:cs typeface="Malgun Gothic"/>
              </a:defRPr>
            </a:pPr>
            <a:r>
              <a:rPr lang="ko-KR" altLang="ko-KR" sz="1200" dirty="0">
                <a:solidFill>
                  <a:srgbClr val="151A22"/>
                </a:solidFill>
                <a:latin typeface="Malgun Gothic"/>
              </a:rPr>
              <a:t>8개 모두 전달 · 정지 중 5개 내부 저장</a:t>
            </a:r>
            <a:endParaRPr sz="1400" b="0" dirty="0">
              <a:solidFill>
                <a:srgbClr val="151A22"/>
              </a:solidFill>
              <a:latin typeface="Malgun Gothic"/>
              <a:ea typeface="Malgun Gothic"/>
              <a:cs typeface="Malgun Gothic"/>
            </a:endParaRPr>
          </a:p>
        </p:txBody>
      </p:sp>
      <p:sp>
        <p:nvSpPr>
          <p:cNvPr id="31" name="직사각형 30">
            <a:extLst>
              <a:ext uri="{FF2B5EF4-FFF2-40B4-BE49-F238E27FC236}">
                <a16:creationId xmlns:a16="http://schemas.microsoft.com/office/drawing/2014/main" id="{BE2D51CE-77A0-4509-904A-AD65B9D927E1}"/>
              </a:ext>
            </a:extLst>
          </p:cNvPr>
          <p:cNvSpPr>
            <a:spLocks noGrp="1"/>
          </p:cNvSpPr>
          <p:nvPr/>
        </p:nvSpPr>
        <p:spPr>
          <a:xfrm>
            <a:off x="571500" y="3981450"/>
            <a:ext cx="2095500" cy="571500"/>
          </a:xfrm>
          <a:prstGeom prst="rect">
            <a:avLst/>
          </a:prstGeom>
          <a:solidFill>
            <a:srgbClr val="EAF0FF"/>
          </a:solidFill>
          <a:ln w="9525">
            <a:solidFill>
              <a:srgbClr val="D3DBE5"/>
            </a:solidFill>
            <a:prstDash val="solid"/>
          </a:ln>
        </p:spPr>
        <p:txBody>
          <a:bodyPr/>
          <a:lstStyle/>
          <a:p>
            <a:endParaRPr/>
          </a:p>
        </p:txBody>
      </p:sp>
      <p:sp>
        <p:nvSpPr>
          <p:cNvPr id="32" name="직사각형 31">
            <a:extLst>
              <a:ext uri="{FF2B5EF4-FFF2-40B4-BE49-F238E27FC236}">
                <a16:creationId xmlns:a16="http://schemas.microsoft.com/office/drawing/2014/main" id="{F43AC236-A854-4FB5-8659-A5F933CCAF75}"/>
              </a:ext>
            </a:extLst>
          </p:cNvPr>
          <p:cNvSpPr>
            <a:spLocks noGrp="1"/>
          </p:cNvSpPr>
          <p:nvPr/>
        </p:nvSpPr>
        <p:spPr>
          <a:xfrm>
            <a:off x="666750" y="4048125"/>
            <a:ext cx="1905000" cy="438150"/>
          </a:xfrm>
          <a:prstGeom prst="rect">
            <a:avLst/>
          </a:prstGeom>
          <a:noFill/>
          <a:ln w="0">
            <a:noFill/>
            <a:prstDash val="solid"/>
          </a:ln>
        </p:spPr>
        <p:txBody>
          <a:bodyPr wrap="square" lIns="19050" tIns="19050" rIns="19050" bIns="19050" anchor="ctr">
            <a:noAutofit/>
          </a:bodyPr>
          <a:lstStyle/>
          <a:p>
            <a:pPr algn="ctr">
              <a:buNone/>
              <a:defRPr sz="1125" b="0">
                <a:solidFill>
                  <a:srgbClr val="2D5FE5"/>
                </a:solidFill>
                <a:latin typeface="Malgun Gothic"/>
                <a:ea typeface="Malgun Gothic"/>
                <a:cs typeface="Malgun Gothic"/>
              </a:defRPr>
            </a:pPr>
            <a:r>
              <a:rPr lang="ko-KR" altLang="ko-KR" sz="1200" dirty="0">
                <a:solidFill>
                  <a:srgbClr val="2D5FE5"/>
                </a:solidFill>
                <a:latin typeface="Malgun Gothic"/>
              </a:rPr>
              <a:t>최대 부하 (</a:t>
            </a:r>
            <a:r>
              <a:rPr lang="ko-KR" altLang="ko-KR" sz="1200" dirty="0" err="1">
                <a:solidFill>
                  <a:srgbClr val="2D5FE5"/>
                </a:solidFill>
                <a:latin typeface="Malgun Gothic"/>
              </a:rPr>
              <a:t>Saturation</a:t>
            </a:r>
            <a:r>
              <a:rPr lang="ko-KR" altLang="ko-KR" sz="1200" dirty="0">
                <a:solidFill>
                  <a:srgbClr val="2D5FE5"/>
                </a:solidFill>
                <a:latin typeface="Malgun Gothic"/>
              </a:rPr>
              <a:t>)</a:t>
            </a:r>
            <a:endParaRPr sz="1200" b="0" dirty="0">
              <a:solidFill>
                <a:srgbClr val="2F61E9"/>
              </a:solidFill>
              <a:latin typeface="Malgun Gothic"/>
              <a:ea typeface="Malgun Gothic"/>
              <a:cs typeface="Malgun Gothic"/>
            </a:endParaRPr>
          </a:p>
        </p:txBody>
      </p:sp>
      <p:sp>
        <p:nvSpPr>
          <p:cNvPr id="33" name="직사각형 32">
            <a:extLst>
              <a:ext uri="{FF2B5EF4-FFF2-40B4-BE49-F238E27FC236}">
                <a16:creationId xmlns:a16="http://schemas.microsoft.com/office/drawing/2014/main" id="{04DFFE5A-F942-4C82-9769-EEC5BC45B39C}"/>
              </a:ext>
            </a:extLst>
          </p:cNvPr>
          <p:cNvSpPr>
            <a:spLocks noGrp="1"/>
          </p:cNvSpPr>
          <p:nvPr/>
        </p:nvSpPr>
        <p:spPr>
          <a:xfrm>
            <a:off x="2667000" y="3981450"/>
            <a:ext cx="5143500" cy="571500"/>
          </a:xfrm>
          <a:prstGeom prst="rect">
            <a:avLst/>
          </a:prstGeom>
          <a:solidFill>
            <a:srgbClr val="F7F9FB"/>
          </a:solidFill>
          <a:ln w="9525">
            <a:solidFill>
              <a:srgbClr val="D3DBE5"/>
            </a:solidFill>
            <a:prstDash val="solid"/>
          </a:ln>
        </p:spPr>
        <p:txBody>
          <a:bodyPr/>
          <a:lstStyle/>
          <a:p>
            <a:endParaRPr/>
          </a:p>
        </p:txBody>
      </p:sp>
      <p:sp>
        <p:nvSpPr>
          <p:cNvPr id="34" name="직사각형 33">
            <a:extLst>
              <a:ext uri="{FF2B5EF4-FFF2-40B4-BE49-F238E27FC236}">
                <a16:creationId xmlns:a16="http://schemas.microsoft.com/office/drawing/2014/main" id="{FC9A3368-EED4-435B-8ED2-35CDD26EECE3}"/>
              </a:ext>
            </a:extLst>
          </p:cNvPr>
          <p:cNvSpPr>
            <a:spLocks noGrp="1"/>
          </p:cNvSpPr>
          <p:nvPr/>
        </p:nvSpPr>
        <p:spPr>
          <a:xfrm>
            <a:off x="2762250" y="4048125"/>
            <a:ext cx="4953000" cy="438150"/>
          </a:xfrm>
          <a:prstGeom prst="rect">
            <a:avLst/>
          </a:prstGeom>
          <a:noFill/>
          <a:ln w="0">
            <a:noFill/>
            <a:prstDash val="solid"/>
          </a:ln>
        </p:spPr>
        <p:txBody>
          <a:bodyPr wrap="square" lIns="19050" tIns="19050" rIns="19050" bIns="19050" anchor="ctr">
            <a:noAutofit/>
          </a:bodyPr>
          <a:lstStyle/>
          <a:p>
            <a:pPr>
              <a:defRPr sz="1125" b="0">
                <a:solidFill>
                  <a:srgbClr val="151A22"/>
                </a:solidFill>
                <a:latin typeface="Malgun Gothic"/>
                <a:ea typeface="Malgun Gothic"/>
                <a:cs typeface="Malgun Gothic"/>
              </a:defRPr>
            </a:pPr>
            <a:r>
              <a:rPr lang="ko-KR" altLang="ko-KR" sz="1200" dirty="0">
                <a:solidFill>
                  <a:srgbClr val="151A22"/>
                </a:solidFill>
                <a:latin typeface="Malgun Gothic"/>
              </a:rPr>
              <a:t>16개 </a:t>
            </a:r>
            <a:r>
              <a:rPr lang="ko-KR" altLang="ko-KR" sz="1200" dirty="0" err="1">
                <a:solidFill>
                  <a:srgbClr val="151A22"/>
                </a:solidFill>
                <a:latin typeface="Malgun Gothic"/>
              </a:rPr>
              <a:t>Source에서</a:t>
            </a:r>
            <a:r>
              <a:rPr lang="ko-KR" altLang="ko-KR" sz="1200" dirty="0">
                <a:solidFill>
                  <a:srgbClr val="151A22"/>
                </a:solidFill>
                <a:latin typeface="Malgun Gothic"/>
              </a:rPr>
              <a:t> 4개씩 총 64개를 입력하여 밀린 이벤트를 매 </a:t>
            </a:r>
            <a:r>
              <a:rPr lang="ko-KR" altLang="ko-KR" sz="1200" dirty="0" err="1">
                <a:solidFill>
                  <a:srgbClr val="151A22"/>
                </a:solidFill>
                <a:latin typeface="Malgun Gothic"/>
              </a:rPr>
              <a:t>clock</a:t>
            </a:r>
            <a:r>
              <a:rPr lang="ko-KR" altLang="ko-KR" sz="1200" dirty="0">
                <a:solidFill>
                  <a:srgbClr val="151A22"/>
                </a:solidFill>
                <a:latin typeface="Malgun Gothic"/>
              </a:rPr>
              <a:t> 연속 처리하는지 확인</a:t>
            </a:r>
            <a:endParaRPr sz="1400" b="0" dirty="0">
              <a:solidFill>
                <a:srgbClr val="151A22"/>
              </a:solidFill>
              <a:latin typeface="Malgun Gothic"/>
              <a:ea typeface="Malgun Gothic"/>
              <a:cs typeface="Malgun Gothic"/>
            </a:endParaRPr>
          </a:p>
        </p:txBody>
      </p:sp>
      <p:sp>
        <p:nvSpPr>
          <p:cNvPr id="35" name="직사각형 34">
            <a:extLst>
              <a:ext uri="{FF2B5EF4-FFF2-40B4-BE49-F238E27FC236}">
                <a16:creationId xmlns:a16="http://schemas.microsoft.com/office/drawing/2014/main" id="{005D10FA-6149-4349-BD89-C3C963D140A6}"/>
              </a:ext>
            </a:extLst>
          </p:cNvPr>
          <p:cNvSpPr>
            <a:spLocks noGrp="1"/>
          </p:cNvSpPr>
          <p:nvPr/>
        </p:nvSpPr>
        <p:spPr>
          <a:xfrm>
            <a:off x="7810500" y="3981450"/>
            <a:ext cx="2381250" cy="571500"/>
          </a:xfrm>
          <a:prstGeom prst="rect">
            <a:avLst/>
          </a:prstGeom>
          <a:solidFill>
            <a:srgbClr val="F7F9FB"/>
          </a:solidFill>
          <a:ln w="9525">
            <a:solidFill>
              <a:srgbClr val="D3DBE5"/>
            </a:solidFill>
            <a:prstDash val="solid"/>
          </a:ln>
        </p:spPr>
        <p:txBody>
          <a:bodyPr/>
          <a:lstStyle/>
          <a:p>
            <a:endParaRPr/>
          </a:p>
        </p:txBody>
      </p:sp>
      <p:sp>
        <p:nvSpPr>
          <p:cNvPr id="36" name="직사각형 35">
            <a:extLst>
              <a:ext uri="{FF2B5EF4-FFF2-40B4-BE49-F238E27FC236}">
                <a16:creationId xmlns:a16="http://schemas.microsoft.com/office/drawing/2014/main" id="{C3630F48-7BF0-4612-8C3D-1D340745C06B}"/>
              </a:ext>
            </a:extLst>
          </p:cNvPr>
          <p:cNvSpPr>
            <a:spLocks noGrp="1"/>
          </p:cNvSpPr>
          <p:nvPr/>
        </p:nvSpPr>
        <p:spPr>
          <a:xfrm>
            <a:off x="7905750" y="4048125"/>
            <a:ext cx="2190750" cy="438150"/>
          </a:xfrm>
          <a:prstGeom prst="rect">
            <a:avLst/>
          </a:prstGeom>
          <a:noFill/>
          <a:ln w="0">
            <a:noFill/>
            <a:prstDash val="solid"/>
          </a:ln>
        </p:spPr>
        <p:txBody>
          <a:bodyPr wrap="square" lIns="19050" tIns="19050" rIns="19050" bIns="19050" anchor="ctr">
            <a:noAutofit/>
          </a:bodyPr>
          <a:lstStyle/>
          <a:p>
            <a:pPr>
              <a:buNone/>
              <a:defRPr sz="1125" b="0">
                <a:solidFill>
                  <a:srgbClr val="151A22"/>
                </a:solidFill>
                <a:latin typeface="Malgun Gothic"/>
                <a:ea typeface="Malgun Gothic"/>
                <a:cs typeface="Malgun Gothic"/>
              </a:defRPr>
            </a:pPr>
            <a:r>
              <a:rPr lang="ko-KR" altLang="ko-KR" sz="1200" dirty="0">
                <a:solidFill>
                  <a:srgbClr val="151A22"/>
                </a:solidFill>
                <a:latin typeface="Malgun Gothic"/>
              </a:rPr>
              <a:t>64개 모두 전달</a:t>
            </a:r>
            <a:r>
              <a:rPr lang="en-US" altLang="ko-KR" sz="1200" dirty="0">
                <a:solidFill>
                  <a:srgbClr val="151A22"/>
                </a:solidFill>
                <a:latin typeface="Malgun Gothic"/>
              </a:rPr>
              <a:t>, </a:t>
            </a:r>
            <a:r>
              <a:rPr lang="ko-KR" altLang="ko-KR" sz="1200" dirty="0">
                <a:solidFill>
                  <a:srgbClr val="151A22"/>
                </a:solidFill>
                <a:latin typeface="Malgun Gothic"/>
              </a:rPr>
              <a:t>1 </a:t>
            </a:r>
            <a:r>
              <a:rPr lang="ko-KR" altLang="ko-KR" sz="1200" dirty="0" err="1">
                <a:solidFill>
                  <a:srgbClr val="151A22"/>
                </a:solidFill>
                <a:latin typeface="Malgun Gothic"/>
              </a:rPr>
              <a:t>event</a:t>
            </a:r>
            <a:r>
              <a:rPr lang="ko-KR" altLang="ko-KR" sz="1200" dirty="0">
                <a:solidFill>
                  <a:srgbClr val="151A22"/>
                </a:solidFill>
                <a:latin typeface="Malgun Gothic"/>
              </a:rPr>
              <a:t>/</a:t>
            </a:r>
            <a:r>
              <a:rPr lang="ko-KR" altLang="ko-KR" sz="1200" dirty="0" err="1">
                <a:solidFill>
                  <a:srgbClr val="151A22"/>
                </a:solidFill>
                <a:latin typeface="Malgun Gothic"/>
              </a:rPr>
              <a:t>clock</a:t>
            </a:r>
            <a:r>
              <a:rPr lang="ko-KR" altLang="ko-KR" sz="1200" dirty="0">
                <a:solidFill>
                  <a:srgbClr val="151A22"/>
                </a:solidFill>
                <a:latin typeface="Malgun Gothic"/>
              </a:rPr>
              <a:t> 달성</a:t>
            </a:r>
            <a:endParaRPr sz="1400" b="0" dirty="0">
              <a:solidFill>
                <a:srgbClr val="151A22"/>
              </a:solidFill>
              <a:latin typeface="Malgun Gothic"/>
              <a:ea typeface="Malgun Gothic"/>
              <a:cs typeface="Malgun Gothic"/>
            </a:endParaRPr>
          </a:p>
        </p:txBody>
      </p:sp>
      <p:sp>
        <p:nvSpPr>
          <p:cNvPr id="37" name="직사각형 36">
            <a:extLst>
              <a:ext uri="{FF2B5EF4-FFF2-40B4-BE49-F238E27FC236}">
                <a16:creationId xmlns:a16="http://schemas.microsoft.com/office/drawing/2014/main" id="{947A4BA5-E407-4EBD-BC2E-8443CD8240C5}"/>
              </a:ext>
            </a:extLst>
          </p:cNvPr>
          <p:cNvSpPr>
            <a:spLocks noGrp="1"/>
          </p:cNvSpPr>
          <p:nvPr/>
        </p:nvSpPr>
        <p:spPr>
          <a:xfrm>
            <a:off x="571500" y="5069731"/>
            <a:ext cx="4095750" cy="323850"/>
          </a:xfrm>
          <a:prstGeom prst="rect">
            <a:avLst/>
          </a:prstGeom>
          <a:noFill/>
          <a:ln w="0">
            <a:noFill/>
            <a:prstDash val="solid"/>
          </a:ln>
        </p:spPr>
        <p:txBody>
          <a:bodyPr wrap="square" lIns="19050" tIns="19050" rIns="19050" bIns="19050" anchor="t">
            <a:normAutofit/>
          </a:bodyPr>
          <a:lstStyle/>
          <a:p>
            <a:pPr algn="l">
              <a:buNone/>
              <a:defRPr sz="1800" b="0">
                <a:solidFill>
                  <a:srgbClr val="E87A24"/>
                </a:solidFill>
                <a:latin typeface="Malgun Gothic"/>
                <a:ea typeface="Malgun Gothic"/>
                <a:cs typeface="Malgun Gothic"/>
              </a:defRPr>
            </a:pPr>
            <a:r>
              <a:rPr sz="1800" b="0">
                <a:solidFill>
                  <a:srgbClr val="E87A24"/>
                </a:solidFill>
                <a:latin typeface="Malgun Gothic"/>
                <a:ea typeface="Malgun Gothic"/>
                <a:cs typeface="Malgun Gothic"/>
              </a:rPr>
              <a:t>공통 합성 및 배치 배선 조건</a:t>
            </a:r>
          </a:p>
        </p:txBody>
      </p:sp>
      <p:sp>
        <p:nvSpPr>
          <p:cNvPr id="38" name="직사각형 37">
            <a:extLst>
              <a:ext uri="{FF2B5EF4-FFF2-40B4-BE49-F238E27FC236}">
                <a16:creationId xmlns:a16="http://schemas.microsoft.com/office/drawing/2014/main" id="{E309C8B2-0B05-4805-84F3-AD5119E09B1D}"/>
              </a:ext>
            </a:extLst>
          </p:cNvPr>
          <p:cNvSpPr>
            <a:spLocks noGrp="1"/>
          </p:cNvSpPr>
          <p:nvPr/>
        </p:nvSpPr>
        <p:spPr>
          <a:xfrm>
            <a:off x="571500" y="5431681"/>
            <a:ext cx="1333500" cy="28575"/>
          </a:xfrm>
          <a:prstGeom prst="rect">
            <a:avLst/>
          </a:prstGeom>
          <a:solidFill>
            <a:srgbClr val="E87A24"/>
          </a:solidFill>
          <a:ln w="0">
            <a:noFill/>
            <a:prstDash val="solid"/>
          </a:ln>
        </p:spPr>
        <p:txBody>
          <a:bodyPr/>
          <a:lstStyle/>
          <a:p>
            <a:endParaRPr/>
          </a:p>
        </p:txBody>
      </p:sp>
      <p:sp>
        <p:nvSpPr>
          <p:cNvPr id="39" name="직사각형 38">
            <a:extLst>
              <a:ext uri="{FF2B5EF4-FFF2-40B4-BE49-F238E27FC236}">
                <a16:creationId xmlns:a16="http://schemas.microsoft.com/office/drawing/2014/main" id="{49225658-BAD7-4794-BFE1-C5798082FF21}"/>
              </a:ext>
            </a:extLst>
          </p:cNvPr>
          <p:cNvSpPr>
            <a:spLocks noGrp="1"/>
          </p:cNvSpPr>
          <p:nvPr/>
        </p:nvSpPr>
        <p:spPr>
          <a:xfrm>
            <a:off x="571500" y="5488831"/>
            <a:ext cx="2238375" cy="323850"/>
          </a:xfrm>
          <a:prstGeom prst="rect">
            <a:avLst/>
          </a:prstGeom>
          <a:solidFill>
            <a:srgbClr val="EEF2F5"/>
          </a:solidFill>
          <a:ln w="9525">
            <a:solidFill>
              <a:srgbClr val="D3DBE5"/>
            </a:solidFill>
            <a:prstDash val="solid"/>
          </a:ln>
        </p:spPr>
        <p:txBody>
          <a:bodyPr/>
          <a:lstStyle/>
          <a:p>
            <a:endParaRPr/>
          </a:p>
        </p:txBody>
      </p:sp>
      <p:sp>
        <p:nvSpPr>
          <p:cNvPr id="40" name="직사각형 39">
            <a:extLst>
              <a:ext uri="{FF2B5EF4-FFF2-40B4-BE49-F238E27FC236}">
                <a16:creationId xmlns:a16="http://schemas.microsoft.com/office/drawing/2014/main" id="{43BD68E9-D233-43E6-9A95-BC24C2651BB0}"/>
              </a:ext>
            </a:extLst>
          </p:cNvPr>
          <p:cNvSpPr>
            <a:spLocks noGrp="1"/>
          </p:cNvSpPr>
          <p:nvPr/>
        </p:nvSpPr>
        <p:spPr>
          <a:xfrm>
            <a:off x="666750" y="5555506"/>
            <a:ext cx="2047875" cy="190500"/>
          </a:xfrm>
          <a:prstGeom prst="rect">
            <a:avLst/>
          </a:prstGeom>
          <a:noFill/>
          <a:ln w="0">
            <a:noFill/>
            <a:prstDash val="solid"/>
          </a:ln>
        </p:spPr>
        <p:txBody>
          <a:bodyPr wrap="square" lIns="19050" tIns="19050" rIns="19050" bIns="19050" anchor="ctr">
            <a:normAutofit fontScale="96389" lnSpcReduction="10000"/>
          </a:bodyPr>
          <a:lstStyle/>
          <a:p>
            <a:pPr algn="ctr">
              <a:buNone/>
              <a:defRPr sz="1125" b="0">
                <a:solidFill>
                  <a:srgbClr val="1E2C4F"/>
                </a:solidFill>
                <a:latin typeface="Malgun Gothic"/>
                <a:ea typeface="Malgun Gothic"/>
                <a:cs typeface="Malgun Gothic"/>
              </a:defRPr>
            </a:pPr>
            <a:r>
              <a:rPr sz="1125" b="0">
                <a:solidFill>
                  <a:srgbClr val="1E2C4F"/>
                </a:solidFill>
                <a:latin typeface="Malgun Gothic"/>
                <a:ea typeface="Malgun Gothic"/>
                <a:cs typeface="Malgun Gothic"/>
              </a:rPr>
              <a:t>PDK</a:t>
            </a:r>
          </a:p>
        </p:txBody>
      </p:sp>
      <p:sp>
        <p:nvSpPr>
          <p:cNvPr id="41" name="직사각형 40">
            <a:extLst>
              <a:ext uri="{FF2B5EF4-FFF2-40B4-BE49-F238E27FC236}">
                <a16:creationId xmlns:a16="http://schemas.microsoft.com/office/drawing/2014/main" id="{518152D9-B057-4998-A4F2-AE3B32C6B330}"/>
              </a:ext>
            </a:extLst>
          </p:cNvPr>
          <p:cNvSpPr>
            <a:spLocks noGrp="1"/>
          </p:cNvSpPr>
          <p:nvPr/>
        </p:nvSpPr>
        <p:spPr>
          <a:xfrm>
            <a:off x="2809875" y="5488831"/>
            <a:ext cx="3190875" cy="323850"/>
          </a:xfrm>
          <a:prstGeom prst="rect">
            <a:avLst/>
          </a:prstGeom>
          <a:solidFill>
            <a:srgbClr val="FFFFFF"/>
          </a:solidFill>
          <a:ln w="9525">
            <a:solidFill>
              <a:srgbClr val="D3DBE5"/>
            </a:solidFill>
            <a:prstDash val="solid"/>
          </a:ln>
        </p:spPr>
        <p:txBody>
          <a:bodyPr/>
          <a:lstStyle/>
          <a:p>
            <a:endParaRPr/>
          </a:p>
        </p:txBody>
      </p:sp>
      <p:sp>
        <p:nvSpPr>
          <p:cNvPr id="42" name="직사각형 41">
            <a:extLst>
              <a:ext uri="{FF2B5EF4-FFF2-40B4-BE49-F238E27FC236}">
                <a16:creationId xmlns:a16="http://schemas.microsoft.com/office/drawing/2014/main" id="{C85ED573-27B1-4AAD-9340-10D7FF293231}"/>
              </a:ext>
            </a:extLst>
          </p:cNvPr>
          <p:cNvSpPr>
            <a:spLocks noGrp="1"/>
          </p:cNvSpPr>
          <p:nvPr/>
        </p:nvSpPr>
        <p:spPr>
          <a:xfrm>
            <a:off x="2905125" y="5555506"/>
            <a:ext cx="3000375" cy="190500"/>
          </a:xfrm>
          <a:prstGeom prst="rect">
            <a:avLst/>
          </a:prstGeom>
          <a:noFill/>
          <a:ln w="0">
            <a:noFill/>
            <a:prstDash val="solid"/>
          </a:ln>
        </p:spPr>
        <p:txBody>
          <a:bodyPr wrap="square" lIns="19050" tIns="19050" rIns="19050" bIns="19050" anchor="ctr">
            <a:normAutofit fontScale="96389" lnSpcReduction="10000"/>
          </a:bodyPr>
          <a:lstStyle/>
          <a:p>
            <a:pPr algn="l">
              <a:buNone/>
              <a:defRPr sz="1125" b="0">
                <a:solidFill>
                  <a:srgbClr val="151A22"/>
                </a:solidFill>
                <a:latin typeface="Malgun Gothic"/>
                <a:ea typeface="Malgun Gothic"/>
                <a:cs typeface="Malgun Gothic"/>
              </a:defRPr>
            </a:pPr>
            <a:r>
              <a:rPr sz="1125" b="0" dirty="0">
                <a:solidFill>
                  <a:srgbClr val="151A22"/>
                </a:solidFill>
                <a:latin typeface="Malgun Gothic"/>
                <a:ea typeface="Malgun Gothic"/>
                <a:cs typeface="Malgun Gothic"/>
              </a:rPr>
              <a:t>Generic GPDK045 / GSCLIB045</a:t>
            </a:r>
          </a:p>
        </p:txBody>
      </p:sp>
      <p:sp>
        <p:nvSpPr>
          <p:cNvPr id="43" name="직사각형 42">
            <a:extLst>
              <a:ext uri="{FF2B5EF4-FFF2-40B4-BE49-F238E27FC236}">
                <a16:creationId xmlns:a16="http://schemas.microsoft.com/office/drawing/2014/main" id="{F033763D-90F2-44E9-9EAC-F615EE321A55}"/>
              </a:ext>
            </a:extLst>
          </p:cNvPr>
          <p:cNvSpPr>
            <a:spLocks noGrp="1"/>
          </p:cNvSpPr>
          <p:nvPr/>
        </p:nvSpPr>
        <p:spPr>
          <a:xfrm>
            <a:off x="6000750" y="5488831"/>
            <a:ext cx="2238375" cy="323850"/>
          </a:xfrm>
          <a:prstGeom prst="rect">
            <a:avLst/>
          </a:prstGeom>
          <a:solidFill>
            <a:srgbClr val="EEF2F5"/>
          </a:solidFill>
          <a:ln w="9525">
            <a:solidFill>
              <a:srgbClr val="D3DBE5"/>
            </a:solidFill>
            <a:prstDash val="solid"/>
          </a:ln>
        </p:spPr>
        <p:txBody>
          <a:bodyPr/>
          <a:lstStyle/>
          <a:p>
            <a:endParaRPr/>
          </a:p>
        </p:txBody>
      </p:sp>
      <p:sp>
        <p:nvSpPr>
          <p:cNvPr id="44" name="직사각형 43">
            <a:extLst>
              <a:ext uri="{FF2B5EF4-FFF2-40B4-BE49-F238E27FC236}">
                <a16:creationId xmlns:a16="http://schemas.microsoft.com/office/drawing/2014/main" id="{E90E3B61-A7C3-45E4-A991-C7671E2CA1D0}"/>
              </a:ext>
            </a:extLst>
          </p:cNvPr>
          <p:cNvSpPr>
            <a:spLocks noGrp="1"/>
          </p:cNvSpPr>
          <p:nvPr/>
        </p:nvSpPr>
        <p:spPr>
          <a:xfrm>
            <a:off x="6096000" y="5555506"/>
            <a:ext cx="2047875" cy="190500"/>
          </a:xfrm>
          <a:prstGeom prst="rect">
            <a:avLst/>
          </a:prstGeom>
          <a:noFill/>
          <a:ln w="0">
            <a:noFill/>
            <a:prstDash val="solid"/>
          </a:ln>
        </p:spPr>
        <p:txBody>
          <a:bodyPr wrap="square" lIns="19050" tIns="19050" rIns="19050" bIns="19050" anchor="ctr">
            <a:normAutofit fontScale="96389" lnSpcReduction="10000"/>
          </a:bodyPr>
          <a:lstStyle/>
          <a:p>
            <a:pPr algn="ctr">
              <a:buNone/>
              <a:defRPr sz="1125" b="0">
                <a:solidFill>
                  <a:srgbClr val="1E2C4F"/>
                </a:solidFill>
                <a:latin typeface="Malgun Gothic"/>
                <a:ea typeface="Malgun Gothic"/>
                <a:cs typeface="Malgun Gothic"/>
              </a:defRPr>
            </a:pPr>
            <a:r>
              <a:rPr sz="1125" b="0">
                <a:solidFill>
                  <a:srgbClr val="1E2C4F"/>
                </a:solidFill>
                <a:latin typeface="Malgun Gothic"/>
                <a:ea typeface="Malgun Gothic"/>
                <a:cs typeface="Malgun Gothic"/>
              </a:rPr>
              <a:t>Clock</a:t>
            </a:r>
          </a:p>
        </p:txBody>
      </p:sp>
      <p:sp>
        <p:nvSpPr>
          <p:cNvPr id="45" name="직사각형 44">
            <a:extLst>
              <a:ext uri="{FF2B5EF4-FFF2-40B4-BE49-F238E27FC236}">
                <a16:creationId xmlns:a16="http://schemas.microsoft.com/office/drawing/2014/main" id="{C91E04D5-2507-411D-83D8-07044F41FB16}"/>
              </a:ext>
            </a:extLst>
          </p:cNvPr>
          <p:cNvSpPr>
            <a:spLocks noGrp="1"/>
          </p:cNvSpPr>
          <p:nvPr/>
        </p:nvSpPr>
        <p:spPr>
          <a:xfrm>
            <a:off x="8239125" y="5488831"/>
            <a:ext cx="3190875" cy="323850"/>
          </a:xfrm>
          <a:prstGeom prst="rect">
            <a:avLst/>
          </a:prstGeom>
          <a:solidFill>
            <a:srgbClr val="FFFFFF"/>
          </a:solidFill>
          <a:ln w="9525">
            <a:solidFill>
              <a:srgbClr val="D3DBE5"/>
            </a:solidFill>
            <a:prstDash val="solid"/>
          </a:ln>
        </p:spPr>
        <p:txBody>
          <a:bodyPr/>
          <a:lstStyle/>
          <a:p>
            <a:endParaRPr/>
          </a:p>
        </p:txBody>
      </p:sp>
      <p:sp>
        <p:nvSpPr>
          <p:cNvPr id="46" name="직사각형 45">
            <a:extLst>
              <a:ext uri="{FF2B5EF4-FFF2-40B4-BE49-F238E27FC236}">
                <a16:creationId xmlns:a16="http://schemas.microsoft.com/office/drawing/2014/main" id="{0A935989-2D54-406D-AE29-5CF4F7812081}"/>
              </a:ext>
            </a:extLst>
          </p:cNvPr>
          <p:cNvSpPr>
            <a:spLocks noGrp="1"/>
          </p:cNvSpPr>
          <p:nvPr/>
        </p:nvSpPr>
        <p:spPr>
          <a:xfrm>
            <a:off x="8334375" y="5555506"/>
            <a:ext cx="3000375" cy="190500"/>
          </a:xfrm>
          <a:prstGeom prst="rect">
            <a:avLst/>
          </a:prstGeom>
          <a:noFill/>
          <a:ln w="0">
            <a:noFill/>
            <a:prstDash val="solid"/>
          </a:ln>
        </p:spPr>
        <p:txBody>
          <a:bodyPr wrap="square" lIns="19050" tIns="19050" rIns="19050" bIns="19050" anchor="ctr">
            <a:normAutofit fontScale="96389" lnSpcReduction="10000"/>
          </a:bodyPr>
          <a:lstStyle/>
          <a:p>
            <a:pPr algn="l">
              <a:buNone/>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10 ns</a:t>
            </a:r>
          </a:p>
        </p:txBody>
      </p:sp>
      <p:sp>
        <p:nvSpPr>
          <p:cNvPr id="47" name="직사각형 46">
            <a:extLst>
              <a:ext uri="{FF2B5EF4-FFF2-40B4-BE49-F238E27FC236}">
                <a16:creationId xmlns:a16="http://schemas.microsoft.com/office/drawing/2014/main" id="{8FF49CD2-0A31-4469-B81B-69FAB34D6C8F}"/>
              </a:ext>
            </a:extLst>
          </p:cNvPr>
          <p:cNvSpPr>
            <a:spLocks noGrp="1"/>
          </p:cNvSpPr>
          <p:nvPr/>
        </p:nvSpPr>
        <p:spPr>
          <a:xfrm>
            <a:off x="571500" y="5812681"/>
            <a:ext cx="2238375" cy="323850"/>
          </a:xfrm>
          <a:prstGeom prst="rect">
            <a:avLst/>
          </a:prstGeom>
          <a:solidFill>
            <a:srgbClr val="EEF2F5"/>
          </a:solidFill>
          <a:ln w="9525">
            <a:solidFill>
              <a:srgbClr val="D3DBE5"/>
            </a:solidFill>
            <a:prstDash val="solid"/>
          </a:ln>
        </p:spPr>
        <p:txBody>
          <a:bodyPr/>
          <a:lstStyle/>
          <a:p>
            <a:endParaRPr/>
          </a:p>
        </p:txBody>
      </p:sp>
      <p:sp>
        <p:nvSpPr>
          <p:cNvPr id="48" name="직사각형 47">
            <a:extLst>
              <a:ext uri="{FF2B5EF4-FFF2-40B4-BE49-F238E27FC236}">
                <a16:creationId xmlns:a16="http://schemas.microsoft.com/office/drawing/2014/main" id="{A96DD88D-BC7B-4778-A521-E6C821475365}"/>
              </a:ext>
            </a:extLst>
          </p:cNvPr>
          <p:cNvSpPr>
            <a:spLocks noGrp="1"/>
          </p:cNvSpPr>
          <p:nvPr/>
        </p:nvSpPr>
        <p:spPr>
          <a:xfrm>
            <a:off x="666750" y="5879356"/>
            <a:ext cx="2047875" cy="190500"/>
          </a:xfrm>
          <a:prstGeom prst="rect">
            <a:avLst/>
          </a:prstGeom>
          <a:noFill/>
          <a:ln w="0">
            <a:noFill/>
            <a:prstDash val="solid"/>
          </a:ln>
        </p:spPr>
        <p:txBody>
          <a:bodyPr wrap="square" lIns="19050" tIns="19050" rIns="19050" bIns="19050" anchor="ctr">
            <a:normAutofit fontScale="96389" lnSpcReduction="10000"/>
          </a:bodyPr>
          <a:lstStyle/>
          <a:p>
            <a:pPr algn="ctr">
              <a:buNone/>
              <a:defRPr sz="1125" b="0">
                <a:solidFill>
                  <a:srgbClr val="1E2C4F"/>
                </a:solidFill>
                <a:latin typeface="Malgun Gothic"/>
                <a:ea typeface="Malgun Gothic"/>
                <a:cs typeface="Malgun Gothic"/>
              </a:defRPr>
            </a:pPr>
            <a:r>
              <a:rPr sz="1125" b="0">
                <a:solidFill>
                  <a:srgbClr val="1E2C4F"/>
                </a:solidFill>
                <a:latin typeface="Malgun Gothic"/>
                <a:ea typeface="Malgun Gothic"/>
                <a:cs typeface="Malgun Gothic"/>
              </a:rPr>
              <a:t>Setup / Hold</a:t>
            </a:r>
          </a:p>
        </p:txBody>
      </p:sp>
      <p:sp>
        <p:nvSpPr>
          <p:cNvPr id="49" name="직사각형 48">
            <a:extLst>
              <a:ext uri="{FF2B5EF4-FFF2-40B4-BE49-F238E27FC236}">
                <a16:creationId xmlns:a16="http://schemas.microsoft.com/office/drawing/2014/main" id="{396E077D-44BB-4D88-86C1-7D4563083E53}"/>
              </a:ext>
            </a:extLst>
          </p:cNvPr>
          <p:cNvSpPr>
            <a:spLocks noGrp="1"/>
          </p:cNvSpPr>
          <p:nvPr/>
        </p:nvSpPr>
        <p:spPr>
          <a:xfrm>
            <a:off x="2809875" y="5812681"/>
            <a:ext cx="3190875" cy="323850"/>
          </a:xfrm>
          <a:prstGeom prst="rect">
            <a:avLst/>
          </a:prstGeom>
          <a:solidFill>
            <a:srgbClr val="FFFFFF"/>
          </a:solidFill>
          <a:ln w="9525">
            <a:solidFill>
              <a:srgbClr val="D3DBE5"/>
            </a:solidFill>
            <a:prstDash val="solid"/>
          </a:ln>
        </p:spPr>
        <p:txBody>
          <a:bodyPr/>
          <a:lstStyle/>
          <a:p>
            <a:endParaRPr/>
          </a:p>
        </p:txBody>
      </p:sp>
      <p:sp>
        <p:nvSpPr>
          <p:cNvPr id="50" name="직사각형 49">
            <a:extLst>
              <a:ext uri="{FF2B5EF4-FFF2-40B4-BE49-F238E27FC236}">
                <a16:creationId xmlns:a16="http://schemas.microsoft.com/office/drawing/2014/main" id="{664089C6-9731-490B-B2D7-EE36AC80A481}"/>
              </a:ext>
            </a:extLst>
          </p:cNvPr>
          <p:cNvSpPr>
            <a:spLocks noGrp="1"/>
          </p:cNvSpPr>
          <p:nvPr/>
        </p:nvSpPr>
        <p:spPr>
          <a:xfrm>
            <a:off x="2905125" y="5879356"/>
            <a:ext cx="3000375" cy="190500"/>
          </a:xfrm>
          <a:prstGeom prst="rect">
            <a:avLst/>
          </a:prstGeom>
          <a:noFill/>
          <a:ln w="0">
            <a:noFill/>
            <a:prstDash val="solid"/>
          </a:ln>
        </p:spPr>
        <p:txBody>
          <a:bodyPr wrap="square" lIns="19050" tIns="19050" rIns="19050" bIns="19050" anchor="ctr">
            <a:normAutofit fontScale="96389" lnSpcReduction="10000"/>
          </a:bodyPr>
          <a:lstStyle/>
          <a:p>
            <a:pPr algn="l">
              <a:buNone/>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Slow 0.9V 125℃ / Fast 1.1V 0℃</a:t>
            </a:r>
          </a:p>
        </p:txBody>
      </p:sp>
      <p:sp>
        <p:nvSpPr>
          <p:cNvPr id="51" name="직사각형 50">
            <a:extLst>
              <a:ext uri="{FF2B5EF4-FFF2-40B4-BE49-F238E27FC236}">
                <a16:creationId xmlns:a16="http://schemas.microsoft.com/office/drawing/2014/main" id="{81B22E7D-5945-462B-9DEC-DCDD619A51FD}"/>
              </a:ext>
            </a:extLst>
          </p:cNvPr>
          <p:cNvSpPr>
            <a:spLocks noGrp="1"/>
          </p:cNvSpPr>
          <p:nvPr/>
        </p:nvSpPr>
        <p:spPr>
          <a:xfrm>
            <a:off x="6000750" y="5812681"/>
            <a:ext cx="2238375" cy="323850"/>
          </a:xfrm>
          <a:prstGeom prst="rect">
            <a:avLst/>
          </a:prstGeom>
          <a:solidFill>
            <a:srgbClr val="EEF2F5"/>
          </a:solidFill>
          <a:ln w="9525">
            <a:solidFill>
              <a:srgbClr val="D3DBE5"/>
            </a:solidFill>
            <a:prstDash val="solid"/>
          </a:ln>
        </p:spPr>
        <p:txBody>
          <a:bodyPr/>
          <a:lstStyle/>
          <a:p>
            <a:endParaRPr/>
          </a:p>
        </p:txBody>
      </p:sp>
      <p:sp>
        <p:nvSpPr>
          <p:cNvPr id="52" name="직사각형 51">
            <a:extLst>
              <a:ext uri="{FF2B5EF4-FFF2-40B4-BE49-F238E27FC236}">
                <a16:creationId xmlns:a16="http://schemas.microsoft.com/office/drawing/2014/main" id="{90BC148F-8602-445A-A543-7962604291B0}"/>
              </a:ext>
            </a:extLst>
          </p:cNvPr>
          <p:cNvSpPr>
            <a:spLocks noGrp="1"/>
          </p:cNvSpPr>
          <p:nvPr/>
        </p:nvSpPr>
        <p:spPr>
          <a:xfrm>
            <a:off x="6096000" y="5879356"/>
            <a:ext cx="2047875" cy="190500"/>
          </a:xfrm>
          <a:prstGeom prst="rect">
            <a:avLst/>
          </a:prstGeom>
          <a:noFill/>
          <a:ln w="0">
            <a:noFill/>
            <a:prstDash val="solid"/>
          </a:ln>
        </p:spPr>
        <p:txBody>
          <a:bodyPr wrap="square" lIns="19050" tIns="19050" rIns="19050" bIns="19050" anchor="ctr">
            <a:normAutofit fontScale="96389" lnSpcReduction="10000"/>
          </a:bodyPr>
          <a:lstStyle/>
          <a:p>
            <a:pPr algn="ctr">
              <a:buNone/>
              <a:defRPr sz="1125" b="0">
                <a:solidFill>
                  <a:srgbClr val="1E2C4F"/>
                </a:solidFill>
                <a:latin typeface="Malgun Gothic"/>
                <a:ea typeface="Malgun Gothic"/>
                <a:cs typeface="Malgun Gothic"/>
              </a:defRPr>
            </a:pPr>
            <a:r>
              <a:rPr sz="1125" b="0">
                <a:solidFill>
                  <a:srgbClr val="1E2C4F"/>
                </a:solidFill>
                <a:latin typeface="Malgun Gothic"/>
                <a:ea typeface="Malgun Gothic"/>
                <a:cs typeface="Malgun Gothic"/>
              </a:rPr>
              <a:t>Placement density</a:t>
            </a:r>
          </a:p>
        </p:txBody>
      </p:sp>
      <p:sp>
        <p:nvSpPr>
          <p:cNvPr id="53" name="직사각형 52">
            <a:extLst>
              <a:ext uri="{FF2B5EF4-FFF2-40B4-BE49-F238E27FC236}">
                <a16:creationId xmlns:a16="http://schemas.microsoft.com/office/drawing/2014/main" id="{54E40360-5A86-47B4-9EC9-95FA601FFF44}"/>
              </a:ext>
            </a:extLst>
          </p:cNvPr>
          <p:cNvSpPr>
            <a:spLocks noGrp="1"/>
          </p:cNvSpPr>
          <p:nvPr/>
        </p:nvSpPr>
        <p:spPr>
          <a:xfrm>
            <a:off x="8239125" y="5812681"/>
            <a:ext cx="3190875" cy="323850"/>
          </a:xfrm>
          <a:prstGeom prst="rect">
            <a:avLst/>
          </a:prstGeom>
          <a:solidFill>
            <a:srgbClr val="FFFFFF"/>
          </a:solidFill>
          <a:ln w="9525">
            <a:solidFill>
              <a:srgbClr val="D3DBE5"/>
            </a:solidFill>
            <a:prstDash val="solid"/>
          </a:ln>
        </p:spPr>
        <p:txBody>
          <a:bodyPr/>
          <a:lstStyle/>
          <a:p>
            <a:endParaRPr/>
          </a:p>
        </p:txBody>
      </p:sp>
      <p:sp>
        <p:nvSpPr>
          <p:cNvPr id="54" name="직사각형 53">
            <a:extLst>
              <a:ext uri="{FF2B5EF4-FFF2-40B4-BE49-F238E27FC236}">
                <a16:creationId xmlns:a16="http://schemas.microsoft.com/office/drawing/2014/main" id="{5C5A1E77-0BB5-4112-9244-95DC23282D06}"/>
              </a:ext>
            </a:extLst>
          </p:cNvPr>
          <p:cNvSpPr>
            <a:spLocks noGrp="1"/>
          </p:cNvSpPr>
          <p:nvPr/>
        </p:nvSpPr>
        <p:spPr>
          <a:xfrm>
            <a:off x="8334375" y="5879356"/>
            <a:ext cx="3000375" cy="190500"/>
          </a:xfrm>
          <a:prstGeom prst="rect">
            <a:avLst/>
          </a:prstGeom>
          <a:noFill/>
          <a:ln w="0">
            <a:noFill/>
            <a:prstDash val="solid"/>
          </a:ln>
        </p:spPr>
        <p:txBody>
          <a:bodyPr wrap="square" lIns="19050" tIns="19050" rIns="19050" bIns="19050" anchor="ctr">
            <a:normAutofit fontScale="96389" lnSpcReduction="10000"/>
          </a:bodyPr>
          <a:lstStyle/>
          <a:p>
            <a:pPr algn="l">
              <a:buNone/>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60%</a:t>
            </a:r>
          </a:p>
        </p:txBody>
      </p:sp>
      <p:sp>
        <p:nvSpPr>
          <p:cNvPr id="55" name="직사각형 54">
            <a:extLst>
              <a:ext uri="{FF2B5EF4-FFF2-40B4-BE49-F238E27FC236}">
                <a16:creationId xmlns:a16="http://schemas.microsoft.com/office/drawing/2014/main" id="{02910B90-368F-4737-9CE0-0EF3B702A9AE}"/>
              </a:ext>
            </a:extLst>
          </p:cNvPr>
          <p:cNvSpPr>
            <a:spLocks noGrp="1"/>
          </p:cNvSpPr>
          <p:nvPr/>
        </p:nvSpPr>
        <p:spPr>
          <a:xfrm>
            <a:off x="571500" y="6136531"/>
            <a:ext cx="2238375" cy="323850"/>
          </a:xfrm>
          <a:prstGeom prst="rect">
            <a:avLst/>
          </a:prstGeom>
          <a:solidFill>
            <a:srgbClr val="EEF2F5"/>
          </a:solidFill>
          <a:ln w="9525">
            <a:solidFill>
              <a:srgbClr val="D3DBE5"/>
            </a:solidFill>
            <a:prstDash val="solid"/>
          </a:ln>
        </p:spPr>
        <p:txBody>
          <a:bodyPr/>
          <a:lstStyle/>
          <a:p>
            <a:endParaRPr/>
          </a:p>
        </p:txBody>
      </p:sp>
      <p:sp>
        <p:nvSpPr>
          <p:cNvPr id="56" name="직사각형 55">
            <a:extLst>
              <a:ext uri="{FF2B5EF4-FFF2-40B4-BE49-F238E27FC236}">
                <a16:creationId xmlns:a16="http://schemas.microsoft.com/office/drawing/2014/main" id="{EC1192A3-C478-4576-B726-1EFE46B7BA1A}"/>
              </a:ext>
            </a:extLst>
          </p:cNvPr>
          <p:cNvSpPr>
            <a:spLocks noGrp="1"/>
          </p:cNvSpPr>
          <p:nvPr/>
        </p:nvSpPr>
        <p:spPr>
          <a:xfrm>
            <a:off x="666750" y="6203206"/>
            <a:ext cx="2047875" cy="190500"/>
          </a:xfrm>
          <a:prstGeom prst="rect">
            <a:avLst/>
          </a:prstGeom>
          <a:noFill/>
          <a:ln w="0">
            <a:noFill/>
            <a:prstDash val="solid"/>
          </a:ln>
        </p:spPr>
        <p:txBody>
          <a:bodyPr wrap="square" lIns="19050" tIns="19050" rIns="19050" bIns="19050" anchor="ctr">
            <a:normAutofit fontScale="96389" lnSpcReduction="10000"/>
          </a:bodyPr>
          <a:lstStyle/>
          <a:p>
            <a:pPr algn="ctr">
              <a:buNone/>
              <a:defRPr sz="1125" b="0">
                <a:solidFill>
                  <a:srgbClr val="1E2C4F"/>
                </a:solidFill>
                <a:latin typeface="Malgun Gothic"/>
                <a:ea typeface="Malgun Gothic"/>
                <a:cs typeface="Malgun Gothic"/>
              </a:defRPr>
            </a:pPr>
            <a:r>
              <a:rPr sz="1125" b="0">
                <a:solidFill>
                  <a:srgbClr val="1E2C4F"/>
                </a:solidFill>
                <a:latin typeface="Malgun Gothic"/>
                <a:ea typeface="Malgun Gothic"/>
                <a:cs typeface="Malgun Gothic"/>
              </a:rPr>
              <a:t>Signal routing</a:t>
            </a:r>
          </a:p>
        </p:txBody>
      </p:sp>
      <p:sp>
        <p:nvSpPr>
          <p:cNvPr id="57" name="직사각형 56">
            <a:extLst>
              <a:ext uri="{FF2B5EF4-FFF2-40B4-BE49-F238E27FC236}">
                <a16:creationId xmlns:a16="http://schemas.microsoft.com/office/drawing/2014/main" id="{FE87FEEF-512D-4589-A884-96F4CBE00A31}"/>
              </a:ext>
            </a:extLst>
          </p:cNvPr>
          <p:cNvSpPr>
            <a:spLocks noGrp="1"/>
          </p:cNvSpPr>
          <p:nvPr/>
        </p:nvSpPr>
        <p:spPr>
          <a:xfrm>
            <a:off x="2809875" y="6136531"/>
            <a:ext cx="3190875" cy="323850"/>
          </a:xfrm>
          <a:prstGeom prst="rect">
            <a:avLst/>
          </a:prstGeom>
          <a:solidFill>
            <a:srgbClr val="FFFFFF"/>
          </a:solidFill>
          <a:ln w="9525">
            <a:solidFill>
              <a:srgbClr val="D3DBE5"/>
            </a:solidFill>
            <a:prstDash val="solid"/>
          </a:ln>
        </p:spPr>
        <p:txBody>
          <a:bodyPr/>
          <a:lstStyle/>
          <a:p>
            <a:endParaRPr/>
          </a:p>
        </p:txBody>
      </p:sp>
      <p:sp>
        <p:nvSpPr>
          <p:cNvPr id="58" name="직사각형 57">
            <a:extLst>
              <a:ext uri="{FF2B5EF4-FFF2-40B4-BE49-F238E27FC236}">
                <a16:creationId xmlns:a16="http://schemas.microsoft.com/office/drawing/2014/main" id="{ED7742D1-BEC7-49C1-811A-DC234E5D9842}"/>
              </a:ext>
            </a:extLst>
          </p:cNvPr>
          <p:cNvSpPr>
            <a:spLocks noGrp="1"/>
          </p:cNvSpPr>
          <p:nvPr/>
        </p:nvSpPr>
        <p:spPr>
          <a:xfrm>
            <a:off x="2905125" y="6203206"/>
            <a:ext cx="3000375" cy="190500"/>
          </a:xfrm>
          <a:prstGeom prst="rect">
            <a:avLst/>
          </a:prstGeom>
          <a:noFill/>
          <a:ln w="0">
            <a:noFill/>
            <a:prstDash val="solid"/>
          </a:ln>
        </p:spPr>
        <p:txBody>
          <a:bodyPr wrap="square" lIns="19050" tIns="19050" rIns="19050" bIns="19050" anchor="ctr">
            <a:normAutofit fontScale="96389" lnSpcReduction="10000"/>
          </a:bodyPr>
          <a:lstStyle/>
          <a:p>
            <a:pPr algn="l">
              <a:buNone/>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Metal1~Metal9</a:t>
            </a:r>
          </a:p>
        </p:txBody>
      </p:sp>
      <p:sp>
        <p:nvSpPr>
          <p:cNvPr id="59" name="직사각형 58">
            <a:extLst>
              <a:ext uri="{FF2B5EF4-FFF2-40B4-BE49-F238E27FC236}">
                <a16:creationId xmlns:a16="http://schemas.microsoft.com/office/drawing/2014/main" id="{49B85301-BF11-4E68-9C23-5B3FA98D0619}"/>
              </a:ext>
            </a:extLst>
          </p:cNvPr>
          <p:cNvSpPr>
            <a:spLocks noGrp="1"/>
          </p:cNvSpPr>
          <p:nvPr/>
        </p:nvSpPr>
        <p:spPr>
          <a:xfrm>
            <a:off x="6000750" y="6136531"/>
            <a:ext cx="2238375" cy="323850"/>
          </a:xfrm>
          <a:prstGeom prst="rect">
            <a:avLst/>
          </a:prstGeom>
          <a:solidFill>
            <a:srgbClr val="EEF2F5"/>
          </a:solidFill>
          <a:ln w="9525">
            <a:solidFill>
              <a:srgbClr val="D3DBE5"/>
            </a:solidFill>
            <a:prstDash val="solid"/>
          </a:ln>
        </p:spPr>
        <p:txBody>
          <a:bodyPr/>
          <a:lstStyle/>
          <a:p>
            <a:endParaRPr/>
          </a:p>
        </p:txBody>
      </p:sp>
      <p:sp>
        <p:nvSpPr>
          <p:cNvPr id="60" name="직사각형 59">
            <a:extLst>
              <a:ext uri="{FF2B5EF4-FFF2-40B4-BE49-F238E27FC236}">
                <a16:creationId xmlns:a16="http://schemas.microsoft.com/office/drawing/2014/main" id="{20F4583E-28D6-4E52-B29F-9CA43B8279C0}"/>
              </a:ext>
            </a:extLst>
          </p:cNvPr>
          <p:cNvSpPr>
            <a:spLocks noGrp="1"/>
          </p:cNvSpPr>
          <p:nvPr/>
        </p:nvSpPr>
        <p:spPr>
          <a:xfrm>
            <a:off x="6096000" y="6203206"/>
            <a:ext cx="2047875" cy="190500"/>
          </a:xfrm>
          <a:prstGeom prst="rect">
            <a:avLst/>
          </a:prstGeom>
          <a:noFill/>
          <a:ln w="0">
            <a:noFill/>
            <a:prstDash val="solid"/>
          </a:ln>
        </p:spPr>
        <p:txBody>
          <a:bodyPr wrap="square" lIns="19050" tIns="19050" rIns="19050" bIns="19050" anchor="ctr">
            <a:normAutofit fontScale="96389" lnSpcReduction="10000"/>
          </a:bodyPr>
          <a:lstStyle/>
          <a:p>
            <a:pPr algn="ctr">
              <a:buNone/>
              <a:defRPr sz="1125" b="0">
                <a:solidFill>
                  <a:srgbClr val="1E2C4F"/>
                </a:solidFill>
                <a:latin typeface="Malgun Gothic"/>
                <a:ea typeface="Malgun Gothic"/>
                <a:cs typeface="Malgun Gothic"/>
              </a:defRPr>
            </a:pPr>
            <a:r>
              <a:rPr sz="1125" b="0">
                <a:solidFill>
                  <a:srgbClr val="1E2C4F"/>
                </a:solidFill>
                <a:latin typeface="Malgun Gothic"/>
                <a:ea typeface="Malgun Gothic"/>
                <a:cs typeface="Malgun Gothic"/>
              </a:rPr>
              <a:t>물리 검사</a:t>
            </a:r>
          </a:p>
        </p:txBody>
      </p:sp>
      <p:sp>
        <p:nvSpPr>
          <p:cNvPr id="61" name="직사각형 60">
            <a:extLst>
              <a:ext uri="{FF2B5EF4-FFF2-40B4-BE49-F238E27FC236}">
                <a16:creationId xmlns:a16="http://schemas.microsoft.com/office/drawing/2014/main" id="{FD09FD1A-A0B1-4FBA-8481-6FA4EC099282}"/>
              </a:ext>
            </a:extLst>
          </p:cNvPr>
          <p:cNvSpPr>
            <a:spLocks noGrp="1"/>
          </p:cNvSpPr>
          <p:nvPr/>
        </p:nvSpPr>
        <p:spPr>
          <a:xfrm>
            <a:off x="8239125" y="6136531"/>
            <a:ext cx="3190875" cy="323850"/>
          </a:xfrm>
          <a:prstGeom prst="rect">
            <a:avLst/>
          </a:prstGeom>
          <a:solidFill>
            <a:srgbClr val="FFFFFF"/>
          </a:solidFill>
          <a:ln w="9525">
            <a:solidFill>
              <a:srgbClr val="D3DBE5"/>
            </a:solidFill>
            <a:prstDash val="solid"/>
          </a:ln>
        </p:spPr>
        <p:txBody>
          <a:bodyPr/>
          <a:lstStyle/>
          <a:p>
            <a:endParaRPr/>
          </a:p>
        </p:txBody>
      </p:sp>
      <p:sp>
        <p:nvSpPr>
          <p:cNvPr id="62" name="직사각형 61">
            <a:extLst>
              <a:ext uri="{FF2B5EF4-FFF2-40B4-BE49-F238E27FC236}">
                <a16:creationId xmlns:a16="http://schemas.microsoft.com/office/drawing/2014/main" id="{CCD841BB-04BF-4A04-A43A-D575ADCAC853}"/>
              </a:ext>
            </a:extLst>
          </p:cNvPr>
          <p:cNvSpPr>
            <a:spLocks noGrp="1"/>
          </p:cNvSpPr>
          <p:nvPr/>
        </p:nvSpPr>
        <p:spPr>
          <a:xfrm>
            <a:off x="8334375" y="6203206"/>
            <a:ext cx="3000375" cy="190500"/>
          </a:xfrm>
          <a:prstGeom prst="rect">
            <a:avLst/>
          </a:prstGeom>
          <a:noFill/>
          <a:ln w="0">
            <a:noFill/>
            <a:prstDash val="solid"/>
          </a:ln>
        </p:spPr>
        <p:txBody>
          <a:bodyPr wrap="square" lIns="19050" tIns="19050" rIns="19050" bIns="19050" anchor="ctr">
            <a:normAutofit fontScale="96389" lnSpcReduction="10000"/>
          </a:bodyPr>
          <a:lstStyle/>
          <a:p>
            <a:pPr algn="l">
              <a:buNone/>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DRC / Connectivity</a:t>
            </a:r>
          </a:p>
        </p:txBody>
      </p:sp>
      <p:pic>
        <p:nvPicPr>
          <p:cNvPr id="135" name="그림 65"/>
          <p:cNvPicPr>
            <a:picLocks noChangeAspect="1"/>
          </p:cNvPicPr>
          <p:nvPr/>
        </p:nvPicPr>
        <p:blipFill>
          <a:blip r:embed="rId3"/>
          <a:stretch/>
        </p:blipFill>
        <p:spPr>
          <a:xfrm>
            <a:off x="11285208" y="133349"/>
            <a:ext cx="900000" cy="900000"/>
          </a:xfrm>
          <a:prstGeom prst="rect">
            <a:avLst/>
          </a:prstGeom>
        </p:spPr>
      </p:pic>
      <p:sp>
        <p:nvSpPr>
          <p:cNvPr id="70" name="test-row-hotspot-bg-1">
            <a:extLst>
              <a:ext uri="{FF2B5EF4-FFF2-40B4-BE49-F238E27FC236}">
                <a16:creationId xmlns:a16="http://schemas.microsoft.com/office/drawing/2014/main" id="{8EFCFDAC-2012-46A9-BCD4-7A5B59E94F4F}"/>
              </a:ext>
            </a:extLst>
          </p:cNvPr>
          <p:cNvSpPr>
            <a:spLocks noGrp="1"/>
          </p:cNvSpPr>
          <p:nvPr/>
        </p:nvSpPr>
        <p:spPr>
          <a:xfrm>
            <a:off x="571500" y="4552950"/>
            <a:ext cx="2095500" cy="419100"/>
          </a:xfrm>
          <a:prstGeom prst="rect">
            <a:avLst/>
          </a:prstGeom>
          <a:noFill/>
          <a:ln w="9525">
            <a:solidFill>
              <a:srgbClr val="D3DBE5"/>
            </a:solidFill>
            <a:prstDash val="solid"/>
          </a:ln>
        </p:spPr>
        <p:txBody>
          <a:bodyPr/>
          <a:lstStyle/>
          <a:p>
            <a:endParaRPr lang="ko-KR" altLang="en-US"/>
          </a:p>
        </p:txBody>
      </p:sp>
      <p:sp>
        <p:nvSpPr>
          <p:cNvPr id="71" name="test-row-hotspot-bg-2">
            <a:extLst>
              <a:ext uri="{FF2B5EF4-FFF2-40B4-BE49-F238E27FC236}">
                <a16:creationId xmlns:a16="http://schemas.microsoft.com/office/drawing/2014/main" id="{0CB13FA6-EFAD-46C6-A4DC-E4E637DA7419}"/>
              </a:ext>
            </a:extLst>
          </p:cNvPr>
          <p:cNvSpPr>
            <a:spLocks noGrp="1"/>
          </p:cNvSpPr>
          <p:nvPr/>
        </p:nvSpPr>
        <p:spPr>
          <a:xfrm>
            <a:off x="2667000" y="4552950"/>
            <a:ext cx="5143500" cy="419100"/>
          </a:xfrm>
          <a:prstGeom prst="rect">
            <a:avLst/>
          </a:prstGeom>
          <a:noFill/>
          <a:ln w="9525">
            <a:solidFill>
              <a:srgbClr val="D3DBE5"/>
            </a:solidFill>
            <a:prstDash val="solid"/>
          </a:ln>
        </p:spPr>
        <p:txBody>
          <a:bodyPr/>
          <a:lstStyle/>
          <a:p>
            <a:endParaRPr lang="ko-KR" altLang="en-US"/>
          </a:p>
        </p:txBody>
      </p:sp>
      <p:sp>
        <p:nvSpPr>
          <p:cNvPr id="72" name="test-row-hotspot-bg-3">
            <a:extLst>
              <a:ext uri="{FF2B5EF4-FFF2-40B4-BE49-F238E27FC236}">
                <a16:creationId xmlns:a16="http://schemas.microsoft.com/office/drawing/2014/main" id="{181A1B69-9A5D-4163-96E6-E2403FDBF8F7}"/>
              </a:ext>
            </a:extLst>
          </p:cNvPr>
          <p:cNvSpPr>
            <a:spLocks noGrp="1"/>
          </p:cNvSpPr>
          <p:nvPr/>
        </p:nvSpPr>
        <p:spPr>
          <a:xfrm>
            <a:off x="7810500" y="4552950"/>
            <a:ext cx="2381250" cy="419100"/>
          </a:xfrm>
          <a:prstGeom prst="rect">
            <a:avLst/>
          </a:prstGeom>
          <a:noFill/>
          <a:ln w="9525">
            <a:solidFill>
              <a:srgbClr val="D3DBE5"/>
            </a:solidFill>
            <a:prstDash val="solid"/>
          </a:ln>
        </p:spPr>
        <p:txBody>
          <a:bodyPr/>
          <a:lstStyle/>
          <a:p>
            <a:endParaRPr lang="ko-KR" altLang="en-US"/>
          </a:p>
        </p:txBody>
      </p:sp>
      <p:sp>
        <p:nvSpPr>
          <p:cNvPr id="73" name="test-row-hotspot-label">
            <a:extLst>
              <a:ext uri="{FF2B5EF4-FFF2-40B4-BE49-F238E27FC236}">
                <a16:creationId xmlns:a16="http://schemas.microsoft.com/office/drawing/2014/main" id="{059AC4FC-FFAF-4BDF-BFA6-CA2BD3A72BDC}"/>
              </a:ext>
            </a:extLst>
          </p:cNvPr>
          <p:cNvSpPr>
            <a:spLocks noGrp="1"/>
          </p:cNvSpPr>
          <p:nvPr/>
        </p:nvSpPr>
        <p:spPr>
          <a:xfrm>
            <a:off x="666750" y="4591050"/>
            <a:ext cx="1905000" cy="342900"/>
          </a:xfrm>
          <a:prstGeom prst="rect">
            <a:avLst/>
          </a:prstGeom>
          <a:noFill/>
          <a:ln w="0">
            <a:noFill/>
            <a:prstDash val="solid"/>
          </a:ln>
        </p:spPr>
        <p:txBody>
          <a:bodyPr wrap="square" lIns="19050" tIns="9525" rIns="19050" bIns="9525" anchor="ctr">
            <a:noAutofit/>
          </a:bodyPr>
          <a:lstStyle/>
          <a:p>
            <a:pPr algn="ctr">
              <a:defRPr sz="1125" b="0">
                <a:solidFill>
                  <a:srgbClr val="E97132"/>
                </a:solidFill>
                <a:latin typeface="Malgun Gothic"/>
                <a:ea typeface="Malgun Gothic"/>
                <a:cs typeface="Malgun Gothic"/>
              </a:defRPr>
            </a:pPr>
            <a:r>
              <a:rPr lang="ko-KR" altLang="ko-KR" sz="1200" dirty="0">
                <a:solidFill>
                  <a:srgbClr val="E97132"/>
                </a:solidFill>
                <a:latin typeface="Malgun Gothic"/>
              </a:rPr>
              <a:t>반복 요청 (</a:t>
            </a:r>
            <a:r>
              <a:rPr lang="ko-KR" altLang="ko-KR" sz="1200" dirty="0" err="1">
                <a:solidFill>
                  <a:srgbClr val="E97132"/>
                </a:solidFill>
                <a:latin typeface="Malgun Gothic"/>
              </a:rPr>
              <a:t>Hotspot</a:t>
            </a:r>
            <a:r>
              <a:rPr lang="ko-KR" altLang="ko-KR" sz="1200" dirty="0">
                <a:solidFill>
                  <a:srgbClr val="E97132"/>
                </a:solidFill>
                <a:latin typeface="Malgun Gothic"/>
              </a:rPr>
              <a:t>)</a:t>
            </a:r>
            <a:endParaRPr sz="1200" b="0" dirty="0">
              <a:solidFill>
                <a:srgbClr val="E97132"/>
              </a:solidFill>
              <a:latin typeface="Malgun Gothic"/>
              <a:ea typeface="Malgun Gothic"/>
              <a:cs typeface="Malgun Gothic"/>
            </a:endParaRPr>
          </a:p>
        </p:txBody>
      </p:sp>
      <p:sp>
        <p:nvSpPr>
          <p:cNvPr id="74" name="test-row-hotspot-check">
            <a:extLst>
              <a:ext uri="{FF2B5EF4-FFF2-40B4-BE49-F238E27FC236}">
                <a16:creationId xmlns:a16="http://schemas.microsoft.com/office/drawing/2014/main" id="{4CFD51C7-FD2B-4A7C-89CF-E2CA9E1B85BD}"/>
              </a:ext>
            </a:extLst>
          </p:cNvPr>
          <p:cNvSpPr>
            <a:spLocks noGrp="1"/>
          </p:cNvSpPr>
          <p:nvPr/>
        </p:nvSpPr>
        <p:spPr>
          <a:xfrm>
            <a:off x="2762250" y="4591050"/>
            <a:ext cx="4953000" cy="342900"/>
          </a:xfrm>
          <a:prstGeom prst="rect">
            <a:avLst/>
          </a:prstGeom>
          <a:noFill/>
          <a:ln w="0">
            <a:noFill/>
            <a:prstDash val="solid"/>
          </a:ln>
        </p:spPr>
        <p:txBody>
          <a:bodyPr wrap="square" lIns="19050" tIns="9525" rIns="19050" bIns="9525" anchor="ctr">
            <a:noAutofit/>
          </a:bodyPr>
          <a:lstStyle/>
          <a:p>
            <a:pPr>
              <a:defRPr sz="1125" b="0">
                <a:solidFill>
                  <a:srgbClr val="151A22"/>
                </a:solidFill>
                <a:latin typeface="Malgun Gothic"/>
                <a:ea typeface="Malgun Gothic"/>
                <a:cs typeface="Malgun Gothic"/>
              </a:defRPr>
            </a:pPr>
            <a:r>
              <a:rPr lang="ko-KR" altLang="ko-KR" sz="1200" dirty="0" err="1">
                <a:solidFill>
                  <a:srgbClr val="151A22"/>
                </a:solidFill>
                <a:latin typeface="Malgun Gothic"/>
              </a:rPr>
              <a:t>Source</a:t>
            </a:r>
            <a:r>
              <a:rPr lang="ko-KR" altLang="ko-KR" sz="1200" dirty="0">
                <a:solidFill>
                  <a:srgbClr val="151A22"/>
                </a:solidFill>
                <a:latin typeface="Malgun Gothic"/>
              </a:rPr>
              <a:t> 0이 12번 반복 요청하는 동안 </a:t>
            </a:r>
            <a:r>
              <a:rPr lang="ko-KR" altLang="ko-KR" sz="1200" dirty="0" err="1">
                <a:solidFill>
                  <a:srgbClr val="151A22"/>
                </a:solidFill>
                <a:latin typeface="Malgun Gothic"/>
              </a:rPr>
              <a:t>Source</a:t>
            </a:r>
            <a:r>
              <a:rPr lang="ko-KR" altLang="ko-KR" sz="1200" dirty="0">
                <a:solidFill>
                  <a:srgbClr val="151A22"/>
                </a:solidFill>
                <a:latin typeface="Malgun Gothic"/>
              </a:rPr>
              <a:t> 15의 이벤트가 밀리거나 누락되는지 확인</a:t>
            </a:r>
            <a:endParaRPr sz="1400" b="0" dirty="0">
              <a:solidFill>
                <a:srgbClr val="151A22"/>
              </a:solidFill>
              <a:latin typeface="Malgun Gothic"/>
              <a:ea typeface="Malgun Gothic"/>
              <a:cs typeface="Malgun Gothic"/>
            </a:endParaRPr>
          </a:p>
        </p:txBody>
      </p:sp>
      <p:sp>
        <p:nvSpPr>
          <p:cNvPr id="75" name="test-row-hotspot-result">
            <a:extLst>
              <a:ext uri="{FF2B5EF4-FFF2-40B4-BE49-F238E27FC236}">
                <a16:creationId xmlns:a16="http://schemas.microsoft.com/office/drawing/2014/main" id="{436449E1-D8C0-4C23-9AD9-A8E9DDD3BEFD}"/>
              </a:ext>
            </a:extLst>
          </p:cNvPr>
          <p:cNvSpPr>
            <a:spLocks noGrp="1"/>
          </p:cNvSpPr>
          <p:nvPr/>
        </p:nvSpPr>
        <p:spPr>
          <a:xfrm>
            <a:off x="7905750" y="4591050"/>
            <a:ext cx="2190750" cy="342900"/>
          </a:xfrm>
          <a:prstGeom prst="rect">
            <a:avLst/>
          </a:prstGeom>
          <a:noFill/>
          <a:ln w="0">
            <a:noFill/>
            <a:prstDash val="solid"/>
          </a:ln>
        </p:spPr>
        <p:txBody>
          <a:bodyPr wrap="square" lIns="19050" tIns="9525" rIns="19050" bIns="9525" anchor="ctr">
            <a:noAutofit/>
          </a:bodyPr>
          <a:lstStyle/>
          <a:p>
            <a:pPr>
              <a:defRPr sz="1125" b="0">
                <a:solidFill>
                  <a:srgbClr val="151A22"/>
                </a:solidFill>
                <a:latin typeface="Malgun Gothic"/>
                <a:ea typeface="Malgun Gothic"/>
                <a:cs typeface="Malgun Gothic"/>
              </a:defRPr>
            </a:pPr>
            <a:r>
              <a:rPr lang="ko-KR" altLang="ko-KR" sz="1200" dirty="0" err="1">
                <a:solidFill>
                  <a:srgbClr val="151A22"/>
                </a:solidFill>
                <a:latin typeface="Malgun Gothic"/>
              </a:rPr>
              <a:t>Source</a:t>
            </a:r>
            <a:r>
              <a:rPr lang="ko-KR" altLang="ko-KR" sz="1200" dirty="0">
                <a:solidFill>
                  <a:srgbClr val="151A22"/>
                </a:solidFill>
                <a:latin typeface="Malgun Gothic"/>
              </a:rPr>
              <a:t> 15를 포함해 13개 모두 전달</a:t>
            </a:r>
            <a:endParaRPr sz="1400" b="0" dirty="0">
              <a:solidFill>
                <a:srgbClr val="151A22"/>
              </a:solidFill>
              <a:latin typeface="Malgun Gothic"/>
              <a:ea typeface="Malgun Gothic"/>
              <a:cs typeface="Malgun Gothic"/>
            </a:endParaRPr>
          </a:p>
        </p:txBody>
      </p:sp>
      <p:sp>
        <p:nvSpPr>
          <p:cNvPr id="76" name="testbench-pass-summary">
            <a:extLst>
              <a:ext uri="{FF2B5EF4-FFF2-40B4-BE49-F238E27FC236}">
                <a16:creationId xmlns:a16="http://schemas.microsoft.com/office/drawing/2014/main" id="{014CB3AB-2AE2-43C7-B59A-5086BF702ECA}"/>
              </a:ext>
            </a:extLst>
          </p:cNvPr>
          <p:cNvSpPr>
            <a:spLocks noGrp="1"/>
          </p:cNvSpPr>
          <p:nvPr/>
        </p:nvSpPr>
        <p:spPr>
          <a:xfrm>
            <a:off x="5185691" y="2085975"/>
            <a:ext cx="6434809" cy="266700"/>
          </a:xfrm>
          <a:prstGeom prst="rect">
            <a:avLst/>
          </a:prstGeom>
          <a:noFill/>
          <a:ln w="0">
            <a:noFill/>
            <a:prstDash val="solid"/>
          </a:ln>
        </p:spPr>
        <p:txBody>
          <a:bodyPr wrap="square" lIns="19050" tIns="9525" rIns="19050" bIns="9525" anchor="ctr">
            <a:noAutofit/>
          </a:bodyPr>
          <a:lstStyle/>
          <a:p>
            <a:pPr algn="r">
              <a:defRPr sz="1050" b="0">
                <a:solidFill>
                  <a:srgbClr val="5E6B7D"/>
                </a:solidFill>
                <a:latin typeface="Malgun Gothic"/>
                <a:ea typeface="Malgun Gothic"/>
                <a:cs typeface="Malgun Gothic"/>
              </a:defRPr>
            </a:pPr>
            <a:r>
              <a:rPr lang="ko-KR" altLang="ko-KR" sz="1200" dirty="0">
                <a:solidFill>
                  <a:srgbClr val="5E6B7D"/>
                </a:solidFill>
                <a:latin typeface="Malgun Gothic"/>
              </a:rPr>
              <a:t>기능 검증 결과: GRR 101개, OHT 101개, 전통형 139개 이벤트 모두 정상 전달</a:t>
            </a:r>
            <a:r>
              <a:rPr lang="en-US" altLang="ko-KR" sz="1200" dirty="0">
                <a:solidFill>
                  <a:srgbClr val="5E6B7D"/>
                </a:solidFill>
                <a:latin typeface="Malgun Gothic"/>
              </a:rPr>
              <a:t> </a:t>
            </a:r>
            <a:r>
              <a:rPr lang="ko-KR" altLang="en-US" sz="1200" dirty="0">
                <a:solidFill>
                  <a:srgbClr val="5E6B7D"/>
                </a:solidFill>
                <a:latin typeface="Malgun Gothic"/>
              </a:rPr>
              <a:t>및 </a:t>
            </a:r>
            <a:r>
              <a:rPr lang="ko-KR" altLang="ko-KR" sz="1200" dirty="0">
                <a:solidFill>
                  <a:srgbClr val="5E6B7D"/>
                </a:solidFill>
                <a:latin typeface="Malgun Gothic"/>
              </a:rPr>
              <a:t>오류 0</a:t>
            </a:r>
            <a:endParaRPr sz="1200" b="0" dirty="0">
              <a:solidFill>
                <a:srgbClr val="5E6B7D"/>
              </a:solidFill>
              <a:latin typeface="Malgun Gothic"/>
              <a:ea typeface="Malgun Gothic"/>
              <a:cs typeface="Malgun Gothic"/>
            </a:endParaRPr>
          </a:p>
        </p:txBody>
      </p:sp>
      <p:sp>
        <p:nvSpPr>
          <p:cNvPr id="6" name="직사각형 5">
            <a:extLst>
              <a:ext uri="{FF2B5EF4-FFF2-40B4-BE49-F238E27FC236}">
                <a16:creationId xmlns:a16="http://schemas.microsoft.com/office/drawing/2014/main" id="{7294CBA3-46B6-304B-74F9-E3A8C1D74EA9}"/>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834187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직사각형 40">
            <a:extLst>
              <a:ext uri="{FF2B5EF4-FFF2-40B4-BE49-F238E27FC236}">
                <a16:creationId xmlns:a16="http://schemas.microsoft.com/office/drawing/2014/main" id="{E50EBC6D-99B2-4F96-8B07-084F5D4380D9}"/>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11">
            <a:extLst>
              <a:ext uri="{FF2B5EF4-FFF2-40B4-BE49-F238E27FC236}">
                <a16:creationId xmlns:a16="http://schemas.microsoft.com/office/drawing/2014/main" id="{75925FC1-06C2-4BA3-90A3-1036657C8BFA}"/>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sz="2625" b="0">
                <a:solidFill>
                  <a:srgbClr val="151A22"/>
                </a:solidFill>
                <a:latin typeface="Malgun Gothic"/>
                <a:ea typeface="Malgun Gothic"/>
                <a:cs typeface="Malgun Gothic"/>
              </a:rPr>
              <a:t>Innovus 45nm 물리 구현 결과</a:t>
            </a:r>
          </a:p>
        </p:txBody>
      </p:sp>
      <p:sp>
        <p:nvSpPr>
          <p:cNvPr id="3" name="section-11">
            <a:extLst>
              <a:ext uri="{FF2B5EF4-FFF2-40B4-BE49-F238E27FC236}">
                <a16:creationId xmlns:a16="http://schemas.microsoft.com/office/drawing/2014/main" id="{5DD1DD04-1EC5-43B4-9B1D-94566A1EAA0D}"/>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dirty="0">
                <a:solidFill>
                  <a:srgbClr val="088B94"/>
                </a:solidFill>
                <a:latin typeface="Malgun Gothic"/>
                <a:ea typeface="Malgun Gothic"/>
                <a:cs typeface="Malgun Gothic"/>
              </a:rPr>
              <a:t>CADENCE INNOVUS 23.14 · NATIVE POST-ROUTE </a:t>
            </a:r>
            <a:r>
              <a:rPr lang="en-US" sz="900" b="0" dirty="0">
                <a:solidFill>
                  <a:srgbClr val="088B94"/>
                </a:solidFill>
                <a:latin typeface="Malgun Gothic"/>
                <a:ea typeface="Malgun Gothic"/>
                <a:cs typeface="Malgun Gothic"/>
              </a:rPr>
              <a:t>&amp; Critical Setup Path </a:t>
            </a:r>
            <a:r>
              <a:rPr sz="900" b="0" dirty="0">
                <a:solidFill>
                  <a:srgbClr val="088B94"/>
                </a:solidFill>
                <a:latin typeface="Malgun Gothic"/>
                <a:ea typeface="Malgun Gothic"/>
                <a:cs typeface="Malgun Gothic"/>
              </a:rPr>
              <a:t>OUTPUT</a:t>
            </a:r>
          </a:p>
        </p:txBody>
      </p:sp>
      <p:sp>
        <p:nvSpPr>
          <p:cNvPr id="4" name="직사각형 3">
            <a:extLst>
              <a:ext uri="{FF2B5EF4-FFF2-40B4-BE49-F238E27FC236}">
                <a16:creationId xmlns:a16="http://schemas.microsoft.com/office/drawing/2014/main" id="{2AC0F8A8-FB82-4B3E-BC51-C803AAE1BF8B}"/>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C18217F5-ADF3-4E1B-91E9-279C4A360782}"/>
              </a:ext>
            </a:extLst>
          </p:cNvPr>
          <p:cNvSpPr>
            <a:spLocks noGrp="1"/>
          </p:cNvSpPr>
          <p:nvPr/>
        </p:nvSpPr>
        <p:spPr>
          <a:xfrm>
            <a:off x="-2009775" y="2566125"/>
            <a:ext cx="5238750" cy="266700"/>
          </a:xfrm>
          <a:prstGeom prst="rect">
            <a:avLst/>
          </a:prstGeom>
          <a:noFill/>
          <a:ln w="0">
            <a:noFill/>
            <a:prstDash val="solid"/>
          </a:ln>
        </p:spPr>
        <p:txBody>
          <a:bodyPr wrap="square" lIns="19050" tIns="19050" rIns="19050" bIns="19050" anchor="t">
            <a:normAutofit fontScale="98409" lnSpcReduction="10000"/>
          </a:bodyPr>
          <a:lstStyle/>
          <a:p>
            <a:pPr algn="ctr">
              <a:defRPr sz="1650" b="0">
                <a:solidFill>
                  <a:srgbClr val="0E9F78"/>
                </a:solidFill>
                <a:latin typeface="Malgun Gothic"/>
                <a:ea typeface="Malgun Gothic"/>
                <a:cs typeface="Malgun Gothic"/>
              </a:defRPr>
            </a:pPr>
            <a:r>
              <a:rPr sz="1650" b="0" dirty="0">
                <a:solidFill>
                  <a:srgbClr val="0E9F78"/>
                </a:solidFill>
                <a:latin typeface="Malgun Gothic"/>
                <a:ea typeface="Malgun Gothic"/>
                <a:cs typeface="Malgun Gothic"/>
              </a:rPr>
              <a:t>GRR AER</a:t>
            </a:r>
          </a:p>
        </p:txBody>
      </p:sp>
      <p:sp>
        <p:nvSpPr>
          <p:cNvPr id="10" name="직사각형 9">
            <a:extLst>
              <a:ext uri="{FF2B5EF4-FFF2-40B4-BE49-F238E27FC236}">
                <a16:creationId xmlns:a16="http://schemas.microsoft.com/office/drawing/2014/main" id="{3944A5FA-F006-4D56-B0B6-CC2F6794EC1A}"/>
              </a:ext>
            </a:extLst>
          </p:cNvPr>
          <p:cNvSpPr>
            <a:spLocks noGrp="1"/>
          </p:cNvSpPr>
          <p:nvPr/>
        </p:nvSpPr>
        <p:spPr>
          <a:xfrm>
            <a:off x="-2009775" y="5132250"/>
            <a:ext cx="5238750" cy="266700"/>
          </a:xfrm>
          <a:prstGeom prst="rect">
            <a:avLst/>
          </a:prstGeom>
          <a:noFill/>
          <a:ln w="0">
            <a:noFill/>
            <a:prstDash val="solid"/>
          </a:ln>
        </p:spPr>
        <p:txBody>
          <a:bodyPr wrap="square" lIns="19050" tIns="19050" rIns="19050" bIns="19050" anchor="t">
            <a:normAutofit fontScale="98409" lnSpcReduction="10000"/>
          </a:bodyPr>
          <a:lstStyle/>
          <a:p>
            <a:pPr algn="ctr">
              <a:defRPr sz="1650" b="0">
                <a:solidFill>
                  <a:srgbClr val="2D5FE5"/>
                </a:solidFill>
                <a:latin typeface="Malgun Gothic"/>
                <a:ea typeface="Malgun Gothic"/>
                <a:cs typeface="Malgun Gothic"/>
              </a:defRPr>
            </a:pPr>
            <a:r>
              <a:rPr sz="1650" b="0" dirty="0">
                <a:solidFill>
                  <a:srgbClr val="2D5FE5"/>
                </a:solidFill>
                <a:latin typeface="Malgun Gothic"/>
                <a:ea typeface="Malgun Gothic"/>
                <a:cs typeface="Malgun Gothic"/>
              </a:rPr>
              <a:t>OHT AER</a:t>
            </a:r>
          </a:p>
        </p:txBody>
      </p:sp>
      <p:pic>
        <p:nvPicPr>
          <p:cNvPr id="13" name="그림 12">
            <a:extLst>
              <a:ext uri="{FF2B5EF4-FFF2-40B4-BE49-F238E27FC236}">
                <a16:creationId xmlns:a16="http://schemas.microsoft.com/office/drawing/2014/main" id="{BC0D93F7-38E9-C043-3449-C5DFF38D7C55}"/>
              </a:ext>
            </a:extLst>
          </p:cNvPr>
          <p:cNvPicPr>
            <a:picLocks noChangeAspect="1"/>
          </p:cNvPicPr>
          <p:nvPr/>
        </p:nvPicPr>
        <p:blipFill>
          <a:blip r:embed="rId3"/>
          <a:stretch/>
        </p:blipFill>
        <p:spPr>
          <a:xfrm>
            <a:off x="11285208" y="133349"/>
            <a:ext cx="900000" cy="900000"/>
          </a:xfrm>
          <a:prstGeom prst="rect">
            <a:avLst/>
          </a:prstGeom>
        </p:spPr>
      </p:pic>
      <p:pic>
        <p:nvPicPr>
          <p:cNvPr id="51" name="그림 50">
            <a:extLst>
              <a:ext uri="{FF2B5EF4-FFF2-40B4-BE49-F238E27FC236}">
                <a16:creationId xmlns:a16="http://schemas.microsoft.com/office/drawing/2014/main" id="{8A39D4AF-E182-B860-68C1-0236FC4911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4311" y="1076325"/>
            <a:ext cx="3888000" cy="2916000"/>
          </a:xfrm>
          <a:prstGeom prst="rect">
            <a:avLst/>
          </a:prstGeom>
        </p:spPr>
      </p:pic>
      <p:pic>
        <p:nvPicPr>
          <p:cNvPr id="55" name="그림 54">
            <a:extLst>
              <a:ext uri="{FF2B5EF4-FFF2-40B4-BE49-F238E27FC236}">
                <a16:creationId xmlns:a16="http://schemas.microsoft.com/office/drawing/2014/main" id="{86150867-AAF4-EE8B-912A-A3C3B9186D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4311" y="3935969"/>
            <a:ext cx="3888000" cy="2916000"/>
          </a:xfrm>
          <a:prstGeom prst="rect">
            <a:avLst/>
          </a:prstGeom>
        </p:spPr>
      </p:pic>
      <p:pic>
        <p:nvPicPr>
          <p:cNvPr id="57" name="그림 56">
            <a:extLst>
              <a:ext uri="{FF2B5EF4-FFF2-40B4-BE49-F238E27FC236}">
                <a16:creationId xmlns:a16="http://schemas.microsoft.com/office/drawing/2014/main" id="{A4572854-D687-3844-EAA9-ECB4F1B522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6119" y="1076325"/>
            <a:ext cx="3773647" cy="2916000"/>
          </a:xfrm>
          <a:prstGeom prst="rect">
            <a:avLst/>
          </a:prstGeom>
        </p:spPr>
      </p:pic>
      <p:sp>
        <p:nvSpPr>
          <p:cNvPr id="59" name="직사각형 58">
            <a:extLst>
              <a:ext uri="{FF2B5EF4-FFF2-40B4-BE49-F238E27FC236}">
                <a16:creationId xmlns:a16="http://schemas.microsoft.com/office/drawing/2014/main" id="{89D69393-C008-8581-A73A-9516F1D80271}"/>
              </a:ext>
            </a:extLst>
          </p:cNvPr>
          <p:cNvSpPr>
            <a:spLocks noGrp="1"/>
          </p:cNvSpPr>
          <p:nvPr/>
        </p:nvSpPr>
        <p:spPr>
          <a:xfrm>
            <a:off x="4041104" y="2566125"/>
            <a:ext cx="5238750" cy="266700"/>
          </a:xfrm>
          <a:prstGeom prst="rect">
            <a:avLst/>
          </a:prstGeom>
          <a:noFill/>
          <a:ln w="0">
            <a:noFill/>
            <a:prstDash val="solid"/>
          </a:ln>
        </p:spPr>
        <p:txBody>
          <a:bodyPr wrap="square" lIns="19050" tIns="19050" rIns="19050" bIns="19050" anchor="t">
            <a:normAutofit fontScale="98409" lnSpcReduction="10000"/>
          </a:bodyPr>
          <a:lstStyle/>
          <a:p>
            <a:pPr algn="ctr">
              <a:defRPr sz="1650" b="0">
                <a:solidFill>
                  <a:srgbClr val="0E9F78"/>
                </a:solidFill>
                <a:latin typeface="Malgun Gothic"/>
                <a:ea typeface="Malgun Gothic"/>
                <a:cs typeface="Malgun Gothic"/>
              </a:defRPr>
            </a:pPr>
            <a:r>
              <a:rPr lang="en-US" sz="1650" dirty="0">
                <a:solidFill>
                  <a:srgbClr val="0E9F78"/>
                </a:solidFill>
                <a:latin typeface="Malgun Gothic"/>
                <a:ea typeface="Malgun Gothic"/>
                <a:cs typeface="Malgun Gothic"/>
              </a:rPr>
              <a:t>Critical Setup Path</a:t>
            </a:r>
            <a:endParaRPr sz="1650" b="0" dirty="0">
              <a:solidFill>
                <a:srgbClr val="0E9F78"/>
              </a:solidFill>
              <a:latin typeface="Malgun Gothic"/>
              <a:ea typeface="Malgun Gothic"/>
              <a:cs typeface="Malgun Gothic"/>
            </a:endParaRPr>
          </a:p>
        </p:txBody>
      </p:sp>
      <p:sp>
        <p:nvSpPr>
          <p:cNvPr id="61" name="직사각형 60">
            <a:extLst>
              <a:ext uri="{FF2B5EF4-FFF2-40B4-BE49-F238E27FC236}">
                <a16:creationId xmlns:a16="http://schemas.microsoft.com/office/drawing/2014/main" id="{3DDEE02D-8BC5-6556-14CC-B5208F1EBD2C}"/>
              </a:ext>
            </a:extLst>
          </p:cNvPr>
          <p:cNvSpPr>
            <a:spLocks noGrp="1"/>
          </p:cNvSpPr>
          <p:nvPr/>
        </p:nvSpPr>
        <p:spPr>
          <a:xfrm>
            <a:off x="4034840" y="5127269"/>
            <a:ext cx="5238750" cy="266700"/>
          </a:xfrm>
          <a:prstGeom prst="rect">
            <a:avLst/>
          </a:prstGeom>
          <a:noFill/>
          <a:ln w="0">
            <a:noFill/>
            <a:prstDash val="solid"/>
          </a:ln>
        </p:spPr>
        <p:txBody>
          <a:bodyPr wrap="square" lIns="19050" tIns="19050" rIns="19050" bIns="19050" anchor="t">
            <a:normAutofit fontScale="98409" lnSpcReduction="10000"/>
          </a:bodyPr>
          <a:lstStyle/>
          <a:p>
            <a:pPr algn="ctr">
              <a:defRPr sz="1650" b="0">
                <a:solidFill>
                  <a:srgbClr val="2D5FE5"/>
                </a:solidFill>
                <a:latin typeface="Malgun Gothic"/>
                <a:ea typeface="Malgun Gothic"/>
                <a:cs typeface="Malgun Gothic"/>
              </a:defRPr>
            </a:pPr>
            <a:r>
              <a:rPr lang="en-US" sz="1650" b="0" dirty="0">
                <a:solidFill>
                  <a:srgbClr val="2D5FE5"/>
                </a:solidFill>
                <a:latin typeface="Malgun Gothic"/>
                <a:ea typeface="Malgun Gothic"/>
                <a:cs typeface="Malgun Gothic"/>
              </a:rPr>
              <a:t>Critical Setup Path</a:t>
            </a:r>
            <a:endParaRPr sz="1650" b="0" dirty="0">
              <a:solidFill>
                <a:srgbClr val="2D5FE5"/>
              </a:solidFill>
              <a:latin typeface="Malgun Gothic"/>
              <a:ea typeface="Malgun Gothic"/>
              <a:cs typeface="Malgun Gothic"/>
            </a:endParaRPr>
          </a:p>
        </p:txBody>
      </p:sp>
      <p:pic>
        <p:nvPicPr>
          <p:cNvPr id="63" name="그림 62">
            <a:extLst>
              <a:ext uri="{FF2B5EF4-FFF2-40B4-BE49-F238E27FC236}">
                <a16:creationId xmlns:a16="http://schemas.microsoft.com/office/drawing/2014/main" id="{83C1AA38-90A0-3395-EE55-1ED148FE01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46119" y="3935969"/>
            <a:ext cx="3773647" cy="2916000"/>
          </a:xfrm>
          <a:prstGeom prst="rect">
            <a:avLst/>
          </a:prstGeom>
        </p:spPr>
      </p:pic>
    </p:spTree>
    <p:extLst>
      <p:ext uri="{BB962C8B-B14F-4D97-AF65-F5344CB8AC3E}">
        <p14:creationId xmlns:p14="http://schemas.microsoft.com/office/powerpoint/2010/main" val="1824733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 name="직사각형 76">
            <a:extLst>
              <a:ext uri="{FF2B5EF4-FFF2-40B4-BE49-F238E27FC236}">
                <a16:creationId xmlns:a16="http://schemas.microsoft.com/office/drawing/2014/main" id="{87B326B2-573C-4634-8A3A-C923A0A4CAEE}"/>
              </a:ext>
            </a:extLst>
          </p:cNvPr>
          <p:cNvSpPr>
            <a:spLocks noGrp="1"/>
          </p:cNvSpPr>
          <p:nvPr/>
        </p:nvSpPr>
        <p:spPr>
          <a:xfrm>
            <a:off x="0" y="0"/>
            <a:ext cx="12192000" cy="133350"/>
          </a:xfrm>
          <a:prstGeom prst="rect">
            <a:avLst/>
          </a:prstGeom>
          <a:gradFill>
            <a:gsLst>
              <a:gs pos="0">
                <a:srgbClr val="095199"/>
              </a:gs>
              <a:gs pos="35000">
                <a:srgbClr val="088B94"/>
              </a:gs>
              <a:gs pos="70000">
                <a:srgbClr val="286B99"/>
              </a:gs>
              <a:gs pos="100000">
                <a:srgbClr val="8C2F5E"/>
              </a:gs>
            </a:gsLst>
            <a:lin ang="0"/>
          </a:gradFill>
          <a:ln w="0">
            <a:noFill/>
            <a:prstDash val="solid"/>
          </a:ln>
        </p:spPr>
        <p:txBody>
          <a:bodyPr/>
          <a:lstStyle/>
          <a:p>
            <a:endParaRPr lang="ko-KR" altLang="en-US"/>
          </a:p>
        </p:txBody>
      </p:sp>
      <p:sp>
        <p:nvSpPr>
          <p:cNvPr id="2" name="title-12">
            <a:extLst>
              <a:ext uri="{FF2B5EF4-FFF2-40B4-BE49-F238E27FC236}">
                <a16:creationId xmlns:a16="http://schemas.microsoft.com/office/drawing/2014/main" id="{A1A666F1-BD27-4EBC-AC52-2BF8150EE100}"/>
              </a:ext>
            </a:extLst>
          </p:cNvPr>
          <p:cNvSpPr>
            <a:spLocks noGrp="1"/>
          </p:cNvSpPr>
          <p:nvPr/>
        </p:nvSpPr>
        <p:spPr>
          <a:xfrm>
            <a:off x="609600" y="323850"/>
            <a:ext cx="9810750" cy="495300"/>
          </a:xfrm>
          <a:prstGeom prst="rect">
            <a:avLst/>
          </a:prstGeom>
          <a:noFill/>
          <a:ln w="0">
            <a:noFill/>
            <a:prstDash val="solid"/>
          </a:ln>
        </p:spPr>
        <p:txBody>
          <a:bodyPr wrap="square" lIns="19050" tIns="19050" rIns="19050" bIns="19050" anchor="t">
            <a:normAutofit/>
          </a:bodyPr>
          <a:lstStyle/>
          <a:p>
            <a:pPr algn="l">
              <a:defRPr sz="2625" b="0">
                <a:solidFill>
                  <a:srgbClr val="151A22"/>
                </a:solidFill>
                <a:latin typeface="Malgun Gothic"/>
                <a:ea typeface="Malgun Gothic"/>
                <a:cs typeface="Malgun Gothic"/>
              </a:defRPr>
            </a:pPr>
            <a:r>
              <a:rPr sz="2625" b="0">
                <a:solidFill>
                  <a:srgbClr val="151A22"/>
                </a:solidFill>
                <a:latin typeface="Malgun Gothic"/>
                <a:ea typeface="Malgun Gothic"/>
                <a:cs typeface="Malgun Gothic"/>
              </a:rPr>
              <a:t>PPA 비교와 최종 선택</a:t>
            </a:r>
          </a:p>
        </p:txBody>
      </p:sp>
      <p:sp>
        <p:nvSpPr>
          <p:cNvPr id="3" name="section-12">
            <a:extLst>
              <a:ext uri="{FF2B5EF4-FFF2-40B4-BE49-F238E27FC236}">
                <a16:creationId xmlns:a16="http://schemas.microsoft.com/office/drawing/2014/main" id="{8442C2EB-D3DE-4817-A538-4F9A6FF3F4F2}"/>
              </a:ext>
            </a:extLst>
          </p:cNvPr>
          <p:cNvSpPr>
            <a:spLocks noGrp="1"/>
          </p:cNvSpPr>
          <p:nvPr/>
        </p:nvSpPr>
        <p:spPr>
          <a:xfrm>
            <a:off x="609600" y="838200"/>
            <a:ext cx="7239000" cy="190500"/>
          </a:xfrm>
          <a:prstGeom prst="rect">
            <a:avLst/>
          </a:prstGeom>
          <a:noFill/>
          <a:ln w="0">
            <a:noFill/>
            <a:prstDash val="solid"/>
          </a:ln>
        </p:spPr>
        <p:txBody>
          <a:bodyPr wrap="square" lIns="19050" tIns="19050" rIns="19050" bIns="19050" anchor="t">
            <a:normAutofit/>
          </a:bodyPr>
          <a:lstStyle/>
          <a:p>
            <a:pPr algn="l">
              <a:defRPr sz="900" b="0">
                <a:solidFill>
                  <a:srgbClr val="088B94"/>
                </a:solidFill>
                <a:latin typeface="Malgun Gothic"/>
                <a:ea typeface="Malgun Gothic"/>
                <a:cs typeface="Malgun Gothic"/>
              </a:defRPr>
            </a:pPr>
            <a:r>
              <a:rPr sz="900" b="0">
                <a:solidFill>
                  <a:srgbClr val="088B94"/>
                </a:solidFill>
                <a:latin typeface="Malgun Gothic"/>
                <a:ea typeface="Malgun Gothic"/>
                <a:cs typeface="Malgun Gothic"/>
              </a:rPr>
              <a:t>POWER · PERFORMANCE · AREA</a:t>
            </a:r>
          </a:p>
        </p:txBody>
      </p:sp>
      <p:sp>
        <p:nvSpPr>
          <p:cNvPr id="4" name="직사각형 3">
            <a:extLst>
              <a:ext uri="{FF2B5EF4-FFF2-40B4-BE49-F238E27FC236}">
                <a16:creationId xmlns:a16="http://schemas.microsoft.com/office/drawing/2014/main" id="{952199D9-FDE6-4560-89EE-D4D7029B2367}"/>
              </a:ext>
            </a:extLst>
          </p:cNvPr>
          <p:cNvSpPr>
            <a:spLocks noGrp="1"/>
          </p:cNvSpPr>
          <p:nvPr/>
        </p:nvSpPr>
        <p:spPr>
          <a:xfrm>
            <a:off x="0" y="1057275"/>
            <a:ext cx="12192000" cy="19050"/>
          </a:xfrm>
          <a:prstGeom prst="rect">
            <a:avLst/>
          </a:prstGeom>
          <a:solidFill>
            <a:srgbClr val="A9D4D4"/>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FF9ED979-FE5F-4FB1-A67A-19FEBDA8F8FA}"/>
              </a:ext>
            </a:extLst>
          </p:cNvPr>
          <p:cNvSpPr>
            <a:spLocks noGrp="1"/>
          </p:cNvSpPr>
          <p:nvPr/>
        </p:nvSpPr>
        <p:spPr>
          <a:xfrm>
            <a:off x="419100" y="1333500"/>
            <a:ext cx="2571750" cy="457200"/>
          </a:xfrm>
          <a:prstGeom prst="rect">
            <a:avLst/>
          </a:prstGeom>
          <a:solidFill>
            <a:srgbClr val="1E2C4F"/>
          </a:solidFill>
          <a:ln w="9525">
            <a:solidFill>
              <a:srgbClr val="D3DBE5"/>
            </a:solidFill>
            <a:prstDash val="solid"/>
          </a:ln>
        </p:spPr>
        <p:txBody>
          <a:bodyPr/>
          <a:lstStyle/>
          <a:p>
            <a:endParaRPr lang="ko-KR" altLang="en-US"/>
          </a:p>
        </p:txBody>
      </p:sp>
      <p:sp>
        <p:nvSpPr>
          <p:cNvPr id="10" name="직사각형 9">
            <a:extLst>
              <a:ext uri="{FF2B5EF4-FFF2-40B4-BE49-F238E27FC236}">
                <a16:creationId xmlns:a16="http://schemas.microsoft.com/office/drawing/2014/main" id="{4710E4DE-4908-4930-8A2C-0AFC1B132013}"/>
              </a:ext>
            </a:extLst>
          </p:cNvPr>
          <p:cNvSpPr>
            <a:spLocks noGrp="1"/>
          </p:cNvSpPr>
          <p:nvPr/>
        </p:nvSpPr>
        <p:spPr>
          <a:xfrm>
            <a:off x="514350" y="1400175"/>
            <a:ext cx="2381250" cy="32385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항목</a:t>
            </a:r>
          </a:p>
        </p:txBody>
      </p:sp>
      <p:sp>
        <p:nvSpPr>
          <p:cNvPr id="11" name="직사각형 10">
            <a:extLst>
              <a:ext uri="{FF2B5EF4-FFF2-40B4-BE49-F238E27FC236}">
                <a16:creationId xmlns:a16="http://schemas.microsoft.com/office/drawing/2014/main" id="{3E1037D8-E454-428D-B58E-D7800F4366ED}"/>
              </a:ext>
            </a:extLst>
          </p:cNvPr>
          <p:cNvSpPr>
            <a:spLocks noGrp="1"/>
          </p:cNvSpPr>
          <p:nvPr/>
        </p:nvSpPr>
        <p:spPr>
          <a:xfrm>
            <a:off x="2990850" y="1333500"/>
            <a:ext cx="2762250" cy="457200"/>
          </a:xfrm>
          <a:prstGeom prst="rect">
            <a:avLst/>
          </a:prstGeom>
          <a:solidFill>
            <a:srgbClr val="7B8798"/>
          </a:solidFill>
          <a:ln w="9525">
            <a:solidFill>
              <a:srgbClr val="D3DBE5"/>
            </a:solidFill>
            <a:prstDash val="solid"/>
          </a:ln>
        </p:spPr>
        <p:txBody>
          <a:bodyPr/>
          <a:lstStyle/>
          <a:p>
            <a:endParaRPr lang="ko-KR" altLang="en-US"/>
          </a:p>
        </p:txBody>
      </p:sp>
      <p:sp>
        <p:nvSpPr>
          <p:cNvPr id="12" name="직사각형 11">
            <a:extLst>
              <a:ext uri="{FF2B5EF4-FFF2-40B4-BE49-F238E27FC236}">
                <a16:creationId xmlns:a16="http://schemas.microsoft.com/office/drawing/2014/main" id="{231CCE9C-16D9-41AD-94B2-3C19CB7D31AA}"/>
              </a:ext>
            </a:extLst>
          </p:cNvPr>
          <p:cNvSpPr>
            <a:spLocks noGrp="1"/>
          </p:cNvSpPr>
          <p:nvPr/>
        </p:nvSpPr>
        <p:spPr>
          <a:xfrm>
            <a:off x="3086100" y="1400175"/>
            <a:ext cx="2571750" cy="32385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전통형 AER</a:t>
            </a:r>
          </a:p>
        </p:txBody>
      </p:sp>
      <p:sp>
        <p:nvSpPr>
          <p:cNvPr id="13" name="직사각형 12">
            <a:extLst>
              <a:ext uri="{FF2B5EF4-FFF2-40B4-BE49-F238E27FC236}">
                <a16:creationId xmlns:a16="http://schemas.microsoft.com/office/drawing/2014/main" id="{74B0927F-5335-4956-82C4-403A2BD6BDFC}"/>
              </a:ext>
            </a:extLst>
          </p:cNvPr>
          <p:cNvSpPr>
            <a:spLocks noGrp="1"/>
          </p:cNvSpPr>
          <p:nvPr/>
        </p:nvSpPr>
        <p:spPr>
          <a:xfrm>
            <a:off x="5753100" y="1333500"/>
            <a:ext cx="3095625" cy="457200"/>
          </a:xfrm>
          <a:prstGeom prst="rect">
            <a:avLst/>
          </a:prstGeom>
          <a:solidFill>
            <a:srgbClr val="0E9F78"/>
          </a:solidFill>
          <a:ln w="9525">
            <a:solidFill>
              <a:srgbClr val="D3DBE5"/>
            </a:solidFill>
            <a:prstDash val="solid"/>
          </a:ln>
        </p:spPr>
        <p:txBody>
          <a:bodyPr/>
          <a:lstStyle/>
          <a:p>
            <a:endParaRPr lang="ko-KR" altLang="en-US"/>
          </a:p>
        </p:txBody>
      </p:sp>
      <p:sp>
        <p:nvSpPr>
          <p:cNvPr id="14" name="직사각형 13">
            <a:extLst>
              <a:ext uri="{FF2B5EF4-FFF2-40B4-BE49-F238E27FC236}">
                <a16:creationId xmlns:a16="http://schemas.microsoft.com/office/drawing/2014/main" id="{28A974E6-12CF-4889-8A11-49020661B1EE}"/>
              </a:ext>
            </a:extLst>
          </p:cNvPr>
          <p:cNvSpPr>
            <a:spLocks noGrp="1"/>
          </p:cNvSpPr>
          <p:nvPr/>
        </p:nvSpPr>
        <p:spPr>
          <a:xfrm>
            <a:off x="5848350" y="1400175"/>
            <a:ext cx="2905125" cy="32385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GRR AER</a:t>
            </a:r>
          </a:p>
        </p:txBody>
      </p:sp>
      <p:sp>
        <p:nvSpPr>
          <p:cNvPr id="15" name="직사각형 14">
            <a:extLst>
              <a:ext uri="{FF2B5EF4-FFF2-40B4-BE49-F238E27FC236}">
                <a16:creationId xmlns:a16="http://schemas.microsoft.com/office/drawing/2014/main" id="{720F5354-3F26-4F5E-8B77-1CB698F0415B}"/>
              </a:ext>
            </a:extLst>
          </p:cNvPr>
          <p:cNvSpPr>
            <a:spLocks noGrp="1"/>
          </p:cNvSpPr>
          <p:nvPr/>
        </p:nvSpPr>
        <p:spPr>
          <a:xfrm>
            <a:off x="8848725" y="1333500"/>
            <a:ext cx="3095625" cy="457200"/>
          </a:xfrm>
          <a:prstGeom prst="rect">
            <a:avLst/>
          </a:prstGeom>
          <a:solidFill>
            <a:srgbClr val="2D5FE5"/>
          </a:solidFill>
          <a:ln w="9525">
            <a:solidFill>
              <a:srgbClr val="D3DBE5"/>
            </a:solidFill>
            <a:prstDash val="solid"/>
          </a:ln>
        </p:spPr>
        <p:txBody>
          <a:bodyPr/>
          <a:lstStyle/>
          <a:p>
            <a:endParaRPr lang="ko-KR" altLang="en-US"/>
          </a:p>
        </p:txBody>
      </p:sp>
      <p:sp>
        <p:nvSpPr>
          <p:cNvPr id="16" name="직사각형 15">
            <a:extLst>
              <a:ext uri="{FF2B5EF4-FFF2-40B4-BE49-F238E27FC236}">
                <a16:creationId xmlns:a16="http://schemas.microsoft.com/office/drawing/2014/main" id="{F590083D-CBCD-4552-A957-AA664B65174F}"/>
              </a:ext>
            </a:extLst>
          </p:cNvPr>
          <p:cNvSpPr>
            <a:spLocks noGrp="1"/>
          </p:cNvSpPr>
          <p:nvPr/>
        </p:nvSpPr>
        <p:spPr>
          <a:xfrm>
            <a:off x="8943975" y="1400175"/>
            <a:ext cx="2905125" cy="323850"/>
          </a:xfrm>
          <a:prstGeom prst="rect">
            <a:avLst/>
          </a:prstGeom>
          <a:noFill/>
          <a:ln w="0">
            <a:noFill/>
            <a:prstDash val="solid"/>
          </a:ln>
        </p:spPr>
        <p:txBody>
          <a:bodyPr wrap="square" lIns="19050" tIns="19050" rIns="19050" bIns="19050" anchor="ctr">
            <a:normAutofit/>
          </a:bodyPr>
          <a:lstStyle/>
          <a:p>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OHT AER</a:t>
            </a:r>
          </a:p>
        </p:txBody>
      </p:sp>
      <p:sp>
        <p:nvSpPr>
          <p:cNvPr id="17" name="직사각형 16">
            <a:extLst>
              <a:ext uri="{FF2B5EF4-FFF2-40B4-BE49-F238E27FC236}">
                <a16:creationId xmlns:a16="http://schemas.microsoft.com/office/drawing/2014/main" id="{AEDB919D-59E8-4A43-BDC7-C59826B3BEB3}"/>
              </a:ext>
            </a:extLst>
          </p:cNvPr>
          <p:cNvSpPr>
            <a:spLocks noGrp="1"/>
          </p:cNvSpPr>
          <p:nvPr/>
        </p:nvSpPr>
        <p:spPr>
          <a:xfrm>
            <a:off x="419100" y="1790700"/>
            <a:ext cx="2571750" cy="419100"/>
          </a:xfrm>
          <a:prstGeom prst="rect">
            <a:avLst/>
          </a:prstGeom>
          <a:solidFill>
            <a:srgbClr val="F7F9FB"/>
          </a:solidFill>
          <a:ln w="9525">
            <a:solidFill>
              <a:srgbClr val="D3DBE5"/>
            </a:solidFill>
            <a:prstDash val="solid"/>
          </a:ln>
        </p:spPr>
        <p:txBody>
          <a:bodyPr/>
          <a:lstStyle/>
          <a:p>
            <a:endParaRPr lang="ko-KR" altLang="en-US"/>
          </a:p>
        </p:txBody>
      </p:sp>
      <p:sp>
        <p:nvSpPr>
          <p:cNvPr id="18" name="직사각형 17">
            <a:extLst>
              <a:ext uri="{FF2B5EF4-FFF2-40B4-BE49-F238E27FC236}">
                <a16:creationId xmlns:a16="http://schemas.microsoft.com/office/drawing/2014/main" id="{E9CB8D6D-0F50-4E16-8F91-2340FF0D941C}"/>
              </a:ext>
            </a:extLst>
          </p:cNvPr>
          <p:cNvSpPr>
            <a:spLocks noGrp="1"/>
          </p:cNvSpPr>
          <p:nvPr/>
        </p:nvSpPr>
        <p:spPr>
          <a:xfrm>
            <a:off x="514350" y="1857375"/>
            <a:ext cx="2381250" cy="2857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Instances</a:t>
            </a:r>
          </a:p>
        </p:txBody>
      </p:sp>
      <p:sp>
        <p:nvSpPr>
          <p:cNvPr id="19" name="직사각형 18">
            <a:extLst>
              <a:ext uri="{FF2B5EF4-FFF2-40B4-BE49-F238E27FC236}">
                <a16:creationId xmlns:a16="http://schemas.microsoft.com/office/drawing/2014/main" id="{2E9C5FE6-9C1B-4193-BF50-1435AF8A0E85}"/>
              </a:ext>
            </a:extLst>
          </p:cNvPr>
          <p:cNvSpPr>
            <a:spLocks noGrp="1"/>
          </p:cNvSpPr>
          <p:nvPr/>
        </p:nvSpPr>
        <p:spPr>
          <a:xfrm>
            <a:off x="2990850" y="1790700"/>
            <a:ext cx="2762250" cy="419100"/>
          </a:xfrm>
          <a:prstGeom prst="rect">
            <a:avLst/>
          </a:prstGeom>
          <a:solidFill>
            <a:srgbClr val="F0F2F5"/>
          </a:solidFill>
          <a:ln w="9525">
            <a:solidFill>
              <a:srgbClr val="D3DBE5"/>
            </a:solidFill>
            <a:prstDash val="solid"/>
          </a:ln>
        </p:spPr>
        <p:txBody>
          <a:bodyPr/>
          <a:lstStyle/>
          <a:p>
            <a:endParaRPr lang="ko-KR" altLang="en-US"/>
          </a:p>
        </p:txBody>
      </p:sp>
      <p:sp>
        <p:nvSpPr>
          <p:cNvPr id="20" name="직사각형 19">
            <a:extLst>
              <a:ext uri="{FF2B5EF4-FFF2-40B4-BE49-F238E27FC236}">
                <a16:creationId xmlns:a16="http://schemas.microsoft.com/office/drawing/2014/main" id="{86E5904C-5EB7-4D74-935C-ADB691638057}"/>
              </a:ext>
            </a:extLst>
          </p:cNvPr>
          <p:cNvSpPr>
            <a:spLocks noGrp="1"/>
          </p:cNvSpPr>
          <p:nvPr/>
        </p:nvSpPr>
        <p:spPr>
          <a:xfrm>
            <a:off x="3086100" y="1857375"/>
            <a:ext cx="2571750" cy="2857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92</a:t>
            </a:r>
          </a:p>
        </p:txBody>
      </p:sp>
      <p:sp>
        <p:nvSpPr>
          <p:cNvPr id="21" name="직사각형 20">
            <a:extLst>
              <a:ext uri="{FF2B5EF4-FFF2-40B4-BE49-F238E27FC236}">
                <a16:creationId xmlns:a16="http://schemas.microsoft.com/office/drawing/2014/main" id="{F123C5E7-AA66-4A59-827B-0DBDFCE140AF}"/>
              </a:ext>
            </a:extLst>
          </p:cNvPr>
          <p:cNvSpPr>
            <a:spLocks noGrp="1"/>
          </p:cNvSpPr>
          <p:nvPr/>
        </p:nvSpPr>
        <p:spPr>
          <a:xfrm>
            <a:off x="5753100" y="1790700"/>
            <a:ext cx="3095625" cy="419100"/>
          </a:xfrm>
          <a:prstGeom prst="rect">
            <a:avLst/>
          </a:prstGeom>
          <a:solidFill>
            <a:srgbClr val="F7F9FB"/>
          </a:solidFill>
          <a:ln w="9525">
            <a:solidFill>
              <a:srgbClr val="D3DBE5"/>
            </a:solidFill>
            <a:prstDash val="solid"/>
          </a:ln>
        </p:spPr>
        <p:txBody>
          <a:bodyPr/>
          <a:lstStyle/>
          <a:p>
            <a:endParaRPr lang="ko-KR" altLang="en-US"/>
          </a:p>
        </p:txBody>
      </p:sp>
      <p:sp>
        <p:nvSpPr>
          <p:cNvPr id="22" name="직사각형 21">
            <a:extLst>
              <a:ext uri="{FF2B5EF4-FFF2-40B4-BE49-F238E27FC236}">
                <a16:creationId xmlns:a16="http://schemas.microsoft.com/office/drawing/2014/main" id="{032E234F-C3A5-4605-B6AB-9D03E7C5C291}"/>
              </a:ext>
            </a:extLst>
          </p:cNvPr>
          <p:cNvSpPr>
            <a:spLocks noGrp="1"/>
          </p:cNvSpPr>
          <p:nvPr/>
        </p:nvSpPr>
        <p:spPr>
          <a:xfrm>
            <a:off x="5848350" y="1857375"/>
            <a:ext cx="2905125" cy="2857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263</a:t>
            </a:r>
          </a:p>
        </p:txBody>
      </p:sp>
      <p:sp>
        <p:nvSpPr>
          <p:cNvPr id="23" name="직사각형 22">
            <a:extLst>
              <a:ext uri="{FF2B5EF4-FFF2-40B4-BE49-F238E27FC236}">
                <a16:creationId xmlns:a16="http://schemas.microsoft.com/office/drawing/2014/main" id="{8301BF5A-41F4-4A70-8477-653CD935992D}"/>
              </a:ext>
            </a:extLst>
          </p:cNvPr>
          <p:cNvSpPr>
            <a:spLocks noGrp="1"/>
          </p:cNvSpPr>
          <p:nvPr/>
        </p:nvSpPr>
        <p:spPr>
          <a:xfrm>
            <a:off x="8848725" y="1790700"/>
            <a:ext cx="3095625" cy="419100"/>
          </a:xfrm>
          <a:prstGeom prst="rect">
            <a:avLst/>
          </a:prstGeom>
          <a:solidFill>
            <a:srgbClr val="F7F9FB"/>
          </a:solidFill>
          <a:ln w="9525">
            <a:solidFill>
              <a:srgbClr val="D3DBE5"/>
            </a:solidFill>
            <a:prstDash val="solid"/>
          </a:ln>
        </p:spPr>
        <p:txBody>
          <a:bodyPr/>
          <a:lstStyle/>
          <a:p>
            <a:endParaRPr lang="ko-KR" altLang="en-US"/>
          </a:p>
        </p:txBody>
      </p:sp>
      <p:sp>
        <p:nvSpPr>
          <p:cNvPr id="24" name="직사각형 23">
            <a:extLst>
              <a:ext uri="{FF2B5EF4-FFF2-40B4-BE49-F238E27FC236}">
                <a16:creationId xmlns:a16="http://schemas.microsoft.com/office/drawing/2014/main" id="{4BFEA4DD-230D-4CB8-95AD-FA32E0550214}"/>
              </a:ext>
            </a:extLst>
          </p:cNvPr>
          <p:cNvSpPr>
            <a:spLocks noGrp="1"/>
          </p:cNvSpPr>
          <p:nvPr/>
        </p:nvSpPr>
        <p:spPr>
          <a:xfrm>
            <a:off x="8943975" y="1857375"/>
            <a:ext cx="2905125" cy="2857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278</a:t>
            </a:r>
          </a:p>
        </p:txBody>
      </p:sp>
      <p:sp>
        <p:nvSpPr>
          <p:cNvPr id="25" name="직사각형 24">
            <a:extLst>
              <a:ext uri="{FF2B5EF4-FFF2-40B4-BE49-F238E27FC236}">
                <a16:creationId xmlns:a16="http://schemas.microsoft.com/office/drawing/2014/main" id="{D8969247-7CE6-46ED-B9B9-34B727DB7B8A}"/>
              </a:ext>
            </a:extLst>
          </p:cNvPr>
          <p:cNvSpPr>
            <a:spLocks noGrp="1"/>
          </p:cNvSpPr>
          <p:nvPr/>
        </p:nvSpPr>
        <p:spPr>
          <a:xfrm>
            <a:off x="419100" y="2209800"/>
            <a:ext cx="2571750" cy="495300"/>
          </a:xfrm>
          <a:prstGeom prst="rect">
            <a:avLst/>
          </a:prstGeom>
          <a:solidFill>
            <a:srgbClr val="FFFFFF"/>
          </a:solidFill>
          <a:ln w="9525">
            <a:solidFill>
              <a:srgbClr val="D3DBE5"/>
            </a:solidFill>
            <a:prstDash val="solid"/>
          </a:ln>
        </p:spPr>
        <p:txBody>
          <a:bodyPr/>
          <a:lstStyle/>
          <a:p>
            <a:endParaRPr lang="ko-KR" altLang="en-US"/>
          </a:p>
        </p:txBody>
      </p:sp>
      <p:sp>
        <p:nvSpPr>
          <p:cNvPr id="26" name="직사각형 25">
            <a:extLst>
              <a:ext uri="{FF2B5EF4-FFF2-40B4-BE49-F238E27FC236}">
                <a16:creationId xmlns:a16="http://schemas.microsoft.com/office/drawing/2014/main" id="{8AE7993C-94C7-463A-806B-32A7FB500BB9}"/>
              </a:ext>
            </a:extLst>
          </p:cNvPr>
          <p:cNvSpPr>
            <a:spLocks noGrp="1"/>
          </p:cNvSpPr>
          <p:nvPr/>
        </p:nvSpPr>
        <p:spPr>
          <a:xfrm>
            <a:off x="514350" y="2276475"/>
            <a:ext cx="2381250" cy="3619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Cell area</a:t>
            </a:r>
          </a:p>
        </p:txBody>
      </p:sp>
      <p:sp>
        <p:nvSpPr>
          <p:cNvPr id="27" name="직사각형 26">
            <a:extLst>
              <a:ext uri="{FF2B5EF4-FFF2-40B4-BE49-F238E27FC236}">
                <a16:creationId xmlns:a16="http://schemas.microsoft.com/office/drawing/2014/main" id="{E6034950-6C4F-4B96-9B92-E8D140631377}"/>
              </a:ext>
            </a:extLst>
          </p:cNvPr>
          <p:cNvSpPr>
            <a:spLocks noGrp="1"/>
          </p:cNvSpPr>
          <p:nvPr/>
        </p:nvSpPr>
        <p:spPr>
          <a:xfrm>
            <a:off x="2990850" y="2209800"/>
            <a:ext cx="2762250" cy="495300"/>
          </a:xfrm>
          <a:prstGeom prst="rect">
            <a:avLst/>
          </a:prstGeom>
          <a:solidFill>
            <a:srgbClr val="F0F2F5"/>
          </a:solidFill>
          <a:ln w="9525">
            <a:solidFill>
              <a:srgbClr val="D3DBE5"/>
            </a:solidFill>
            <a:prstDash val="solid"/>
          </a:ln>
        </p:spPr>
        <p:txBody>
          <a:bodyPr/>
          <a:lstStyle/>
          <a:p>
            <a:endParaRPr lang="ko-KR" altLang="en-US"/>
          </a:p>
        </p:txBody>
      </p:sp>
      <p:sp>
        <p:nvSpPr>
          <p:cNvPr id="28" name="직사각형 27">
            <a:extLst>
              <a:ext uri="{FF2B5EF4-FFF2-40B4-BE49-F238E27FC236}">
                <a16:creationId xmlns:a16="http://schemas.microsoft.com/office/drawing/2014/main" id="{6E4DC51C-B742-4528-8386-32DFBD362892}"/>
              </a:ext>
            </a:extLst>
          </p:cNvPr>
          <p:cNvSpPr>
            <a:spLocks noGrp="1"/>
          </p:cNvSpPr>
          <p:nvPr/>
        </p:nvSpPr>
        <p:spPr>
          <a:xfrm>
            <a:off x="3086100" y="2276475"/>
            <a:ext cx="2571750" cy="3619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214.092 µm²</a:t>
            </a:r>
          </a:p>
        </p:txBody>
      </p:sp>
      <p:sp>
        <p:nvSpPr>
          <p:cNvPr id="29" name="직사각형 28">
            <a:extLst>
              <a:ext uri="{FF2B5EF4-FFF2-40B4-BE49-F238E27FC236}">
                <a16:creationId xmlns:a16="http://schemas.microsoft.com/office/drawing/2014/main" id="{82CF95C8-579A-4389-8D3D-30BBFA379DAA}"/>
              </a:ext>
            </a:extLst>
          </p:cNvPr>
          <p:cNvSpPr>
            <a:spLocks noGrp="1"/>
          </p:cNvSpPr>
          <p:nvPr/>
        </p:nvSpPr>
        <p:spPr>
          <a:xfrm>
            <a:off x="5753100" y="2209800"/>
            <a:ext cx="3095625" cy="495300"/>
          </a:xfrm>
          <a:prstGeom prst="rect">
            <a:avLst/>
          </a:prstGeom>
          <a:solidFill>
            <a:srgbClr val="E7F7F2"/>
          </a:solidFill>
          <a:ln w="9525">
            <a:solidFill>
              <a:srgbClr val="D3DBE5"/>
            </a:solidFill>
            <a:prstDash val="solid"/>
          </a:ln>
        </p:spPr>
        <p:txBody>
          <a:bodyPr/>
          <a:lstStyle/>
          <a:p>
            <a:endParaRPr lang="ko-KR" altLang="en-US"/>
          </a:p>
        </p:txBody>
      </p:sp>
      <p:sp>
        <p:nvSpPr>
          <p:cNvPr id="30" name="직사각형 29">
            <a:extLst>
              <a:ext uri="{FF2B5EF4-FFF2-40B4-BE49-F238E27FC236}">
                <a16:creationId xmlns:a16="http://schemas.microsoft.com/office/drawing/2014/main" id="{02892E7B-D172-4AD8-80CA-E7698D2A9229}"/>
              </a:ext>
            </a:extLst>
          </p:cNvPr>
          <p:cNvSpPr>
            <a:spLocks noGrp="1"/>
          </p:cNvSpPr>
          <p:nvPr/>
        </p:nvSpPr>
        <p:spPr>
          <a:xfrm>
            <a:off x="5848350" y="2276475"/>
            <a:ext cx="2905125" cy="361950"/>
          </a:xfrm>
          <a:prstGeom prst="rect">
            <a:avLst/>
          </a:prstGeom>
          <a:noFill/>
          <a:ln w="0">
            <a:noFill/>
            <a:prstDash val="solid"/>
          </a:ln>
        </p:spPr>
        <p:txBody>
          <a:bodyPr wrap="square" lIns="19050" tIns="19050" rIns="19050" bIns="19050" anchor="ctr">
            <a:normAutofit/>
          </a:bodyPr>
          <a:lstStyle/>
          <a:p>
            <a:pPr algn="ctr">
              <a:defRPr sz="1125" b="0">
                <a:solidFill>
                  <a:srgbClr val="0E9F78"/>
                </a:solidFill>
                <a:latin typeface="Malgun Gothic"/>
                <a:ea typeface="Malgun Gothic"/>
                <a:cs typeface="Malgun Gothic"/>
              </a:defRPr>
            </a:pPr>
            <a:r>
              <a:rPr sz="1125" b="0">
                <a:solidFill>
                  <a:srgbClr val="0E9F78"/>
                </a:solidFill>
                <a:latin typeface="Malgun Gothic"/>
                <a:ea typeface="Malgun Gothic"/>
                <a:cs typeface="Malgun Gothic"/>
              </a:rPr>
              <a:t>669.294 µm²</a:t>
            </a:r>
          </a:p>
        </p:txBody>
      </p:sp>
      <p:sp>
        <p:nvSpPr>
          <p:cNvPr id="31" name="직사각형 30">
            <a:extLst>
              <a:ext uri="{FF2B5EF4-FFF2-40B4-BE49-F238E27FC236}">
                <a16:creationId xmlns:a16="http://schemas.microsoft.com/office/drawing/2014/main" id="{CEF731B6-CB51-43B8-BBF7-8D8E0743CA1E}"/>
              </a:ext>
            </a:extLst>
          </p:cNvPr>
          <p:cNvSpPr>
            <a:spLocks noGrp="1"/>
          </p:cNvSpPr>
          <p:nvPr/>
        </p:nvSpPr>
        <p:spPr>
          <a:xfrm>
            <a:off x="8848725" y="2209800"/>
            <a:ext cx="3095625" cy="495300"/>
          </a:xfrm>
          <a:prstGeom prst="rect">
            <a:avLst/>
          </a:prstGeom>
          <a:solidFill>
            <a:srgbClr val="FFFFFF"/>
          </a:solidFill>
          <a:ln w="9525">
            <a:solidFill>
              <a:srgbClr val="D3DBE5"/>
            </a:solidFill>
            <a:prstDash val="solid"/>
          </a:ln>
        </p:spPr>
        <p:txBody>
          <a:bodyPr/>
          <a:lstStyle/>
          <a:p>
            <a:endParaRPr lang="ko-KR" altLang="en-US"/>
          </a:p>
        </p:txBody>
      </p:sp>
      <p:sp>
        <p:nvSpPr>
          <p:cNvPr id="32" name="직사각형 31">
            <a:extLst>
              <a:ext uri="{FF2B5EF4-FFF2-40B4-BE49-F238E27FC236}">
                <a16:creationId xmlns:a16="http://schemas.microsoft.com/office/drawing/2014/main" id="{6D2AD230-E365-4899-9B1B-2C2985C2275E}"/>
              </a:ext>
            </a:extLst>
          </p:cNvPr>
          <p:cNvSpPr>
            <a:spLocks noGrp="1"/>
          </p:cNvSpPr>
          <p:nvPr/>
        </p:nvSpPr>
        <p:spPr>
          <a:xfrm>
            <a:off x="8943975" y="2276475"/>
            <a:ext cx="2905125" cy="3619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709.308 µm²</a:t>
            </a:r>
          </a:p>
        </p:txBody>
      </p:sp>
      <p:sp>
        <p:nvSpPr>
          <p:cNvPr id="33" name="직사각형 32">
            <a:extLst>
              <a:ext uri="{FF2B5EF4-FFF2-40B4-BE49-F238E27FC236}">
                <a16:creationId xmlns:a16="http://schemas.microsoft.com/office/drawing/2014/main" id="{5D898593-C05A-4200-8381-4F9B91CDC40B}"/>
              </a:ext>
            </a:extLst>
          </p:cNvPr>
          <p:cNvSpPr>
            <a:spLocks noGrp="1"/>
          </p:cNvSpPr>
          <p:nvPr/>
        </p:nvSpPr>
        <p:spPr>
          <a:xfrm>
            <a:off x="419100" y="2705100"/>
            <a:ext cx="2571750" cy="495300"/>
          </a:xfrm>
          <a:prstGeom prst="rect">
            <a:avLst/>
          </a:prstGeom>
          <a:solidFill>
            <a:srgbClr val="F7F9FB"/>
          </a:solidFill>
          <a:ln w="9525">
            <a:solidFill>
              <a:srgbClr val="D3DBE5"/>
            </a:solidFill>
            <a:prstDash val="solid"/>
          </a:ln>
        </p:spPr>
        <p:txBody>
          <a:bodyPr/>
          <a:lstStyle/>
          <a:p>
            <a:endParaRPr lang="ko-KR" altLang="en-US"/>
          </a:p>
        </p:txBody>
      </p:sp>
      <p:sp>
        <p:nvSpPr>
          <p:cNvPr id="34" name="직사각형 33">
            <a:extLst>
              <a:ext uri="{FF2B5EF4-FFF2-40B4-BE49-F238E27FC236}">
                <a16:creationId xmlns:a16="http://schemas.microsoft.com/office/drawing/2014/main" id="{EFC1AB52-0203-4D07-ABD6-45F4863546C0}"/>
              </a:ext>
            </a:extLst>
          </p:cNvPr>
          <p:cNvSpPr>
            <a:spLocks noGrp="1"/>
          </p:cNvSpPr>
          <p:nvPr/>
        </p:nvSpPr>
        <p:spPr>
          <a:xfrm>
            <a:off x="514350" y="2771775"/>
            <a:ext cx="2381250" cy="3619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Vectorless power</a:t>
            </a:r>
          </a:p>
        </p:txBody>
      </p:sp>
      <p:sp>
        <p:nvSpPr>
          <p:cNvPr id="35" name="직사각형 34">
            <a:extLst>
              <a:ext uri="{FF2B5EF4-FFF2-40B4-BE49-F238E27FC236}">
                <a16:creationId xmlns:a16="http://schemas.microsoft.com/office/drawing/2014/main" id="{BB5D256C-2444-4B2F-B476-0B32DD9012D1}"/>
              </a:ext>
            </a:extLst>
          </p:cNvPr>
          <p:cNvSpPr>
            <a:spLocks noGrp="1"/>
          </p:cNvSpPr>
          <p:nvPr/>
        </p:nvSpPr>
        <p:spPr>
          <a:xfrm>
            <a:off x="2990850" y="2705100"/>
            <a:ext cx="2762250" cy="495300"/>
          </a:xfrm>
          <a:prstGeom prst="rect">
            <a:avLst/>
          </a:prstGeom>
          <a:solidFill>
            <a:srgbClr val="F0F2F5"/>
          </a:solidFill>
          <a:ln w="9525">
            <a:solidFill>
              <a:srgbClr val="D3DBE5"/>
            </a:solidFill>
            <a:prstDash val="solid"/>
          </a:ln>
        </p:spPr>
        <p:txBody>
          <a:bodyPr/>
          <a:lstStyle/>
          <a:p>
            <a:endParaRPr lang="ko-KR" altLang="en-US"/>
          </a:p>
        </p:txBody>
      </p:sp>
      <p:sp>
        <p:nvSpPr>
          <p:cNvPr id="36" name="직사각형 35">
            <a:extLst>
              <a:ext uri="{FF2B5EF4-FFF2-40B4-BE49-F238E27FC236}">
                <a16:creationId xmlns:a16="http://schemas.microsoft.com/office/drawing/2014/main" id="{EAFEB1B0-7E8B-4C7D-B6DC-54C03F5E5F47}"/>
              </a:ext>
            </a:extLst>
          </p:cNvPr>
          <p:cNvSpPr>
            <a:spLocks noGrp="1"/>
          </p:cNvSpPr>
          <p:nvPr/>
        </p:nvSpPr>
        <p:spPr>
          <a:xfrm>
            <a:off x="3086100" y="2771775"/>
            <a:ext cx="2571750" cy="3619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2.127 µW</a:t>
            </a:r>
          </a:p>
        </p:txBody>
      </p:sp>
      <p:sp>
        <p:nvSpPr>
          <p:cNvPr id="37" name="직사각형 36">
            <a:extLst>
              <a:ext uri="{FF2B5EF4-FFF2-40B4-BE49-F238E27FC236}">
                <a16:creationId xmlns:a16="http://schemas.microsoft.com/office/drawing/2014/main" id="{775CC9E1-DC35-497A-961F-6A2FFB53C54B}"/>
              </a:ext>
            </a:extLst>
          </p:cNvPr>
          <p:cNvSpPr>
            <a:spLocks noGrp="1"/>
          </p:cNvSpPr>
          <p:nvPr/>
        </p:nvSpPr>
        <p:spPr>
          <a:xfrm>
            <a:off x="5753100" y="2705100"/>
            <a:ext cx="3095625" cy="495300"/>
          </a:xfrm>
          <a:prstGeom prst="rect">
            <a:avLst/>
          </a:prstGeom>
          <a:solidFill>
            <a:srgbClr val="F7F9FB"/>
          </a:solidFill>
          <a:ln w="9525">
            <a:solidFill>
              <a:srgbClr val="D3DBE5"/>
            </a:solidFill>
            <a:prstDash val="solid"/>
          </a:ln>
        </p:spPr>
        <p:txBody>
          <a:bodyPr/>
          <a:lstStyle/>
          <a:p>
            <a:endParaRPr lang="ko-KR" altLang="en-US"/>
          </a:p>
        </p:txBody>
      </p:sp>
      <p:sp>
        <p:nvSpPr>
          <p:cNvPr id="38" name="직사각형 37">
            <a:extLst>
              <a:ext uri="{FF2B5EF4-FFF2-40B4-BE49-F238E27FC236}">
                <a16:creationId xmlns:a16="http://schemas.microsoft.com/office/drawing/2014/main" id="{3DF95A1B-9036-434D-AA73-FA059D8FBEAD}"/>
              </a:ext>
            </a:extLst>
          </p:cNvPr>
          <p:cNvSpPr>
            <a:spLocks noGrp="1"/>
          </p:cNvSpPr>
          <p:nvPr/>
        </p:nvSpPr>
        <p:spPr>
          <a:xfrm>
            <a:off x="5848350" y="2771775"/>
            <a:ext cx="2905125" cy="3619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20.641 µW</a:t>
            </a:r>
          </a:p>
        </p:txBody>
      </p:sp>
      <p:sp>
        <p:nvSpPr>
          <p:cNvPr id="39" name="직사각형 38">
            <a:extLst>
              <a:ext uri="{FF2B5EF4-FFF2-40B4-BE49-F238E27FC236}">
                <a16:creationId xmlns:a16="http://schemas.microsoft.com/office/drawing/2014/main" id="{DD188537-FB2D-4D45-B77D-5AB644188A1D}"/>
              </a:ext>
            </a:extLst>
          </p:cNvPr>
          <p:cNvSpPr>
            <a:spLocks noGrp="1"/>
          </p:cNvSpPr>
          <p:nvPr/>
        </p:nvSpPr>
        <p:spPr>
          <a:xfrm>
            <a:off x="8848725" y="2705100"/>
            <a:ext cx="3095625" cy="495300"/>
          </a:xfrm>
          <a:prstGeom prst="rect">
            <a:avLst/>
          </a:prstGeom>
          <a:solidFill>
            <a:srgbClr val="EAF0FF"/>
          </a:solidFill>
          <a:ln w="9525">
            <a:solidFill>
              <a:srgbClr val="D3DBE5"/>
            </a:solidFill>
            <a:prstDash val="solid"/>
          </a:ln>
        </p:spPr>
        <p:txBody>
          <a:bodyPr/>
          <a:lstStyle/>
          <a:p>
            <a:endParaRPr lang="ko-KR" altLang="en-US"/>
          </a:p>
        </p:txBody>
      </p:sp>
      <p:sp>
        <p:nvSpPr>
          <p:cNvPr id="40" name="직사각형 39">
            <a:extLst>
              <a:ext uri="{FF2B5EF4-FFF2-40B4-BE49-F238E27FC236}">
                <a16:creationId xmlns:a16="http://schemas.microsoft.com/office/drawing/2014/main" id="{9F7D0E17-7199-47D8-A639-21C18CCE1C34}"/>
              </a:ext>
            </a:extLst>
          </p:cNvPr>
          <p:cNvSpPr>
            <a:spLocks noGrp="1"/>
          </p:cNvSpPr>
          <p:nvPr/>
        </p:nvSpPr>
        <p:spPr>
          <a:xfrm>
            <a:off x="8943975" y="2771775"/>
            <a:ext cx="2905125" cy="361950"/>
          </a:xfrm>
          <a:prstGeom prst="rect">
            <a:avLst/>
          </a:prstGeom>
          <a:noFill/>
          <a:ln w="0">
            <a:noFill/>
            <a:prstDash val="solid"/>
          </a:ln>
        </p:spPr>
        <p:txBody>
          <a:bodyPr wrap="square" lIns="19050" tIns="19050" rIns="19050" bIns="19050" anchor="ctr">
            <a:normAutofit/>
          </a:bodyPr>
          <a:lstStyle/>
          <a:p>
            <a:pPr algn="ctr">
              <a:defRPr sz="1125" b="0">
                <a:solidFill>
                  <a:srgbClr val="2D5FE5"/>
                </a:solidFill>
                <a:latin typeface="Malgun Gothic"/>
                <a:ea typeface="Malgun Gothic"/>
                <a:cs typeface="Malgun Gothic"/>
              </a:defRPr>
            </a:pPr>
            <a:r>
              <a:rPr sz="1125" b="0">
                <a:solidFill>
                  <a:srgbClr val="2D5FE5"/>
                </a:solidFill>
                <a:latin typeface="Malgun Gothic"/>
                <a:ea typeface="Malgun Gothic"/>
                <a:cs typeface="Malgun Gothic"/>
              </a:rPr>
              <a:t>19.218 µW</a:t>
            </a:r>
          </a:p>
        </p:txBody>
      </p:sp>
      <p:sp>
        <p:nvSpPr>
          <p:cNvPr id="41" name="직사각형 40">
            <a:extLst>
              <a:ext uri="{FF2B5EF4-FFF2-40B4-BE49-F238E27FC236}">
                <a16:creationId xmlns:a16="http://schemas.microsoft.com/office/drawing/2014/main" id="{25581E8F-9736-472E-A222-0AFB501022DE}"/>
              </a:ext>
            </a:extLst>
          </p:cNvPr>
          <p:cNvSpPr>
            <a:spLocks noGrp="1"/>
          </p:cNvSpPr>
          <p:nvPr/>
        </p:nvSpPr>
        <p:spPr>
          <a:xfrm>
            <a:off x="419100" y="3200400"/>
            <a:ext cx="2571750" cy="495300"/>
          </a:xfrm>
          <a:prstGeom prst="rect">
            <a:avLst/>
          </a:prstGeom>
          <a:solidFill>
            <a:srgbClr val="FFFFFF"/>
          </a:solidFill>
          <a:ln w="9525">
            <a:solidFill>
              <a:srgbClr val="D3DBE5"/>
            </a:solidFill>
            <a:prstDash val="solid"/>
          </a:ln>
        </p:spPr>
        <p:txBody>
          <a:bodyPr/>
          <a:lstStyle/>
          <a:p>
            <a:endParaRPr lang="ko-KR" altLang="en-US"/>
          </a:p>
        </p:txBody>
      </p:sp>
      <p:sp>
        <p:nvSpPr>
          <p:cNvPr id="42" name="직사각형 41">
            <a:extLst>
              <a:ext uri="{FF2B5EF4-FFF2-40B4-BE49-F238E27FC236}">
                <a16:creationId xmlns:a16="http://schemas.microsoft.com/office/drawing/2014/main" id="{BEA2E4D1-1CBB-4359-8EF5-BC74FE07C24A}"/>
              </a:ext>
            </a:extLst>
          </p:cNvPr>
          <p:cNvSpPr>
            <a:spLocks noGrp="1"/>
          </p:cNvSpPr>
          <p:nvPr/>
        </p:nvSpPr>
        <p:spPr>
          <a:xfrm>
            <a:off x="514350" y="3267075"/>
            <a:ext cx="2381250" cy="3619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Mapped-SAIF power</a:t>
            </a:r>
          </a:p>
        </p:txBody>
      </p:sp>
      <p:sp>
        <p:nvSpPr>
          <p:cNvPr id="43" name="직사각형 42">
            <a:extLst>
              <a:ext uri="{FF2B5EF4-FFF2-40B4-BE49-F238E27FC236}">
                <a16:creationId xmlns:a16="http://schemas.microsoft.com/office/drawing/2014/main" id="{89616488-030F-44BC-82E5-FD9F7D79F829}"/>
              </a:ext>
            </a:extLst>
          </p:cNvPr>
          <p:cNvSpPr>
            <a:spLocks noGrp="1"/>
          </p:cNvSpPr>
          <p:nvPr/>
        </p:nvSpPr>
        <p:spPr>
          <a:xfrm>
            <a:off x="2990850" y="3200400"/>
            <a:ext cx="2762250" cy="495300"/>
          </a:xfrm>
          <a:prstGeom prst="rect">
            <a:avLst/>
          </a:prstGeom>
          <a:solidFill>
            <a:srgbClr val="F0F2F5"/>
          </a:solidFill>
          <a:ln w="9525">
            <a:solidFill>
              <a:srgbClr val="D3DBE5"/>
            </a:solidFill>
            <a:prstDash val="solid"/>
          </a:ln>
        </p:spPr>
        <p:txBody>
          <a:bodyPr/>
          <a:lstStyle/>
          <a:p>
            <a:endParaRPr lang="ko-KR" altLang="en-US"/>
          </a:p>
        </p:txBody>
      </p:sp>
      <p:sp>
        <p:nvSpPr>
          <p:cNvPr id="44" name="직사각형 43">
            <a:extLst>
              <a:ext uri="{FF2B5EF4-FFF2-40B4-BE49-F238E27FC236}">
                <a16:creationId xmlns:a16="http://schemas.microsoft.com/office/drawing/2014/main" id="{17A1F7AE-710C-4E89-990A-5B19F2A987AA}"/>
              </a:ext>
            </a:extLst>
          </p:cNvPr>
          <p:cNvSpPr>
            <a:spLocks noGrp="1"/>
          </p:cNvSpPr>
          <p:nvPr/>
        </p:nvSpPr>
        <p:spPr>
          <a:xfrm>
            <a:off x="3086100" y="3267075"/>
            <a:ext cx="2571750" cy="3619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미산출*</a:t>
            </a:r>
          </a:p>
        </p:txBody>
      </p:sp>
      <p:sp>
        <p:nvSpPr>
          <p:cNvPr id="45" name="직사각형 44">
            <a:extLst>
              <a:ext uri="{FF2B5EF4-FFF2-40B4-BE49-F238E27FC236}">
                <a16:creationId xmlns:a16="http://schemas.microsoft.com/office/drawing/2014/main" id="{99210EED-906A-40F3-A0FB-6CBA91EFBDFD}"/>
              </a:ext>
            </a:extLst>
          </p:cNvPr>
          <p:cNvSpPr>
            <a:spLocks noGrp="1"/>
          </p:cNvSpPr>
          <p:nvPr/>
        </p:nvSpPr>
        <p:spPr>
          <a:xfrm>
            <a:off x="5753100" y="3200400"/>
            <a:ext cx="3095625" cy="495300"/>
          </a:xfrm>
          <a:prstGeom prst="rect">
            <a:avLst/>
          </a:prstGeom>
          <a:solidFill>
            <a:srgbClr val="FFFFFF"/>
          </a:solidFill>
          <a:ln w="9525">
            <a:solidFill>
              <a:srgbClr val="D3DBE5"/>
            </a:solidFill>
            <a:prstDash val="solid"/>
          </a:ln>
        </p:spPr>
        <p:txBody>
          <a:bodyPr/>
          <a:lstStyle/>
          <a:p>
            <a:endParaRPr lang="ko-KR" altLang="en-US"/>
          </a:p>
        </p:txBody>
      </p:sp>
      <p:sp>
        <p:nvSpPr>
          <p:cNvPr id="46" name="직사각형 45">
            <a:extLst>
              <a:ext uri="{FF2B5EF4-FFF2-40B4-BE49-F238E27FC236}">
                <a16:creationId xmlns:a16="http://schemas.microsoft.com/office/drawing/2014/main" id="{EB73633B-1A79-46C8-9BF2-95387C7BFE75}"/>
              </a:ext>
            </a:extLst>
          </p:cNvPr>
          <p:cNvSpPr>
            <a:spLocks noGrp="1"/>
          </p:cNvSpPr>
          <p:nvPr/>
        </p:nvSpPr>
        <p:spPr>
          <a:xfrm>
            <a:off x="5848350" y="3267075"/>
            <a:ext cx="2905125" cy="3619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14.382 µW</a:t>
            </a:r>
          </a:p>
        </p:txBody>
      </p:sp>
      <p:sp>
        <p:nvSpPr>
          <p:cNvPr id="47" name="직사각형 46">
            <a:extLst>
              <a:ext uri="{FF2B5EF4-FFF2-40B4-BE49-F238E27FC236}">
                <a16:creationId xmlns:a16="http://schemas.microsoft.com/office/drawing/2014/main" id="{FCED522B-3513-4016-B7B5-86F9FA7B88A0}"/>
              </a:ext>
            </a:extLst>
          </p:cNvPr>
          <p:cNvSpPr>
            <a:spLocks noGrp="1"/>
          </p:cNvSpPr>
          <p:nvPr/>
        </p:nvSpPr>
        <p:spPr>
          <a:xfrm>
            <a:off x="8848725" y="3200400"/>
            <a:ext cx="3095625" cy="495300"/>
          </a:xfrm>
          <a:prstGeom prst="rect">
            <a:avLst/>
          </a:prstGeom>
          <a:solidFill>
            <a:srgbClr val="EAF0FF"/>
          </a:solidFill>
          <a:ln w="9525">
            <a:solidFill>
              <a:srgbClr val="D3DBE5"/>
            </a:solidFill>
            <a:prstDash val="solid"/>
          </a:ln>
        </p:spPr>
        <p:txBody>
          <a:bodyPr/>
          <a:lstStyle/>
          <a:p>
            <a:endParaRPr lang="ko-KR" altLang="en-US"/>
          </a:p>
        </p:txBody>
      </p:sp>
      <p:sp>
        <p:nvSpPr>
          <p:cNvPr id="48" name="직사각형 47">
            <a:extLst>
              <a:ext uri="{FF2B5EF4-FFF2-40B4-BE49-F238E27FC236}">
                <a16:creationId xmlns:a16="http://schemas.microsoft.com/office/drawing/2014/main" id="{CF380065-ED5C-4C7D-9E72-7DF15AF94416}"/>
              </a:ext>
            </a:extLst>
          </p:cNvPr>
          <p:cNvSpPr>
            <a:spLocks noGrp="1"/>
          </p:cNvSpPr>
          <p:nvPr/>
        </p:nvSpPr>
        <p:spPr>
          <a:xfrm>
            <a:off x="8943975" y="3267075"/>
            <a:ext cx="2905125" cy="361950"/>
          </a:xfrm>
          <a:prstGeom prst="rect">
            <a:avLst/>
          </a:prstGeom>
          <a:noFill/>
          <a:ln w="0">
            <a:noFill/>
            <a:prstDash val="solid"/>
          </a:ln>
        </p:spPr>
        <p:txBody>
          <a:bodyPr wrap="square" lIns="19050" tIns="19050" rIns="19050" bIns="19050" anchor="ctr">
            <a:normAutofit/>
          </a:bodyPr>
          <a:lstStyle/>
          <a:p>
            <a:pPr algn="ctr">
              <a:defRPr sz="1125" b="0">
                <a:solidFill>
                  <a:srgbClr val="2D5FE5"/>
                </a:solidFill>
                <a:latin typeface="Malgun Gothic"/>
                <a:ea typeface="Malgun Gothic"/>
                <a:cs typeface="Malgun Gothic"/>
              </a:defRPr>
            </a:pPr>
            <a:r>
              <a:rPr sz="1125" b="0">
                <a:solidFill>
                  <a:srgbClr val="2D5FE5"/>
                </a:solidFill>
                <a:latin typeface="Malgun Gothic"/>
                <a:ea typeface="Malgun Gothic"/>
                <a:cs typeface="Malgun Gothic"/>
              </a:rPr>
              <a:t>13.780 µW</a:t>
            </a:r>
          </a:p>
        </p:txBody>
      </p:sp>
      <p:sp>
        <p:nvSpPr>
          <p:cNvPr id="49" name="직사각형 48">
            <a:extLst>
              <a:ext uri="{FF2B5EF4-FFF2-40B4-BE49-F238E27FC236}">
                <a16:creationId xmlns:a16="http://schemas.microsoft.com/office/drawing/2014/main" id="{880C9E29-B7FE-408B-B3B6-8C2CF383FB1E}"/>
              </a:ext>
            </a:extLst>
          </p:cNvPr>
          <p:cNvSpPr>
            <a:spLocks noGrp="1"/>
          </p:cNvSpPr>
          <p:nvPr/>
        </p:nvSpPr>
        <p:spPr>
          <a:xfrm>
            <a:off x="419100" y="3695700"/>
            <a:ext cx="2571750" cy="571500"/>
          </a:xfrm>
          <a:prstGeom prst="rect">
            <a:avLst/>
          </a:prstGeom>
          <a:solidFill>
            <a:srgbClr val="F7F9FB"/>
          </a:solidFill>
          <a:ln w="9525">
            <a:solidFill>
              <a:srgbClr val="D3DBE5"/>
            </a:solidFill>
            <a:prstDash val="solid"/>
          </a:ln>
        </p:spPr>
        <p:txBody>
          <a:bodyPr/>
          <a:lstStyle/>
          <a:p>
            <a:endParaRPr lang="ko-KR" altLang="en-US"/>
          </a:p>
        </p:txBody>
      </p:sp>
      <p:sp>
        <p:nvSpPr>
          <p:cNvPr id="50" name="직사각형 49">
            <a:extLst>
              <a:ext uri="{FF2B5EF4-FFF2-40B4-BE49-F238E27FC236}">
                <a16:creationId xmlns:a16="http://schemas.microsoft.com/office/drawing/2014/main" id="{9F198BC9-5D46-4E85-9036-0DFDFC41292D}"/>
              </a:ext>
            </a:extLst>
          </p:cNvPr>
          <p:cNvSpPr>
            <a:spLocks noGrp="1"/>
          </p:cNvSpPr>
          <p:nvPr/>
        </p:nvSpPr>
        <p:spPr>
          <a:xfrm>
            <a:off x="514350" y="3762375"/>
            <a:ext cx="2381250" cy="4381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Core arrival / setup slack</a:t>
            </a:r>
          </a:p>
        </p:txBody>
      </p:sp>
      <p:sp>
        <p:nvSpPr>
          <p:cNvPr id="51" name="직사각형 50">
            <a:extLst>
              <a:ext uri="{FF2B5EF4-FFF2-40B4-BE49-F238E27FC236}">
                <a16:creationId xmlns:a16="http://schemas.microsoft.com/office/drawing/2014/main" id="{E813798A-9328-46C0-89E8-E224C3E5D2F4}"/>
              </a:ext>
            </a:extLst>
          </p:cNvPr>
          <p:cNvSpPr>
            <a:spLocks noGrp="1"/>
          </p:cNvSpPr>
          <p:nvPr/>
        </p:nvSpPr>
        <p:spPr>
          <a:xfrm>
            <a:off x="2990850" y="3695700"/>
            <a:ext cx="2762250" cy="571500"/>
          </a:xfrm>
          <a:prstGeom prst="rect">
            <a:avLst/>
          </a:prstGeom>
          <a:solidFill>
            <a:srgbClr val="F0F2F5"/>
          </a:solidFill>
          <a:ln w="9525">
            <a:solidFill>
              <a:srgbClr val="D3DBE5"/>
            </a:solidFill>
            <a:prstDash val="solid"/>
          </a:ln>
        </p:spPr>
        <p:txBody>
          <a:bodyPr/>
          <a:lstStyle/>
          <a:p>
            <a:endParaRPr lang="ko-KR" altLang="en-US"/>
          </a:p>
        </p:txBody>
      </p:sp>
      <p:sp>
        <p:nvSpPr>
          <p:cNvPr id="52" name="직사각형 51">
            <a:extLst>
              <a:ext uri="{FF2B5EF4-FFF2-40B4-BE49-F238E27FC236}">
                <a16:creationId xmlns:a16="http://schemas.microsoft.com/office/drawing/2014/main" id="{F8E14CE1-D894-4D79-A961-F6E482DB64C2}"/>
              </a:ext>
            </a:extLst>
          </p:cNvPr>
          <p:cNvSpPr>
            <a:spLocks noGrp="1"/>
          </p:cNvSpPr>
          <p:nvPr/>
        </p:nvSpPr>
        <p:spPr>
          <a:xfrm>
            <a:off x="3086100" y="3762375"/>
            <a:ext cx="2571750" cy="4381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적용 불가*</a:t>
            </a:r>
          </a:p>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(clockless)</a:t>
            </a:r>
          </a:p>
        </p:txBody>
      </p:sp>
      <p:sp>
        <p:nvSpPr>
          <p:cNvPr id="53" name="직사각형 52">
            <a:extLst>
              <a:ext uri="{FF2B5EF4-FFF2-40B4-BE49-F238E27FC236}">
                <a16:creationId xmlns:a16="http://schemas.microsoft.com/office/drawing/2014/main" id="{A43A7AC0-B44F-47B7-84AA-5FCF31CC7763}"/>
              </a:ext>
            </a:extLst>
          </p:cNvPr>
          <p:cNvSpPr>
            <a:spLocks noGrp="1"/>
          </p:cNvSpPr>
          <p:nvPr/>
        </p:nvSpPr>
        <p:spPr>
          <a:xfrm>
            <a:off x="5753100" y="3695700"/>
            <a:ext cx="3095625" cy="571500"/>
          </a:xfrm>
          <a:prstGeom prst="rect">
            <a:avLst/>
          </a:prstGeom>
          <a:solidFill>
            <a:srgbClr val="F7F9FB"/>
          </a:solidFill>
          <a:ln w="9525">
            <a:solidFill>
              <a:srgbClr val="D3DBE5"/>
            </a:solidFill>
            <a:prstDash val="solid"/>
          </a:ln>
        </p:spPr>
        <p:txBody>
          <a:bodyPr/>
          <a:lstStyle/>
          <a:p>
            <a:endParaRPr lang="ko-KR" altLang="en-US"/>
          </a:p>
        </p:txBody>
      </p:sp>
      <p:sp>
        <p:nvSpPr>
          <p:cNvPr id="54" name="직사각형 53">
            <a:extLst>
              <a:ext uri="{FF2B5EF4-FFF2-40B4-BE49-F238E27FC236}">
                <a16:creationId xmlns:a16="http://schemas.microsoft.com/office/drawing/2014/main" id="{4B0DF57C-DC11-4E92-AADC-A4F01BF15526}"/>
              </a:ext>
            </a:extLst>
          </p:cNvPr>
          <p:cNvSpPr>
            <a:spLocks noGrp="1"/>
          </p:cNvSpPr>
          <p:nvPr/>
        </p:nvSpPr>
        <p:spPr>
          <a:xfrm>
            <a:off x="5848350" y="3762375"/>
            <a:ext cx="2905125" cy="4381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2.807 ns / +6.824 ns</a:t>
            </a:r>
          </a:p>
        </p:txBody>
      </p:sp>
      <p:sp>
        <p:nvSpPr>
          <p:cNvPr id="55" name="직사각형 54">
            <a:extLst>
              <a:ext uri="{FF2B5EF4-FFF2-40B4-BE49-F238E27FC236}">
                <a16:creationId xmlns:a16="http://schemas.microsoft.com/office/drawing/2014/main" id="{0A41E6D3-FD4D-4D3F-8FE5-4FD8C5963E28}"/>
              </a:ext>
            </a:extLst>
          </p:cNvPr>
          <p:cNvSpPr>
            <a:spLocks noGrp="1"/>
          </p:cNvSpPr>
          <p:nvPr/>
        </p:nvSpPr>
        <p:spPr>
          <a:xfrm>
            <a:off x="8848725" y="3695700"/>
            <a:ext cx="3095625" cy="571500"/>
          </a:xfrm>
          <a:prstGeom prst="rect">
            <a:avLst/>
          </a:prstGeom>
          <a:solidFill>
            <a:srgbClr val="EAF0FF"/>
          </a:solidFill>
          <a:ln w="9525">
            <a:solidFill>
              <a:srgbClr val="D3DBE5"/>
            </a:solidFill>
            <a:prstDash val="solid"/>
          </a:ln>
        </p:spPr>
        <p:txBody>
          <a:bodyPr/>
          <a:lstStyle/>
          <a:p>
            <a:endParaRPr lang="ko-KR" altLang="en-US"/>
          </a:p>
        </p:txBody>
      </p:sp>
      <p:sp>
        <p:nvSpPr>
          <p:cNvPr id="56" name="직사각형 55">
            <a:extLst>
              <a:ext uri="{FF2B5EF4-FFF2-40B4-BE49-F238E27FC236}">
                <a16:creationId xmlns:a16="http://schemas.microsoft.com/office/drawing/2014/main" id="{276F2C98-5FAB-401C-8C54-FD84EA06ED20}"/>
              </a:ext>
            </a:extLst>
          </p:cNvPr>
          <p:cNvSpPr>
            <a:spLocks noGrp="1"/>
          </p:cNvSpPr>
          <p:nvPr/>
        </p:nvSpPr>
        <p:spPr>
          <a:xfrm>
            <a:off x="8943975" y="3762375"/>
            <a:ext cx="2905125" cy="438150"/>
          </a:xfrm>
          <a:prstGeom prst="rect">
            <a:avLst/>
          </a:prstGeom>
          <a:noFill/>
          <a:ln w="0">
            <a:noFill/>
            <a:prstDash val="solid"/>
          </a:ln>
        </p:spPr>
        <p:txBody>
          <a:bodyPr wrap="square" lIns="19050" tIns="19050" rIns="19050" bIns="19050" anchor="ctr">
            <a:normAutofit/>
          </a:bodyPr>
          <a:lstStyle/>
          <a:p>
            <a:pPr algn="ctr">
              <a:defRPr sz="1125" b="0">
                <a:solidFill>
                  <a:srgbClr val="2D5FE5"/>
                </a:solidFill>
                <a:latin typeface="Malgun Gothic"/>
                <a:ea typeface="Malgun Gothic"/>
                <a:cs typeface="Malgun Gothic"/>
              </a:defRPr>
            </a:pPr>
            <a:r>
              <a:rPr sz="1125" b="0">
                <a:solidFill>
                  <a:srgbClr val="2D5FE5"/>
                </a:solidFill>
                <a:latin typeface="Malgun Gothic"/>
                <a:ea typeface="Malgun Gothic"/>
                <a:cs typeface="Malgun Gothic"/>
              </a:rPr>
              <a:t>2.159 ns / +7.555 ns</a:t>
            </a:r>
          </a:p>
        </p:txBody>
      </p:sp>
      <p:sp>
        <p:nvSpPr>
          <p:cNvPr id="57" name="직사각형 56">
            <a:extLst>
              <a:ext uri="{FF2B5EF4-FFF2-40B4-BE49-F238E27FC236}">
                <a16:creationId xmlns:a16="http://schemas.microsoft.com/office/drawing/2014/main" id="{584F7722-5CBB-456A-98CB-29EED0C9B9F8}"/>
              </a:ext>
            </a:extLst>
          </p:cNvPr>
          <p:cNvSpPr>
            <a:spLocks noGrp="1"/>
          </p:cNvSpPr>
          <p:nvPr/>
        </p:nvSpPr>
        <p:spPr>
          <a:xfrm>
            <a:off x="419100" y="4267200"/>
            <a:ext cx="2571750" cy="457200"/>
          </a:xfrm>
          <a:prstGeom prst="rect">
            <a:avLst/>
          </a:prstGeom>
          <a:solidFill>
            <a:srgbClr val="FFFFFF"/>
          </a:solidFill>
          <a:ln w="9525">
            <a:solidFill>
              <a:srgbClr val="D3DBE5"/>
            </a:solidFill>
            <a:prstDash val="solid"/>
          </a:ln>
        </p:spPr>
        <p:txBody>
          <a:bodyPr/>
          <a:lstStyle/>
          <a:p>
            <a:endParaRPr lang="ko-KR" altLang="en-US"/>
          </a:p>
        </p:txBody>
      </p:sp>
      <p:sp>
        <p:nvSpPr>
          <p:cNvPr id="58" name="직사각형 57">
            <a:extLst>
              <a:ext uri="{FF2B5EF4-FFF2-40B4-BE49-F238E27FC236}">
                <a16:creationId xmlns:a16="http://schemas.microsoft.com/office/drawing/2014/main" id="{C20064DB-F4DD-455E-A09E-8E4B4F57511E}"/>
              </a:ext>
            </a:extLst>
          </p:cNvPr>
          <p:cNvSpPr>
            <a:spLocks noGrp="1"/>
          </p:cNvSpPr>
          <p:nvPr/>
        </p:nvSpPr>
        <p:spPr>
          <a:xfrm>
            <a:off x="514350" y="4333875"/>
            <a:ext cx="2381250" cy="3238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Event 저장</a:t>
            </a:r>
          </a:p>
        </p:txBody>
      </p:sp>
      <p:sp>
        <p:nvSpPr>
          <p:cNvPr id="59" name="직사각형 58">
            <a:extLst>
              <a:ext uri="{FF2B5EF4-FFF2-40B4-BE49-F238E27FC236}">
                <a16:creationId xmlns:a16="http://schemas.microsoft.com/office/drawing/2014/main" id="{55575AEA-3CEE-4B77-8CDB-0F912067C485}"/>
              </a:ext>
            </a:extLst>
          </p:cNvPr>
          <p:cNvSpPr>
            <a:spLocks noGrp="1"/>
          </p:cNvSpPr>
          <p:nvPr/>
        </p:nvSpPr>
        <p:spPr>
          <a:xfrm>
            <a:off x="2990850" y="4267200"/>
            <a:ext cx="2762250" cy="457200"/>
          </a:xfrm>
          <a:prstGeom prst="rect">
            <a:avLst/>
          </a:prstGeom>
          <a:solidFill>
            <a:srgbClr val="F0F2F5"/>
          </a:solidFill>
          <a:ln w="9525">
            <a:solidFill>
              <a:srgbClr val="D3DBE5"/>
            </a:solidFill>
            <a:prstDash val="solid"/>
          </a:ln>
        </p:spPr>
        <p:txBody>
          <a:bodyPr/>
          <a:lstStyle/>
          <a:p>
            <a:endParaRPr lang="ko-KR" altLang="en-US"/>
          </a:p>
        </p:txBody>
      </p:sp>
      <p:sp>
        <p:nvSpPr>
          <p:cNvPr id="60" name="직사각형 59">
            <a:extLst>
              <a:ext uri="{FF2B5EF4-FFF2-40B4-BE49-F238E27FC236}">
                <a16:creationId xmlns:a16="http://schemas.microsoft.com/office/drawing/2014/main" id="{5E492ABB-0DED-4AF2-BE6C-733304E0F230}"/>
              </a:ext>
            </a:extLst>
          </p:cNvPr>
          <p:cNvSpPr>
            <a:spLocks noGrp="1"/>
          </p:cNvSpPr>
          <p:nvPr/>
        </p:nvSpPr>
        <p:spPr>
          <a:xfrm>
            <a:off x="3086100" y="4333875"/>
            <a:ext cx="2571750" cy="3238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없음</a:t>
            </a:r>
          </a:p>
        </p:txBody>
      </p:sp>
      <p:sp>
        <p:nvSpPr>
          <p:cNvPr id="61" name="직사각형 60">
            <a:extLst>
              <a:ext uri="{FF2B5EF4-FFF2-40B4-BE49-F238E27FC236}">
                <a16:creationId xmlns:a16="http://schemas.microsoft.com/office/drawing/2014/main" id="{1F71225E-AB65-42C7-AE99-DB36BA6C31CE}"/>
              </a:ext>
            </a:extLst>
          </p:cNvPr>
          <p:cNvSpPr>
            <a:spLocks noGrp="1"/>
          </p:cNvSpPr>
          <p:nvPr/>
        </p:nvSpPr>
        <p:spPr>
          <a:xfrm>
            <a:off x="5753100" y="4267200"/>
            <a:ext cx="3095625" cy="457200"/>
          </a:xfrm>
          <a:prstGeom prst="rect">
            <a:avLst/>
          </a:prstGeom>
          <a:solidFill>
            <a:srgbClr val="FFFFFF"/>
          </a:solidFill>
          <a:ln w="9525">
            <a:solidFill>
              <a:srgbClr val="D3DBE5"/>
            </a:solidFill>
            <a:prstDash val="solid"/>
          </a:ln>
        </p:spPr>
        <p:txBody>
          <a:bodyPr/>
          <a:lstStyle/>
          <a:p>
            <a:endParaRPr lang="ko-KR" altLang="en-US"/>
          </a:p>
        </p:txBody>
      </p:sp>
      <p:sp>
        <p:nvSpPr>
          <p:cNvPr id="62" name="직사각형 61">
            <a:extLst>
              <a:ext uri="{FF2B5EF4-FFF2-40B4-BE49-F238E27FC236}">
                <a16:creationId xmlns:a16="http://schemas.microsoft.com/office/drawing/2014/main" id="{D7769C08-7F0A-4A8B-A14E-99A7DBD37FF2}"/>
              </a:ext>
            </a:extLst>
          </p:cNvPr>
          <p:cNvSpPr>
            <a:spLocks noGrp="1"/>
          </p:cNvSpPr>
          <p:nvPr/>
        </p:nvSpPr>
        <p:spPr>
          <a:xfrm>
            <a:off x="5848350" y="4333875"/>
            <a:ext cx="2905125" cy="3238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최대 17개</a:t>
            </a:r>
          </a:p>
        </p:txBody>
      </p:sp>
      <p:sp>
        <p:nvSpPr>
          <p:cNvPr id="63" name="직사각형 62">
            <a:extLst>
              <a:ext uri="{FF2B5EF4-FFF2-40B4-BE49-F238E27FC236}">
                <a16:creationId xmlns:a16="http://schemas.microsoft.com/office/drawing/2014/main" id="{ED63508E-E0F9-46A5-8CB2-4DA56F572ED4}"/>
              </a:ext>
            </a:extLst>
          </p:cNvPr>
          <p:cNvSpPr>
            <a:spLocks noGrp="1"/>
          </p:cNvSpPr>
          <p:nvPr/>
        </p:nvSpPr>
        <p:spPr>
          <a:xfrm>
            <a:off x="8848725" y="4267200"/>
            <a:ext cx="3095625" cy="457200"/>
          </a:xfrm>
          <a:prstGeom prst="rect">
            <a:avLst/>
          </a:prstGeom>
          <a:solidFill>
            <a:srgbClr val="FFFFFF"/>
          </a:solidFill>
          <a:ln w="9525">
            <a:solidFill>
              <a:srgbClr val="D3DBE5"/>
            </a:solidFill>
            <a:prstDash val="solid"/>
          </a:ln>
        </p:spPr>
        <p:txBody>
          <a:bodyPr/>
          <a:lstStyle/>
          <a:p>
            <a:endParaRPr lang="ko-KR" altLang="en-US"/>
          </a:p>
        </p:txBody>
      </p:sp>
      <p:sp>
        <p:nvSpPr>
          <p:cNvPr id="64" name="직사각형 63">
            <a:extLst>
              <a:ext uri="{FF2B5EF4-FFF2-40B4-BE49-F238E27FC236}">
                <a16:creationId xmlns:a16="http://schemas.microsoft.com/office/drawing/2014/main" id="{8EF52E3E-FAA7-4C54-AA75-DA8BCF62BC09}"/>
              </a:ext>
            </a:extLst>
          </p:cNvPr>
          <p:cNvSpPr>
            <a:spLocks noGrp="1"/>
          </p:cNvSpPr>
          <p:nvPr/>
        </p:nvSpPr>
        <p:spPr>
          <a:xfrm>
            <a:off x="8943975" y="4333875"/>
            <a:ext cx="2905125" cy="3238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최대 17개</a:t>
            </a:r>
          </a:p>
        </p:txBody>
      </p:sp>
      <p:sp>
        <p:nvSpPr>
          <p:cNvPr id="65" name="직사각형 64">
            <a:extLst>
              <a:ext uri="{FF2B5EF4-FFF2-40B4-BE49-F238E27FC236}">
                <a16:creationId xmlns:a16="http://schemas.microsoft.com/office/drawing/2014/main" id="{86DB3965-E8E9-4C3C-8395-9A88F1ADE8E9}"/>
              </a:ext>
            </a:extLst>
          </p:cNvPr>
          <p:cNvSpPr>
            <a:spLocks noGrp="1"/>
          </p:cNvSpPr>
          <p:nvPr/>
        </p:nvSpPr>
        <p:spPr>
          <a:xfrm>
            <a:off x="419100" y="4724400"/>
            <a:ext cx="2571750" cy="457200"/>
          </a:xfrm>
          <a:prstGeom prst="rect">
            <a:avLst/>
          </a:prstGeom>
          <a:solidFill>
            <a:srgbClr val="F7F9FB"/>
          </a:solidFill>
          <a:ln w="9525">
            <a:solidFill>
              <a:srgbClr val="D3DBE5"/>
            </a:solidFill>
            <a:prstDash val="solid"/>
          </a:ln>
        </p:spPr>
        <p:txBody>
          <a:bodyPr/>
          <a:lstStyle/>
          <a:p>
            <a:endParaRPr lang="ko-KR" altLang="en-US"/>
          </a:p>
        </p:txBody>
      </p:sp>
      <p:sp>
        <p:nvSpPr>
          <p:cNvPr id="66" name="직사각형 65">
            <a:extLst>
              <a:ext uri="{FF2B5EF4-FFF2-40B4-BE49-F238E27FC236}">
                <a16:creationId xmlns:a16="http://schemas.microsoft.com/office/drawing/2014/main" id="{78BB64E2-82C8-4A88-ACDA-ADCBA44724D1}"/>
              </a:ext>
            </a:extLst>
          </p:cNvPr>
          <p:cNvSpPr>
            <a:spLocks noGrp="1"/>
          </p:cNvSpPr>
          <p:nvPr/>
        </p:nvSpPr>
        <p:spPr>
          <a:xfrm>
            <a:off x="514350" y="4791075"/>
            <a:ext cx="2381250" cy="323850"/>
          </a:xfrm>
          <a:prstGeom prst="rect">
            <a:avLst/>
          </a:prstGeom>
          <a:noFill/>
          <a:ln w="0">
            <a:noFill/>
            <a:prstDash val="solid"/>
          </a:ln>
        </p:spPr>
        <p:txBody>
          <a:bodyPr wrap="square" lIns="19050" tIns="19050" rIns="19050" bIns="19050" anchor="ctr">
            <a:normAutofit/>
          </a:bodyPr>
          <a:lstStyle/>
          <a:p>
            <a:pPr algn="l">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지속 요청 처리 상한</a:t>
            </a:r>
          </a:p>
        </p:txBody>
      </p:sp>
      <p:sp>
        <p:nvSpPr>
          <p:cNvPr id="67" name="직사각형 66">
            <a:extLst>
              <a:ext uri="{FF2B5EF4-FFF2-40B4-BE49-F238E27FC236}">
                <a16:creationId xmlns:a16="http://schemas.microsoft.com/office/drawing/2014/main" id="{73D109B9-CBA1-4DAB-9432-85A2940F7211}"/>
              </a:ext>
            </a:extLst>
          </p:cNvPr>
          <p:cNvSpPr>
            <a:spLocks noGrp="1"/>
          </p:cNvSpPr>
          <p:nvPr/>
        </p:nvSpPr>
        <p:spPr>
          <a:xfrm>
            <a:off x="2990850" y="4724400"/>
            <a:ext cx="2762250" cy="457200"/>
          </a:xfrm>
          <a:prstGeom prst="rect">
            <a:avLst/>
          </a:prstGeom>
          <a:solidFill>
            <a:srgbClr val="F0F2F5"/>
          </a:solidFill>
          <a:ln w="9525">
            <a:solidFill>
              <a:srgbClr val="D3DBE5"/>
            </a:solidFill>
            <a:prstDash val="solid"/>
          </a:ln>
        </p:spPr>
        <p:txBody>
          <a:bodyPr/>
          <a:lstStyle/>
          <a:p>
            <a:endParaRPr lang="ko-KR" altLang="en-US"/>
          </a:p>
        </p:txBody>
      </p:sp>
      <p:sp>
        <p:nvSpPr>
          <p:cNvPr id="68" name="직사각형 67">
            <a:extLst>
              <a:ext uri="{FF2B5EF4-FFF2-40B4-BE49-F238E27FC236}">
                <a16:creationId xmlns:a16="http://schemas.microsoft.com/office/drawing/2014/main" id="{5D9B43A6-D26C-40A9-952B-E1A7043B8860}"/>
              </a:ext>
            </a:extLst>
          </p:cNvPr>
          <p:cNvSpPr>
            <a:spLocks noGrp="1"/>
          </p:cNvSpPr>
          <p:nvPr/>
        </p:nvSpPr>
        <p:spPr>
          <a:xfrm>
            <a:off x="3086100" y="4791075"/>
            <a:ext cx="2571750" cy="323850"/>
          </a:xfrm>
          <a:prstGeom prst="rect">
            <a:avLst/>
          </a:prstGeom>
          <a:noFill/>
          <a:ln w="0">
            <a:noFill/>
            <a:prstDash val="solid"/>
          </a:ln>
        </p:spPr>
        <p:txBody>
          <a:bodyPr wrap="square" lIns="19050" tIns="19050" rIns="19050" bIns="19050" anchor="ctr">
            <a:normAutofit/>
          </a:bodyPr>
          <a:lstStyle/>
          <a:p>
            <a:pPr algn="ctr">
              <a:defRPr sz="1125" b="0">
                <a:solidFill>
                  <a:srgbClr val="7B8798"/>
                </a:solidFill>
                <a:latin typeface="Malgun Gothic"/>
                <a:ea typeface="Malgun Gothic"/>
                <a:cs typeface="Malgun Gothic"/>
              </a:defRPr>
            </a:pPr>
            <a:r>
              <a:rPr sz="1125" b="0">
                <a:solidFill>
                  <a:srgbClr val="7B8798"/>
                </a:solidFill>
                <a:latin typeface="Malgun Gothic"/>
                <a:ea typeface="Malgun Gothic"/>
                <a:cs typeface="Malgun Gothic"/>
              </a:rPr>
              <a:t>없음</a:t>
            </a:r>
          </a:p>
        </p:txBody>
      </p:sp>
      <p:sp>
        <p:nvSpPr>
          <p:cNvPr id="69" name="직사각형 68">
            <a:extLst>
              <a:ext uri="{FF2B5EF4-FFF2-40B4-BE49-F238E27FC236}">
                <a16:creationId xmlns:a16="http://schemas.microsoft.com/office/drawing/2014/main" id="{F48CD721-C085-4E7F-A0D6-A5F105CC49D6}"/>
              </a:ext>
            </a:extLst>
          </p:cNvPr>
          <p:cNvSpPr>
            <a:spLocks noGrp="1"/>
          </p:cNvSpPr>
          <p:nvPr/>
        </p:nvSpPr>
        <p:spPr>
          <a:xfrm>
            <a:off x="5753100" y="4724400"/>
            <a:ext cx="3095625" cy="457200"/>
          </a:xfrm>
          <a:prstGeom prst="rect">
            <a:avLst/>
          </a:prstGeom>
          <a:solidFill>
            <a:srgbClr val="F7F9FB"/>
          </a:solidFill>
          <a:ln w="9525">
            <a:solidFill>
              <a:srgbClr val="D3DBE5"/>
            </a:solidFill>
            <a:prstDash val="solid"/>
          </a:ln>
        </p:spPr>
        <p:txBody>
          <a:bodyPr/>
          <a:lstStyle/>
          <a:p>
            <a:endParaRPr lang="ko-KR" altLang="en-US"/>
          </a:p>
        </p:txBody>
      </p:sp>
      <p:sp>
        <p:nvSpPr>
          <p:cNvPr id="70" name="직사각형 69">
            <a:extLst>
              <a:ext uri="{FF2B5EF4-FFF2-40B4-BE49-F238E27FC236}">
                <a16:creationId xmlns:a16="http://schemas.microsoft.com/office/drawing/2014/main" id="{7A5F7E8A-C2C7-4CEB-AEC2-1F2FDCD5B91F}"/>
              </a:ext>
            </a:extLst>
          </p:cNvPr>
          <p:cNvSpPr>
            <a:spLocks noGrp="1"/>
          </p:cNvSpPr>
          <p:nvPr/>
        </p:nvSpPr>
        <p:spPr>
          <a:xfrm>
            <a:off x="5848350" y="4791075"/>
            <a:ext cx="2905125" cy="3238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≤16 services</a:t>
            </a:r>
          </a:p>
        </p:txBody>
      </p:sp>
      <p:sp>
        <p:nvSpPr>
          <p:cNvPr id="71" name="직사각형 70">
            <a:extLst>
              <a:ext uri="{FF2B5EF4-FFF2-40B4-BE49-F238E27FC236}">
                <a16:creationId xmlns:a16="http://schemas.microsoft.com/office/drawing/2014/main" id="{E320E5EF-9B5A-44D0-A984-1E979918A260}"/>
              </a:ext>
            </a:extLst>
          </p:cNvPr>
          <p:cNvSpPr>
            <a:spLocks noGrp="1"/>
          </p:cNvSpPr>
          <p:nvPr/>
        </p:nvSpPr>
        <p:spPr>
          <a:xfrm>
            <a:off x="8848725" y="4724400"/>
            <a:ext cx="3095625" cy="457200"/>
          </a:xfrm>
          <a:prstGeom prst="rect">
            <a:avLst/>
          </a:prstGeom>
          <a:solidFill>
            <a:srgbClr val="F7F9FB"/>
          </a:solidFill>
          <a:ln w="9525">
            <a:solidFill>
              <a:srgbClr val="D3DBE5"/>
            </a:solidFill>
            <a:prstDash val="solid"/>
          </a:ln>
        </p:spPr>
        <p:txBody>
          <a:bodyPr/>
          <a:lstStyle/>
          <a:p>
            <a:endParaRPr lang="ko-KR" altLang="en-US"/>
          </a:p>
        </p:txBody>
      </p:sp>
      <p:sp>
        <p:nvSpPr>
          <p:cNvPr id="72" name="직사각형 71">
            <a:extLst>
              <a:ext uri="{FF2B5EF4-FFF2-40B4-BE49-F238E27FC236}">
                <a16:creationId xmlns:a16="http://schemas.microsoft.com/office/drawing/2014/main" id="{ED013680-9895-419D-922A-07757BFBFA33}"/>
              </a:ext>
            </a:extLst>
          </p:cNvPr>
          <p:cNvSpPr>
            <a:spLocks noGrp="1"/>
          </p:cNvSpPr>
          <p:nvPr/>
        </p:nvSpPr>
        <p:spPr>
          <a:xfrm>
            <a:off x="8943975" y="4791075"/>
            <a:ext cx="2905125" cy="323850"/>
          </a:xfrm>
          <a:prstGeom prst="rect">
            <a:avLst/>
          </a:prstGeom>
          <a:noFill/>
          <a:ln w="0">
            <a:noFill/>
            <a:prstDash val="solid"/>
          </a:ln>
        </p:spPr>
        <p:txBody>
          <a:bodyPr wrap="square" lIns="19050" tIns="19050" rIns="19050" bIns="19050" anchor="ctr">
            <a:normAutofit/>
          </a:bodyPr>
          <a:lstStyle/>
          <a:p>
            <a:pPr algn="ctr">
              <a:defRPr sz="1125" b="0">
                <a:solidFill>
                  <a:srgbClr val="151A22"/>
                </a:solidFill>
                <a:latin typeface="Malgun Gothic"/>
                <a:ea typeface="Malgun Gothic"/>
                <a:cs typeface="Malgun Gothic"/>
              </a:defRPr>
            </a:pPr>
            <a:r>
              <a:rPr sz="1125" b="0">
                <a:solidFill>
                  <a:srgbClr val="151A22"/>
                </a:solidFill>
                <a:latin typeface="Malgun Gothic"/>
                <a:ea typeface="Malgun Gothic"/>
                <a:cs typeface="Malgun Gothic"/>
              </a:rPr>
              <a:t>≤16 services</a:t>
            </a:r>
          </a:p>
        </p:txBody>
      </p:sp>
      <p:sp>
        <p:nvSpPr>
          <p:cNvPr id="73" name="직사각형 72">
            <a:extLst>
              <a:ext uri="{FF2B5EF4-FFF2-40B4-BE49-F238E27FC236}">
                <a16:creationId xmlns:a16="http://schemas.microsoft.com/office/drawing/2014/main" id="{3D75BE3B-7C3D-449E-8915-328FC28D7DE1}"/>
              </a:ext>
            </a:extLst>
          </p:cNvPr>
          <p:cNvSpPr>
            <a:spLocks noGrp="1"/>
          </p:cNvSpPr>
          <p:nvPr/>
        </p:nvSpPr>
        <p:spPr>
          <a:xfrm>
            <a:off x="419099" y="5553075"/>
            <a:ext cx="11627661" cy="1171575"/>
          </a:xfrm>
          <a:prstGeom prst="rect">
            <a:avLst/>
          </a:prstGeom>
          <a:noFill/>
          <a:ln w="0">
            <a:noFill/>
            <a:prstDash val="solid"/>
          </a:ln>
        </p:spPr>
        <p:txBody>
          <a:bodyPr wrap="square" lIns="19050" tIns="19050" rIns="19050" bIns="19050" anchor="t">
            <a:normAutofit/>
          </a:bodyPr>
          <a:lstStyle/>
          <a:p>
            <a:pPr>
              <a:defRPr sz="1238" b="0">
                <a:solidFill>
                  <a:srgbClr val="151A22"/>
                </a:solidFill>
                <a:latin typeface="Malgun Gothic"/>
                <a:ea typeface="Malgun Gothic"/>
                <a:cs typeface="Malgun Gothic"/>
              </a:defRPr>
            </a:pPr>
            <a:r>
              <a:rPr lang="ko-KR" altLang="ko-KR" sz="1600" dirty="0">
                <a:solidFill>
                  <a:srgbClr val="151A22"/>
                </a:solidFill>
                <a:latin typeface="Malgun Gothic"/>
              </a:rPr>
              <a:t>전통형 </a:t>
            </a:r>
            <a:r>
              <a:rPr lang="ko-KR" altLang="ko-KR" sz="1600" dirty="0" err="1">
                <a:solidFill>
                  <a:srgbClr val="151A22"/>
                </a:solidFill>
                <a:latin typeface="Malgun Gothic"/>
              </a:rPr>
              <a:t>Baseline의</a:t>
            </a:r>
            <a:r>
              <a:rPr lang="ko-KR" altLang="ko-KR" sz="1600" dirty="0">
                <a:solidFill>
                  <a:srgbClr val="151A22"/>
                </a:solidFill>
                <a:latin typeface="Malgun Gothic"/>
              </a:rPr>
              <a:t> 비동기 요청 불안정성, 이벤트 대기 공간 부재, </a:t>
            </a:r>
            <a:r>
              <a:rPr lang="ko-KR" altLang="ko-KR" sz="1600" dirty="0" err="1">
                <a:solidFill>
                  <a:srgbClr val="151A22"/>
                </a:solidFill>
                <a:latin typeface="Malgun Gothic"/>
              </a:rPr>
              <a:t>Starvation과</a:t>
            </a:r>
            <a:r>
              <a:rPr lang="ko-KR" altLang="ko-KR" sz="1600" dirty="0">
                <a:solidFill>
                  <a:srgbClr val="151A22"/>
                </a:solidFill>
                <a:latin typeface="Malgun Gothic"/>
              </a:rPr>
              <a:t> </a:t>
            </a:r>
            <a:r>
              <a:rPr lang="ko-KR" altLang="ko-KR" sz="1600" dirty="0" err="1">
                <a:solidFill>
                  <a:srgbClr val="151A22"/>
                </a:solidFill>
                <a:latin typeface="Malgun Gothic"/>
              </a:rPr>
              <a:t>stall</a:t>
            </a:r>
            <a:r>
              <a:rPr lang="ko-KR" altLang="ko-KR" sz="1600" dirty="0">
                <a:solidFill>
                  <a:srgbClr val="151A22"/>
                </a:solidFill>
                <a:latin typeface="Malgun Gothic"/>
              </a:rPr>
              <a:t> 전파를 완화한 두 개선 구조를 구현하였다. </a:t>
            </a:r>
            <a:r>
              <a:rPr lang="ko-KR" altLang="ko-KR" sz="1600" dirty="0" err="1">
                <a:solidFill>
                  <a:srgbClr val="151A22"/>
                </a:solidFill>
                <a:latin typeface="Malgun Gothic"/>
              </a:rPr>
              <a:t>OHT는</a:t>
            </a:r>
            <a:r>
              <a:rPr lang="ko-KR" altLang="ko-KR" sz="1600" dirty="0">
                <a:solidFill>
                  <a:srgbClr val="151A22"/>
                </a:solidFill>
                <a:latin typeface="Malgun Gothic"/>
              </a:rPr>
              <a:t> </a:t>
            </a:r>
            <a:r>
              <a:rPr lang="ko-KR" altLang="ko-KR" sz="1600" dirty="0" err="1">
                <a:solidFill>
                  <a:srgbClr val="151A22"/>
                </a:solidFill>
                <a:latin typeface="Malgun Gothic"/>
              </a:rPr>
              <a:t>GRR보다</a:t>
            </a:r>
            <a:r>
              <a:rPr lang="ko-KR" altLang="ko-KR" sz="1600" dirty="0">
                <a:solidFill>
                  <a:srgbClr val="151A22"/>
                </a:solidFill>
                <a:latin typeface="Malgun Gothic"/>
              </a:rPr>
              <a:t> 면적이 6.0% 증가하지만 전력을 4.2~6.9%, 핵심 경로 지연을 23.1% 줄였으며, </a:t>
            </a:r>
            <a:r>
              <a:rPr lang="en-US" altLang="ko-KR" sz="1600" dirty="0">
                <a:solidFill>
                  <a:srgbClr val="151A22"/>
                </a:solidFill>
                <a:latin typeface="Malgun Gothic"/>
              </a:rPr>
              <a:t>2</a:t>
            </a:r>
            <a:r>
              <a:rPr lang="ko-KR" altLang="en-US" sz="1600" dirty="0">
                <a:solidFill>
                  <a:srgbClr val="151A22"/>
                </a:solidFill>
                <a:latin typeface="Malgun Gothic"/>
              </a:rPr>
              <a:t>차 과제에서의 </a:t>
            </a:r>
            <a:r>
              <a:rPr lang="ko-KR" altLang="ko-KR" sz="1600" dirty="0">
                <a:solidFill>
                  <a:srgbClr val="151A22"/>
                </a:solidFill>
                <a:latin typeface="Malgun Gothic"/>
              </a:rPr>
              <a:t>입력 뉴런 증가에 대한 확장성을 고려해 최종 구조로 선정하였다.</a:t>
            </a:r>
            <a:endParaRPr sz="1400" b="0" dirty="0">
              <a:solidFill>
                <a:srgbClr val="151A22"/>
              </a:solidFill>
              <a:latin typeface="Malgun Gothic"/>
              <a:ea typeface="Malgun Gothic"/>
              <a:cs typeface="Malgun Gothic"/>
            </a:endParaRPr>
          </a:p>
        </p:txBody>
      </p:sp>
      <p:pic>
        <p:nvPicPr>
          <p:cNvPr id="78" name="그림 77">
            <a:extLst>
              <a:ext uri="{FF2B5EF4-FFF2-40B4-BE49-F238E27FC236}">
                <a16:creationId xmlns:a16="http://schemas.microsoft.com/office/drawing/2014/main" id="{CBE95AC9-A006-59AA-3ECB-FC347D281B4F}"/>
              </a:ext>
            </a:extLst>
          </p:cNvPr>
          <p:cNvPicPr>
            <a:picLocks noChangeAspect="1"/>
          </p:cNvPicPr>
          <p:nvPr/>
        </p:nvPicPr>
        <p:blipFill>
          <a:blip r:embed="rId3"/>
          <a:stretch/>
        </p:blipFill>
        <p:spPr>
          <a:xfrm>
            <a:off x="11285208" y="133349"/>
            <a:ext cx="900000" cy="900000"/>
          </a:xfrm>
          <a:prstGeom prst="rect">
            <a:avLst/>
          </a:prstGeom>
        </p:spPr>
      </p:pic>
      <p:sp>
        <p:nvSpPr>
          <p:cNvPr id="6" name="직사각형 5">
            <a:extLst>
              <a:ext uri="{FF2B5EF4-FFF2-40B4-BE49-F238E27FC236}">
                <a16:creationId xmlns:a16="http://schemas.microsoft.com/office/drawing/2014/main" id="{74C1A3FD-3B2D-DF96-E38A-34A0828D9EDD}"/>
              </a:ext>
            </a:extLst>
          </p:cNvPr>
          <p:cNvSpPr>
            <a:spLocks noGrp="1"/>
          </p:cNvSpPr>
          <p:nvPr/>
        </p:nvSpPr>
        <p:spPr>
          <a:xfrm>
            <a:off x="9699295" y="6581776"/>
            <a:ext cx="2485450" cy="285750"/>
          </a:xfrm>
          <a:prstGeom prst="rect">
            <a:avLst/>
          </a:prstGeom>
          <a:noFill/>
          <a:ln w="0">
            <a:noFill/>
            <a:prstDash val="solid"/>
          </a:ln>
        </p:spPr>
        <p:txBody>
          <a:bodyPr wrap="square" lIns="19050" tIns="19050" rIns="19050" bIns="19050" anchor="t">
            <a:normAutofit/>
          </a:bodyPr>
          <a:lstStyle/>
          <a:p>
            <a:pPr algn="l">
              <a:defRPr sz="825" b="0">
                <a:solidFill>
                  <a:srgbClr val="8A94A3"/>
                </a:solidFill>
                <a:latin typeface="Malgun Gothic"/>
                <a:ea typeface="Malgun Gothic"/>
                <a:cs typeface="Malgun Gothic"/>
              </a:defRPr>
            </a:pPr>
            <a:r>
              <a:rPr sz="1400" b="0" dirty="0">
                <a:solidFill>
                  <a:srgbClr val="8A94A3"/>
                </a:solidFill>
                <a:latin typeface="Malgun Gothic"/>
                <a:ea typeface="Malgun Gothic"/>
                <a:cs typeface="Malgun Gothic"/>
              </a:rPr>
              <a:t>2026 AI SEMI · 팀 </a:t>
            </a:r>
            <a:r>
              <a:rPr sz="1400" b="0" dirty="0" err="1">
                <a:solidFill>
                  <a:srgbClr val="8A94A3"/>
                </a:solidFill>
                <a:latin typeface="Malgun Gothic"/>
                <a:ea typeface="Malgun Gothic"/>
                <a:cs typeface="Malgun Gothic"/>
              </a:rPr>
              <a:t>최태원의</a:t>
            </a:r>
            <a:r>
              <a:rPr sz="1400" b="0" dirty="0">
                <a:solidFill>
                  <a:srgbClr val="8A94A3"/>
                </a:solidFill>
                <a:latin typeface="Malgun Gothic"/>
                <a:ea typeface="Malgun Gothic"/>
                <a:cs typeface="Malgun Gothic"/>
              </a:rPr>
              <a:t> 검</a:t>
            </a:r>
          </a:p>
        </p:txBody>
      </p:sp>
    </p:spTree>
    <p:extLst>
      <p:ext uri="{BB962C8B-B14F-4D97-AF65-F5344CB8AC3E}">
        <p14:creationId xmlns:p14="http://schemas.microsoft.com/office/powerpoint/2010/main" val="11762801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1823</Words>
  <Application>Microsoft Office PowerPoint</Application>
  <DocSecurity>0</DocSecurity>
  <PresentationFormat>와이드스크린</PresentationFormat>
  <Paragraphs>183</Paragraphs>
  <Slides>12</Slides>
  <Notes>12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12</vt:i4>
      </vt:variant>
    </vt:vector>
  </HeadingPairs>
  <TitlesOfParts>
    <vt:vector size="16" baseType="lpstr">
      <vt:lpstr>Malgun Gothic</vt:lpstr>
      <vt:lpstr>Calibri</vt:lpstr>
      <vt:lpstr>Consolas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양건</cp:lastModifiedBy>
  <cp:revision>10</cp:revision>
  <dcterms:created xsi:type="dcterms:W3CDTF">2026-08-27T17:28:25Z</dcterms:created>
  <dcterms:modified xsi:type="dcterms:W3CDTF">2026-08-28T09:58:48Z</dcterms:modified>
</cp:coreProperties>
</file>